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498</c:v>
                </c:pt>
                <c:pt idx="1">
                  <c:v>441</c:v>
                </c:pt>
                <c:pt idx="2">
                  <c:v>663</c:v>
                </c:pt>
                <c:pt idx="3">
                  <c:v>771</c:v>
                </c:pt>
                <c:pt idx="4">
                  <c:v>567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84</c:v>
                </c:pt>
                <c:pt idx="1">
                  <c:v>116</c:v>
                </c:pt>
                <c:pt idx="2">
                  <c:v>248</c:v>
                </c:pt>
                <c:pt idx="3">
                  <c:v>394</c:v>
                </c:pt>
                <c:pt idx="4">
                  <c:v>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PHEV占比(%)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14.4</c:v>
                </c:pt>
                <c:pt idx="1">
                  <c:v>20.8</c:v>
                </c:pt>
                <c:pt idx="2">
                  <c:v>27.2</c:v>
                </c:pt>
                <c:pt idx="3">
                  <c:v>33.8</c:v>
                </c:pt>
                <c:pt idx="4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bubble3D val="0"/>
            <c:spPr>
              <a:solidFill>
                <a:srgbClr val="D4A574"/>
              </a:solidFill>
              <a:effectLst/>
            </c:spPr>
          </c:dPt>
          <c:dPt>
            <c:idx val="7"/>
            <c:bubble3D val="0"/>
            <c:spPr>
              <a:solidFill>
                <a:srgbClr val="9CA3A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未知</c:v>
                </c:pt>
                <c:pt idx="1">
                  <c:v>SUV-C</c:v>
                </c:pt>
                <c:pt idx="2">
                  <c:v>CAR-D</c:v>
                </c:pt>
                <c:pt idx="3">
                  <c:v>CAR-C</c:v>
                </c:pt>
                <c:pt idx="4">
                  <c:v>SUV-D</c:v>
                </c:pt>
                <c:pt idx="5">
                  <c:v>CAR-A</c:v>
                </c:pt>
                <c:pt idx="6">
                  <c:v>CAR-B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528</c:v>
                </c:pt>
                <c:pt idx="1">
                  <c:v>467</c:v>
                </c:pt>
                <c:pt idx="2">
                  <c:v>386</c:v>
                </c:pt>
                <c:pt idx="3">
                  <c:v>350</c:v>
                </c:pt>
                <c:pt idx="4">
                  <c:v>343</c:v>
                </c:pt>
                <c:pt idx="5">
                  <c:v>232</c:v>
                </c:pt>
                <c:pt idx="6">
                  <c:v>141</c:v>
                </c:pt>
                <c:pt idx="7">
                  <c:v>112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bubble3D val="0"/>
            <c:spPr>
              <a:solidFill>
                <a:srgbClr val="D4A574"/>
              </a:solidFill>
              <a:effectLst/>
            </c:spPr>
          </c:dPt>
          <c:dPt>
            <c:idx val="7"/>
            <c:bubble3D val="0"/>
            <c:spPr>
              <a:solidFill>
                <a:srgbClr val="9CA3A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2D2D2D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未知</c:v>
                </c:pt>
                <c:pt idx="4">
                  <c:v>CAR-D</c:v>
                </c:pt>
                <c:pt idx="5">
                  <c:v>MPV-D</c:v>
                </c:pt>
                <c:pt idx="6">
                  <c:v>SUV-E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ptCount val="8"/>
                <c:pt idx="0">
                  <c:v>459</c:v>
                </c:pt>
                <c:pt idx="1">
                  <c:v>379</c:v>
                </c:pt>
                <c:pt idx="2">
                  <c:v>146</c:v>
                </c:pt>
                <c:pt idx="3">
                  <c:v>143</c:v>
                </c:pt>
                <c:pt idx="4">
                  <c:v>118</c:v>
                </c:pt>
                <c:pt idx="5">
                  <c:v>72</c:v>
                </c:pt>
                <c:pt idx="6">
                  <c:v>21</c:v>
                </c:pt>
                <c:pt idx="7">
                  <c:v>11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总量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582</c:v>
                </c:pt>
                <c:pt idx="1">
                  <c:v>557</c:v>
                </c:pt>
                <c:pt idx="2">
                  <c:v>911</c:v>
                </c:pt>
                <c:pt idx="3">
                  <c:v>1165</c:v>
                </c:pt>
                <c:pt idx="4">
                  <c:v>1133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413.3</c:v>
                </c:pt>
                <c:pt idx="1">
                  <c:v>443.8</c:v>
                </c:pt>
                <c:pt idx="2">
                  <c:v>497.5</c:v>
                </c:pt>
                <c:pt idx="3">
                  <c:v>538</c:v>
                </c:pt>
                <c:pt idx="4">
                  <c:v>600.7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101.6</c:v>
                </c:pt>
                <c:pt idx="1">
                  <c:v>113.2</c:v>
                </c:pt>
                <c:pt idx="2">
                  <c:v>120.4</c:v>
                </c:pt>
                <c:pt idx="3">
                  <c:v>135.4</c:v>
                </c:pt>
                <c:pt idx="4">
                  <c:v>175.1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BEV(km)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413.3</c:v>
                </c:pt>
                <c:pt idx="1">
                  <c:v>443.8</c:v>
                </c:pt>
                <c:pt idx="2">
                  <c:v>497.5</c:v>
                </c:pt>
                <c:pt idx="3">
                  <c:v>538</c:v>
                </c:pt>
                <c:pt idx="4">
                  <c:v>600.7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PHEV(km)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101.6</c:v>
                </c:pt>
                <c:pt idx="1">
                  <c:v>113.2</c:v>
                </c:pt>
                <c:pt idx="2">
                  <c:v>120.4</c:v>
                </c:pt>
                <c:pt idx="3">
                  <c:v>135.4</c:v>
                </c:pt>
                <c:pt idx="4">
                  <c:v>175.1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电池容量(kWh)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54.1</c:v>
                </c:pt>
                <c:pt idx="1">
                  <c:v>58</c:v>
                </c:pt>
                <c:pt idx="2">
                  <c:v>65.6</c:v>
                </c:pt>
                <c:pt idx="3">
                  <c:v>68.6</c:v>
                </c:pt>
                <c:pt idx="4">
                  <c:v>72.4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电池容量(kWh)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22.1</c:v>
                </c:pt>
                <c:pt idx="1">
                  <c:v>25.8</c:v>
                </c:pt>
                <c:pt idx="2">
                  <c:v>27</c:v>
                </c:pt>
                <c:pt idx="3">
                  <c:v>28.8</c:v>
                </c:pt>
                <c:pt idx="4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BEV(kWh)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54.1</c:v>
                </c:pt>
                <c:pt idx="1">
                  <c:v>58</c:v>
                </c:pt>
                <c:pt idx="2">
                  <c:v>65.6</c:v>
                </c:pt>
                <c:pt idx="3">
                  <c:v>68.6</c:v>
                </c:pt>
                <c:pt idx="4">
                  <c:v>72.4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PHEV(kWh)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22.1</c:v>
                </c:pt>
                <c:pt idx="1">
                  <c:v>25.8</c:v>
                </c:pt>
                <c:pt idx="2">
                  <c:v>27</c:v>
                </c:pt>
                <c:pt idx="3">
                  <c:v>28.8</c:v>
                </c:pt>
                <c:pt idx="4">
                  <c:v>37.1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44.6</c:v>
                </c:pt>
                <c:pt idx="1">
                  <c:v>43.1</c:v>
                </c:pt>
                <c:pt idx="2">
                  <c:v>40.3</c:v>
                </c:pt>
                <c:pt idx="3">
                  <c:v>64.6</c:v>
                </c:pt>
                <c:pt idx="4">
                  <c:v>65.6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50.2</c:v>
                </c:pt>
                <c:pt idx="1">
                  <c:v>40.8</c:v>
                </c:pt>
                <c:pt idx="2">
                  <c:v>40.4</c:v>
                </c:pt>
                <c:pt idx="3">
                  <c:v>26.3</c:v>
                </c:pt>
                <c:pt idx="4">
                  <c:v>17.5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5.2</c:v>
                </c:pt>
                <c:pt idx="1">
                  <c:v>16.1</c:v>
                </c:pt>
                <c:pt idx="2">
                  <c:v>19.4</c:v>
                </c:pt>
                <c:pt idx="3">
                  <c:v>9.1</c:v>
                </c:pt>
                <c:pt idx="4">
                  <c:v>16.9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42.9</c:v>
                </c:pt>
                <c:pt idx="1">
                  <c:v>28.4</c:v>
                </c:pt>
                <c:pt idx="2">
                  <c:v>46</c:v>
                </c:pt>
                <c:pt idx="3">
                  <c:v>72.8</c:v>
                </c:pt>
                <c:pt idx="4">
                  <c:v>70.1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57.1</c:v>
                </c:pt>
                <c:pt idx="1">
                  <c:v>51.7</c:v>
                </c:pt>
                <c:pt idx="2">
                  <c:v>48</c:v>
                </c:pt>
                <c:pt idx="3">
                  <c:v>23.4</c:v>
                </c:pt>
                <c:pt idx="4">
                  <c:v>16.6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19.8</c:v>
                </c:pt>
                <c:pt idx="2">
                  <c:v>6</c:v>
                </c:pt>
                <c:pt idx="3">
                  <c:v>3.8</c:v>
                </c:pt>
                <c:pt idx="4">
                  <c:v>13.2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电池能量密度(Wh/kg)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150.1</c:v>
                </c:pt>
                <c:pt idx="1">
                  <c:v>152.4</c:v>
                </c:pt>
                <c:pt idx="2">
                  <c:v>157.9</c:v>
                </c:pt>
                <c:pt idx="3">
                  <c:v>145.8</c:v>
                </c:pt>
                <c:pt idx="4">
                  <c:v>162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15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cat>
            <c:multiLvlStrRef>
              <c:f>Sheet1!$A$2:$A$17</c:f>
              <c:multiLvlStrCache>
                <c:ptCount val="16"/>
                <c:lvl>
                  <c:pt idx="0">
                    <c:v>100-150</c:v>
                  </c:pt>
                  <c:pt idx="1">
                    <c:v>150-200</c:v>
                  </c:pt>
                  <c:pt idx="2">
                    <c:v>200-250</c:v>
                  </c:pt>
                  <c:pt idx="3">
                    <c:v>250-300</c:v>
                  </c:pt>
                  <c:pt idx="4">
                    <c:v>300-350</c:v>
                  </c:pt>
                  <c:pt idx="5">
                    <c:v>350-400</c:v>
                  </c:pt>
                  <c:pt idx="6">
                    <c:v>400-450</c:v>
                  </c:pt>
                  <c:pt idx="7">
                    <c:v>450-500</c:v>
                  </c:pt>
                  <c:pt idx="8">
                    <c:v>500-550</c:v>
                  </c:pt>
                  <c:pt idx="9">
                    <c:v>550-600</c:v>
                  </c:pt>
                  <c:pt idx="10">
                    <c:v>600-650</c:v>
                  </c:pt>
                  <c:pt idx="11">
                    <c:v>650-700</c:v>
                  </c:pt>
                  <c:pt idx="12">
                    <c:v>700-750</c:v>
                  </c:pt>
                  <c:pt idx="13">
                    <c:v>750-800</c:v>
                  </c:pt>
                  <c:pt idx="14">
                    <c:v>800-850</c:v>
                  </c:pt>
                  <c:pt idx="15">
                    <c:v>850-900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45</c:v>
                </c:pt>
                <c:pt idx="1">
                  <c:v>82</c:v>
                </c:pt>
                <c:pt idx="2">
                  <c:v>120</c:v>
                </c:pt>
                <c:pt idx="3">
                  <c:v>65</c:v>
                </c:pt>
                <c:pt idx="4">
                  <c:v>219</c:v>
                </c:pt>
                <c:pt idx="5">
                  <c:v>48</c:v>
                </c:pt>
                <c:pt idx="6">
                  <c:v>409</c:v>
                </c:pt>
                <c:pt idx="7">
                  <c:v>136</c:v>
                </c:pt>
                <c:pt idx="8">
                  <c:v>483</c:v>
                </c:pt>
                <c:pt idx="9">
                  <c:v>255</c:v>
                </c:pt>
                <c:pt idx="10">
                  <c:v>373</c:v>
                </c:pt>
                <c:pt idx="11">
                  <c:v>192</c:v>
                </c:pt>
                <c:pt idx="12">
                  <c:v>216</c:v>
                </c:pt>
                <c:pt idx="13">
                  <c:v>69</c:v>
                </c:pt>
                <c:pt idx="14">
                  <c:v>48</c:v>
                </c:pt>
                <c:pt idx="1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cat>
            <c:multiLvlStrRef>
              <c:f>Sheet1!$A$2:$A$15</c:f>
              <c:multiLvlStrCache>
                <c:ptCount val="14"/>
                <c:lvl>
                  <c:pt idx="0">
                    <c:v>25-50</c:v>
                  </c:pt>
                  <c:pt idx="1">
                    <c:v>50-75</c:v>
                  </c:pt>
                  <c:pt idx="2">
                    <c:v>75-100</c:v>
                  </c:pt>
                  <c:pt idx="3">
                    <c:v>100-125</c:v>
                  </c:pt>
                  <c:pt idx="4">
                    <c:v>125-150</c:v>
                  </c:pt>
                  <c:pt idx="5">
                    <c:v>150-175</c:v>
                  </c:pt>
                  <c:pt idx="6">
                    <c:v>175-200</c:v>
                  </c:pt>
                  <c:pt idx="7">
                    <c:v>200-225</c:v>
                  </c:pt>
                  <c:pt idx="8">
                    <c:v>225-250</c:v>
                  </c:pt>
                  <c:pt idx="9">
                    <c:v>250-275</c:v>
                  </c:pt>
                  <c:pt idx="10">
                    <c:v>275-300</c:v>
                  </c:pt>
                  <c:pt idx="11">
                    <c:v>300-325</c:v>
                  </c:pt>
                  <c:pt idx="12">
                    <c:v>325-350</c:v>
                  </c:pt>
                  <c:pt idx="13">
                    <c:v>350-375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60</c:v>
                </c:pt>
                <c:pt idx="1">
                  <c:v>68</c:v>
                </c:pt>
                <c:pt idx="2">
                  <c:v>188</c:v>
                </c:pt>
                <c:pt idx="3">
                  <c:v>281</c:v>
                </c:pt>
                <c:pt idx="4">
                  <c:v>126</c:v>
                </c:pt>
                <c:pt idx="5">
                  <c:v>245</c:v>
                </c:pt>
                <c:pt idx="6">
                  <c:v>131</c:v>
                </c:pt>
                <c:pt idx="7">
                  <c:v>83</c:v>
                </c:pt>
                <c:pt idx="8">
                  <c:v>33</c:v>
                </c:pt>
                <c:pt idx="9">
                  <c:v>18</c:v>
                </c:pt>
                <c:pt idx="10">
                  <c:v>20</c:v>
                </c:pt>
                <c:pt idx="11">
                  <c:v>21</c:v>
                </c:pt>
                <c:pt idx="12">
                  <c:v>18</c:v>
                </c:pt>
                <c:pt idx="13">
                  <c:v>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10-20</c:v>
                  </c:pt>
                  <c:pt idx="1">
                    <c:v>20-30</c:v>
                  </c:pt>
                  <c:pt idx="2">
                    <c:v>30-40</c:v>
                  </c:pt>
                  <c:pt idx="3">
                    <c:v>40-50</c:v>
                  </c:pt>
                  <c:pt idx="4">
                    <c:v>50-60</c:v>
                  </c:pt>
                  <c:pt idx="5">
                    <c:v>60-70</c:v>
                  </c:pt>
                  <c:pt idx="6">
                    <c:v>70-80</c:v>
                  </c:pt>
                  <c:pt idx="7">
                    <c:v>80-90</c:v>
                  </c:pt>
                  <c:pt idx="8">
                    <c:v>90-100</c:v>
                  </c:pt>
                  <c:pt idx="9">
                    <c:v>100-110</c:v>
                  </c:pt>
                  <c:pt idx="10">
                    <c:v>110-120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219</c:v>
                </c:pt>
                <c:pt idx="1">
                  <c:v>80</c:v>
                </c:pt>
                <c:pt idx="2">
                  <c:v>167</c:v>
                </c:pt>
                <c:pt idx="3">
                  <c:v>263</c:v>
                </c:pt>
                <c:pt idx="4">
                  <c:v>401</c:v>
                </c:pt>
                <c:pt idx="5">
                  <c:v>482</c:v>
                </c:pt>
                <c:pt idx="6">
                  <c:v>395</c:v>
                </c:pt>
                <c:pt idx="7">
                  <c:v>298</c:v>
                </c:pt>
                <c:pt idx="8">
                  <c:v>227</c:v>
                </c:pt>
                <c:pt idx="9">
                  <c:v>177</c:v>
                </c:pt>
                <c:pt idx="10">
                  <c:v>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4A8B8B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0-10</c:v>
                  </c:pt>
                  <c:pt idx="1">
                    <c:v>10-20</c:v>
                  </c:pt>
                  <c:pt idx="2">
                    <c:v>20-30</c:v>
                  </c:pt>
                  <c:pt idx="3">
                    <c:v>30-40</c:v>
                  </c:pt>
                  <c:pt idx="4">
                    <c:v>40-50</c:v>
                  </c:pt>
                  <c:pt idx="5">
                    <c:v>50-60</c:v>
                  </c:pt>
                  <c:pt idx="6">
                    <c:v>60-70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68</c:v>
                </c:pt>
                <c:pt idx="1">
                  <c:v>362</c:v>
                </c:pt>
                <c:pt idx="2">
                  <c:v>233</c:v>
                </c:pt>
                <c:pt idx="3">
                  <c:v>347</c:v>
                </c:pt>
                <c:pt idx="4">
                  <c:v>177</c:v>
                </c:pt>
                <c:pt idx="5">
                  <c:v>81</c:v>
                </c:pt>
                <c:pt idx="6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电机功率(kW)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139.5</c:v>
                </c:pt>
                <c:pt idx="1">
                  <c:v>141.2</c:v>
                </c:pt>
                <c:pt idx="2">
                  <c:v>151.3</c:v>
                </c:pt>
                <c:pt idx="3">
                  <c:v>162.7</c:v>
                </c:pt>
                <c:pt idx="4">
                  <c:v>181.7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电机功率(kW)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201</c:v>
                </c:pt>
                <c:pt idx="1">
                  <c:v>167.1</c:v>
                </c:pt>
                <c:pt idx="2">
                  <c:v>170.2</c:v>
                </c:pt>
                <c:pt idx="3">
                  <c:v>147.8</c:v>
                </c:pt>
                <c:pt idx="4">
                  <c:v>147.8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BEV(kg)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1589</c:v>
                </c:pt>
                <c:pt idx="1">
                  <c:v>1682</c:v>
                </c:pt>
                <c:pt idx="2">
                  <c:v>1905</c:v>
                </c:pt>
                <c:pt idx="3">
                  <c:v>1943</c:v>
                </c:pt>
                <c:pt idx="4">
                  <c:v>1970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PHEV(kg)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1921</c:v>
                </c:pt>
                <c:pt idx="1">
                  <c:v>2039</c:v>
                </c:pt>
                <c:pt idx="2">
                  <c:v>2072</c:v>
                </c:pt>
                <c:pt idx="3">
                  <c:v>2084</c:v>
                </c:pt>
                <c:pt idx="4">
                  <c:v>2269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88.4</c:v>
                </c:pt>
                <c:pt idx="1">
                  <c:v>84.5</c:v>
                </c:pt>
                <c:pt idx="2">
                  <c:v>84.1</c:v>
                </c:pt>
                <c:pt idx="3">
                  <c:v>85.1</c:v>
                </c:pt>
                <c:pt idx="4">
                  <c:v>90.4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103.8</c:v>
                </c:pt>
                <c:pt idx="1">
                  <c:v>80.8</c:v>
                </c:pt>
                <c:pt idx="2">
                  <c:v>82</c:v>
                </c:pt>
                <c:pt idx="3">
                  <c:v>73.5</c:v>
                </c:pt>
                <c:pt idx="4">
                  <c:v>66.8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BEV(Wh/kg)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32.6</c:v>
                </c:pt>
                <c:pt idx="1">
                  <c:v>32.8</c:v>
                </c:pt>
                <c:pt idx="2">
                  <c:v>33.8</c:v>
                </c:pt>
                <c:pt idx="3">
                  <c:v>34.5</c:v>
                </c:pt>
                <c:pt idx="4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PHEV(Wh/kg)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</c:v>
                </c:pt>
                <c:pt idx="1">
                  <c:v>12.4</c:v>
                </c:pt>
                <c:pt idx="2">
                  <c:v>12.8</c:v>
                </c:pt>
                <c:pt idx="3">
                  <c:v>13.4</c:v>
                </c:pt>
                <c:pt idx="4">
                  <c:v>15.9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百公里电耗(kWh/100km)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775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6FA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9E8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A96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B5E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13.35</c:v>
                </c:pt>
                <c:pt idx="1">
                  <c:v>13.5</c:v>
                </c:pt>
                <c:pt idx="2">
                  <c:v>15.07</c:v>
                </c:pt>
                <c:pt idx="3">
                  <c:v>12.84</c:v>
                </c:pt>
                <c:pt idx="4">
                  <c:v>14.07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12.43</c:v>
                </c:pt>
                <c:pt idx="1">
                  <c:v>12.4</c:v>
                </c:pt>
                <c:pt idx="2">
                  <c:v>13.72</c:v>
                </c:pt>
                <c:pt idx="3">
                  <c:v>12.97</c:v>
                </c:pt>
                <c:pt idx="4">
                  <c:v>13.78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14.05</c:v>
                </c:pt>
                <c:pt idx="1">
                  <c:v>14.68</c:v>
                </c:pt>
                <c:pt idx="2">
                  <c:v>15.55</c:v>
                </c:pt>
                <c:pt idx="3">
                  <c:v>11.97</c:v>
                </c:pt>
                <c:pt idx="4">
                  <c:v>14.91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综合油耗(L/100km)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2.66</c:v>
                </c:pt>
                <c:pt idx="1">
                  <c:v>2.55</c:v>
                </c:pt>
                <c:pt idx="2">
                  <c:v>0.98</c:v>
                </c:pt>
                <c:pt idx="3">
                  <c:v>0.8</c:v>
                </c:pt>
                <c:pt idx="4">
                  <c:v>5.87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3.4</c:v>
                </c:pt>
                <c:pt idx="1">
                  <c:v>3.8</c:v>
                </c:pt>
                <c:pt idx="2">
                  <c:v>4</c:v>
                </c:pt>
                <c:pt idx="3">
                  <c:v>4.5</c:v>
                </c:pt>
                <c:pt idx="4">
                  <c:v>5.8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B状态油耗(L/100km)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4.77</c:v>
                </c:pt>
                <c:pt idx="1">
                  <c:v>6.08</c:v>
                </c:pt>
                <c:pt idx="2">
                  <c:v>6</c:v>
                </c:pt>
                <c:pt idx="3">
                  <c:v>5.66</c:v>
                </c:pt>
                <c:pt idx="4">
                  <c:v>5.29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综合油耗(L/100km)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1.0-1.5L</c:v>
                  </c:pt>
                  <c:pt idx="1">
                    <c:v>1.5-2.0L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5.15</c:v>
                </c:pt>
                <c:pt idx="1">
                  <c:v>6.66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B状态油耗(L/100km)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1.0-1.5L</c:v>
                  </c:pt>
                  <c:pt idx="1">
                    <c:v>1.5-2.0L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5.59</c:v>
                </c:pt>
                <c:pt idx="1">
                  <c:v>6.86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611</c:v>
                </c:pt>
                <c:pt idx="1">
                  <c:v>859</c:v>
                </c:pt>
                <c:pt idx="2">
                  <c:v>795</c:v>
                </c:pt>
                <c:pt idx="3">
                  <c:v>638</c:v>
                </c:pt>
                <c:pt idx="4">
                  <c:v>1234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240</c:v>
                </c:pt>
                <c:pt idx="1">
                  <c:v>304</c:v>
                </c:pt>
                <c:pt idx="2">
                  <c:v>382</c:v>
                </c:pt>
                <c:pt idx="3">
                  <c:v>300</c:v>
                </c:pt>
                <c:pt idx="4">
                  <c:v>287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CR3(%)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35.4</c:v>
                </c:pt>
                <c:pt idx="1">
                  <c:v>42</c:v>
                </c:pt>
                <c:pt idx="2">
                  <c:v>37.7</c:v>
                </c:pt>
                <c:pt idx="3">
                  <c:v>37.7</c:v>
                </c:pt>
                <c:pt idx="4">
                  <c:v>45.9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CR5(%)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45.7</c:v>
                </c:pt>
                <c:pt idx="1">
                  <c:v>52.8</c:v>
                </c:pt>
                <c:pt idx="2">
                  <c:v>52.7</c:v>
                </c:pt>
                <c:pt idx="3">
                  <c:v>50</c:v>
                </c:pt>
                <c:pt idx="4">
                  <c:v>55.5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CR10(%)</c:v>
                </c:pt>
              </c:strCache>
            </c:strRef>
          </c:tx>
          <c:spPr>
            <a:solidFill>
              <a:srgbClr val="7B9E89"/>
            </a:solidFill>
            <a:ln w="31750" cap="flat">
              <a:solidFill>
                <a:srgbClr val="7B9E8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9E89"/>
              </a:solidFill>
              <a:ln w="9525" cap="flat">
                <a:solidFill>
                  <a:srgbClr val="7B9E8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56.4</c:v>
                </c:pt>
                <c:pt idx="1">
                  <c:v>64.6</c:v>
                </c:pt>
                <c:pt idx="2">
                  <c:v>72.5</c:v>
                </c:pt>
                <c:pt idx="3">
                  <c:v>64.8</c:v>
                </c:pt>
                <c:pt idx="4">
                  <c:v>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CR3(%)</c:v>
                </c:pt>
              </c:strCache>
            </c:strRef>
          </c:tx>
          <c:spPr>
            <a:solidFill>
              <a:srgbClr val="D97757"/>
            </a:solidFill>
            <a:ln w="3175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18.8</c:v>
                </c:pt>
                <c:pt idx="1">
                  <c:v>23.5</c:v>
                </c:pt>
                <c:pt idx="2">
                  <c:v>28.4</c:v>
                </c:pt>
                <c:pt idx="3">
                  <c:v>22.1</c:v>
                </c:pt>
                <c:pt idx="4">
                  <c:v>15.2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CR5(%)</c:v>
                </c:pt>
              </c:strCache>
            </c:strRef>
          </c:tx>
          <c:spPr>
            <a:solidFill>
              <a:srgbClr val="3B6FA0"/>
            </a:solidFill>
            <a:ln w="31750" cap="flat">
              <a:solidFill>
                <a:srgbClr val="3B6FA0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6FA0"/>
              </a:solidFill>
              <a:ln w="9525" cap="flat">
                <a:solidFill>
                  <a:srgbClr val="3B6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25.5</c:v>
                </c:pt>
                <c:pt idx="1">
                  <c:v>31.5</c:v>
                </c:pt>
                <c:pt idx="2">
                  <c:v>35.4</c:v>
                </c:pt>
                <c:pt idx="3">
                  <c:v>29.6</c:v>
                </c:pt>
                <c:pt idx="4">
                  <c:v>23.8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CR10(%)</c:v>
                </c:pt>
              </c:strCache>
            </c:strRef>
          </c:tx>
          <c:spPr>
            <a:solidFill>
              <a:srgbClr val="7B9E89"/>
            </a:solidFill>
            <a:ln w="31750" cap="flat">
              <a:solidFill>
                <a:srgbClr val="7B9E89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B9E89"/>
              </a:solidFill>
              <a:ln w="9525" cap="flat">
                <a:solidFill>
                  <a:srgbClr val="7B9E8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38.4</c:v>
                </c:pt>
                <c:pt idx="1">
                  <c:v>45</c:v>
                </c:pt>
                <c:pt idx="2">
                  <c:v>45.6</c:v>
                </c:pt>
                <c:pt idx="3">
                  <c:v>44.4</c:v>
                </c:pt>
                <c:pt idx="4">
                  <c:v>42.5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瑞浦兰钧</c:v>
                  </c:pt>
                  <c:pt idx="1">
                    <c:v>欣旺达</c:v>
                  </c:pt>
                  <c:pt idx="2">
                    <c:v>亿纬动力</c:v>
                  </c:pt>
                  <c:pt idx="3">
                    <c:v>时代上汽</c:v>
                  </c:pt>
                  <c:pt idx="4">
                    <c:v>弗迪电池</c:v>
                  </c:pt>
                  <c:pt idx="5">
                    <c:v>蜂巢能源</c:v>
                  </c:pt>
                  <c:pt idx="6">
                    <c:v>江苏时代</c:v>
                  </c:pt>
                  <c:pt idx="7">
                    <c:v>中创新航</c:v>
                  </c:pt>
                  <c:pt idx="8">
                    <c:v>国轩高科</c:v>
                  </c:pt>
                  <c:pt idx="9">
                    <c:v>宁德时代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</c:v>
                </c:pt>
                <c:pt idx="1">
                  <c:v>43</c:v>
                </c:pt>
                <c:pt idx="2">
                  <c:v>94</c:v>
                </c:pt>
                <c:pt idx="3">
                  <c:v>102</c:v>
                </c:pt>
                <c:pt idx="4">
                  <c:v>163</c:v>
                </c:pt>
                <c:pt idx="5">
                  <c:v>165</c:v>
                </c:pt>
                <c:pt idx="6">
                  <c:v>188</c:v>
                </c:pt>
                <c:pt idx="7">
                  <c:v>226</c:v>
                </c:pt>
                <c:pt idx="8">
                  <c:v>269</c:v>
                </c:pt>
                <c:pt idx="9">
                  <c:v>584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车型数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华为数字能源</c:v>
                  </c:pt>
                  <c:pt idx="1">
                    <c:v>锐湃动力</c:v>
                  </c:pt>
                  <c:pt idx="2">
                    <c:v>奇瑞新能源</c:v>
                  </c:pt>
                  <c:pt idx="3">
                    <c:v>珠海英搏尔</c:v>
                  </c:pt>
                  <c:pt idx="4">
                    <c:v>智新科技</c:v>
                  </c:pt>
                  <c:pt idx="5">
                    <c:v>方正电机</c:v>
                  </c:pt>
                  <c:pt idx="6">
                    <c:v>威睿电动</c:v>
                  </c:pt>
                  <c:pt idx="7">
                    <c:v>衢州极电</c:v>
                  </c:pt>
                  <c:pt idx="8">
                    <c:v>苏州汇川</c:v>
                  </c:pt>
                  <c:pt idx="9">
                    <c:v>联合汽车电子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52</c:v>
                </c:pt>
                <c:pt idx="1">
                  <c:v>53</c:v>
                </c:pt>
                <c:pt idx="2">
                  <c:v>64</c:v>
                </c:pt>
                <c:pt idx="3">
                  <c:v>66</c:v>
                </c:pt>
                <c:pt idx="4">
                  <c:v>67</c:v>
                </c:pt>
                <c:pt idx="5">
                  <c:v>72</c:v>
                </c:pt>
                <c:pt idx="6">
                  <c:v>72</c:v>
                </c:pt>
                <c:pt idx="7">
                  <c:v>73</c:v>
                </c:pt>
                <c:pt idx="8">
                  <c:v>164</c:v>
                </c:pt>
                <c:pt idx="9">
                  <c:v>216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组合车型数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宁德时代 x 威睿电动</c:v>
                  </c:pt>
                  <c:pt idx="1">
                    <c:v>江苏时代 x 奇瑞新能源</c:v>
                  </c:pt>
                  <c:pt idx="2">
                    <c:v>时代上汽 x 华域汽车电动系统有限公司</c:v>
                  </c:pt>
                  <c:pt idx="3">
                    <c:v>江苏时代 x 华为数字能源</c:v>
                  </c:pt>
                  <c:pt idx="4">
                    <c:v>东昱欣晟 x 智新科技</c:v>
                  </c:pt>
                  <c:pt idx="5">
                    <c:v>江苏时代 x 联合汽车电子</c:v>
                  </c:pt>
                  <c:pt idx="6">
                    <c:v>蜂巢能源 x 联合汽车电子</c:v>
                  </c:pt>
                  <c:pt idx="7">
                    <c:v>时代上汽 x 联合汽车电子</c:v>
                  </c:pt>
                  <c:pt idx="8">
                    <c:v>中创新航 x 苏州汇川</c:v>
                  </c:pt>
                  <c:pt idx="9">
                    <c:v>宁德时代 x 联合汽车电子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</c:v>
                </c:pt>
                <c:pt idx="1">
                  <c:v>18</c:v>
                </c:pt>
                <c:pt idx="2">
                  <c:v>18</c:v>
                </c:pt>
                <c:pt idx="3">
                  <c:v>20</c:v>
                </c:pt>
                <c:pt idx="4">
                  <c:v>21</c:v>
                </c:pt>
                <c:pt idx="5">
                  <c:v>22</c:v>
                </c:pt>
                <c:pt idx="6">
                  <c:v>22</c:v>
                </c:pt>
                <c:pt idx="7">
                  <c:v>26</c:v>
                </c:pt>
                <c:pt idx="8">
                  <c:v>42</c:v>
                </c:pt>
                <c:pt idx="9">
                  <c:v>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365</c:v>
                </c:pt>
                <c:pt idx="1">
                  <c:v>542</c:v>
                </c:pt>
                <c:pt idx="2">
                  <c:v>636</c:v>
                </c:pt>
                <c:pt idx="3">
                  <c:v>523</c:v>
                </c:pt>
                <c:pt idx="4">
                  <c:v>616</c:v>
                </c:pt>
                <c:pt idx="5">
                  <c:v>227</c:v>
                </c:pt>
                <c:pt idx="6">
                  <c:v>362</c:v>
                </c:pt>
                <c:pt idx="7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633</c:v>
                </c:pt>
                <c:pt idx="1">
                  <c:v>577</c:v>
                </c:pt>
                <c:pt idx="2">
                  <c:v>709</c:v>
                </c:pt>
                <c:pt idx="3">
                  <c:v>531</c:v>
                </c:pt>
                <c:pt idx="4">
                  <c:v>682</c:v>
                </c:pt>
                <c:pt idx="5">
                  <c:v>244</c:v>
                </c:pt>
                <c:pt idx="6">
                  <c:v>404</c:v>
                </c:pt>
                <c:pt idx="7">
                  <c:v>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54.5</c:v>
                </c:pt>
                <c:pt idx="1">
                  <c:v>69.4</c:v>
                </c:pt>
                <c:pt idx="2">
                  <c:v>80.9</c:v>
                </c:pt>
                <c:pt idx="3">
                  <c:v>61.6</c:v>
                </c:pt>
                <c:pt idx="4">
                  <c:v>84.9</c:v>
                </c:pt>
                <c:pt idx="5">
                  <c:v>20.3</c:v>
                </c:pt>
                <c:pt idx="6">
                  <c:v>38.5</c:v>
                </c:pt>
                <c:pt idx="7">
                  <c:v>51.1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未知</c:v>
                  </c:pt>
                  <c:pt idx="1">
                    <c:v>SUV-C</c:v>
                  </c:pt>
                  <c:pt idx="2">
                    <c:v>CAR-D</c:v>
                  </c:pt>
                  <c:pt idx="3">
                    <c:v>CAR-C</c:v>
                  </c:pt>
                  <c:pt idx="4">
                    <c:v>SUV-D</c:v>
                  </c:pt>
                  <c:pt idx="5">
                    <c:v>CAR-A</c:v>
                  </c:pt>
                  <c:pt idx="6">
                    <c:v>CAR-B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75.3</c:v>
                </c:pt>
                <c:pt idx="1">
                  <c:v>67.2</c:v>
                </c:pt>
                <c:pt idx="2">
                  <c:v>83.6</c:v>
                </c:pt>
                <c:pt idx="3">
                  <c:v>55.3</c:v>
                </c:pt>
                <c:pt idx="4">
                  <c:v>91.2</c:v>
                </c:pt>
                <c:pt idx="5">
                  <c:v>20.4</c:v>
                </c:pt>
                <c:pt idx="6">
                  <c:v>40.3</c:v>
                </c:pt>
                <c:pt idx="7">
                  <c:v>45.3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2023年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SUV-C</c:v>
                  </c:pt>
                  <c:pt idx="1">
                    <c:v>SUV-D</c:v>
                  </c:pt>
                  <c:pt idx="2">
                    <c:v>CAR-C</c:v>
                  </c:pt>
                  <c:pt idx="3">
                    <c:v>未知</c:v>
                  </c:pt>
                  <c:pt idx="4">
                    <c:v>CAR-D</c:v>
                  </c:pt>
                  <c:pt idx="5">
                    <c:v>MPV-D</c:v>
                  </c:pt>
                  <c:pt idx="6">
                    <c:v>SUV-E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104</c:v>
                </c:pt>
                <c:pt idx="1">
                  <c:v>153</c:v>
                </c:pt>
                <c:pt idx="2">
                  <c:v>99</c:v>
                </c:pt>
                <c:pt idx="3">
                  <c:v>104</c:v>
                </c:pt>
                <c:pt idx="4">
                  <c:v>146</c:v>
                </c:pt>
                <c:pt idx="5">
                  <c:v>129</c:v>
                </c:pt>
                <c:pt idx="6">
                  <c:v>197</c:v>
                </c:pt>
                <c:pt idx="7">
                  <c:v>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2025年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SUV-C</c:v>
                  </c:pt>
                  <c:pt idx="1">
                    <c:v>SUV-D</c:v>
                  </c:pt>
                  <c:pt idx="2">
                    <c:v>CAR-C</c:v>
                  </c:pt>
                  <c:pt idx="3">
                    <c:v>未知</c:v>
                  </c:pt>
                  <c:pt idx="4">
                    <c:v>CAR-D</c:v>
                  </c:pt>
                  <c:pt idx="5">
                    <c:v>MPV-D</c:v>
                  </c:pt>
                  <c:pt idx="6">
                    <c:v>SUV-E</c:v>
                  </c:pt>
                  <c:pt idx="7">
                    <c:v>SUV-B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145</c:v>
                </c:pt>
                <c:pt idx="1">
                  <c:v>218</c:v>
                </c:pt>
                <c:pt idx="2">
                  <c:v>140</c:v>
                </c:pt>
                <c:pt idx="3">
                  <c:v>146</c:v>
                </c:pt>
                <c:pt idx="4">
                  <c:v>217</c:v>
                </c:pt>
                <c:pt idx="5">
                  <c:v>187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整备质量(kg)</c:v>
                </c:pt>
              </c:strCache>
            </c:strRef>
          </c:tx>
          <c:spPr>
            <a:solidFill>
              <a:srgbClr val="C9A9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LUXCAR-4</c:v>
                  </c:pt>
                  <c:pt idx="1">
                    <c:v>SUV-D</c:v>
                  </c:pt>
                  <c:pt idx="2">
                    <c:v>LuxCar-4</c:v>
                  </c:pt>
                  <c:pt idx="3">
                    <c:v>CAR-E</c:v>
                  </c:pt>
                  <c:pt idx="4">
                    <c:v>LUXSUV-4</c:v>
                  </c:pt>
                  <c:pt idx="5">
                    <c:v>MPV-B</c:v>
                  </c:pt>
                  <c:pt idx="6">
                    <c:v>LUXCAR</c:v>
                  </c:pt>
                  <c:pt idx="7">
                    <c:v>MPV-D</c:v>
                  </c:pt>
                  <c:pt idx="8">
                    <c:v>SUV-E</c:v>
                  </c:pt>
                  <c:pt idx="9">
                    <c:v>LUXSUV</c:v>
                  </c:pt>
                  <c:pt idx="10">
                    <c:v>LUXMPV-D</c:v>
                  </c:pt>
                  <c:pt idx="11">
                    <c:v>LUXCAR-5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2338</c:v>
                </c:pt>
                <c:pt idx="1">
                  <c:v>2345</c:v>
                </c:pt>
                <c:pt idx="2">
                  <c:v>2418</c:v>
                </c:pt>
                <c:pt idx="3">
                  <c:v>2481</c:v>
                </c:pt>
                <c:pt idx="4">
                  <c:v>2517</c:v>
                </c:pt>
                <c:pt idx="5">
                  <c:v>2526</c:v>
                </c:pt>
                <c:pt idx="6">
                  <c:v>2597</c:v>
                </c:pt>
                <c:pt idx="7">
                  <c:v>2613</c:v>
                </c:pt>
                <c:pt idx="8">
                  <c:v>2650</c:v>
                </c:pt>
                <c:pt idx="9">
                  <c:v>2700</c:v>
                </c:pt>
                <c:pt idx="10">
                  <c:v>2763</c:v>
                </c:pt>
                <c:pt idx="11">
                  <c:v>2769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续航里程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7.4</c:v>
                </c:pt>
                <c:pt idx="1">
                  <c:v>12.1</c:v>
                </c:pt>
                <c:pt idx="2">
                  <c:v>8.1</c:v>
                </c:pt>
                <c:pt idx="3">
                  <c:v>11.7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电池容量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7.2</c:v>
                </c:pt>
                <c:pt idx="1">
                  <c:v>13</c:v>
                </c:pt>
                <c:pt idx="2">
                  <c:v>4.6</c:v>
                </c:pt>
                <c:pt idx="3">
                  <c:v>5.5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电机功率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1.2</c:v>
                </c:pt>
                <c:pt idx="1">
                  <c:v>7.2</c:v>
                </c:pt>
                <c:pt idx="2">
                  <c:v>7.6</c:v>
                </c:pt>
                <c:pt idx="3">
                  <c:v>11.7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整备质量</c:v>
                </c:pt>
              </c:strCache>
            </c:strRef>
          </c:tx>
          <c:spPr>
            <a:solidFill>
              <a:srgbClr val="C9A9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5.8</c:v>
                </c:pt>
                <c:pt idx="1">
                  <c:v>13.3</c:v>
                </c:pt>
                <c:pt idx="2">
                  <c:v>2</c:v>
                </c:pt>
                <c:pt idx="3">
                  <c:v>1.4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电池能量密度</c:v>
                </c:pt>
              </c:strCache>
            </c:strRef>
          </c:tx>
          <c:spPr>
            <a:solidFill>
              <a:srgbClr val="8B5E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1.6</c:v>
                </c:pt>
                <c:pt idx="1">
                  <c:v>3.6</c:v>
                </c:pt>
                <c:pt idx="2">
                  <c:v>-7.7</c:v>
                </c:pt>
                <c:pt idx="3">
                  <c:v>11.1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功率质量比</c:v>
                </c:pt>
              </c:strCache>
            </c:strRef>
          </c:tx>
          <c:spPr>
            <a:solidFill>
              <a:srgbClr val="4A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-4.4</c:v>
                </c:pt>
                <c:pt idx="1">
                  <c:v>-0.5</c:v>
                </c:pt>
                <c:pt idx="2">
                  <c:v>1.3</c:v>
                </c:pt>
                <c:pt idx="3">
                  <c:v>6.1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续航里程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11.5</c:v>
                </c:pt>
                <c:pt idx="1">
                  <c:v>6.3</c:v>
                </c:pt>
                <c:pt idx="2">
                  <c:v>12.5</c:v>
                </c:pt>
                <c:pt idx="3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电池容量</c:v>
                </c:pt>
              </c:strCache>
            </c:strRef>
          </c:tx>
          <c:spPr>
            <a:solidFill>
              <a:srgbClr val="3B6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16.9</c:v>
                </c:pt>
                <c:pt idx="1">
                  <c:v>4.5</c:v>
                </c:pt>
                <c:pt idx="2">
                  <c:v>6.8</c:v>
                </c:pt>
                <c:pt idx="3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电机功率</c:v>
                </c:pt>
              </c:strCache>
            </c:strRef>
          </c:tx>
          <c:spPr>
            <a:solidFill>
              <a:srgbClr val="7B9E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-16.9</c:v>
                </c:pt>
                <c:pt idx="1">
                  <c:v>1.9</c:v>
                </c:pt>
                <c:pt idx="2">
                  <c:v>-13.2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整备质量</c:v>
                </c:pt>
              </c:strCache>
            </c:strRef>
          </c:tx>
          <c:spPr>
            <a:solidFill>
              <a:srgbClr val="C9A9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6.1</c:v>
                </c:pt>
                <c:pt idx="1">
                  <c:v>1.6</c:v>
                </c:pt>
                <c:pt idx="2">
                  <c:v>0.6</c:v>
                </c:pt>
                <c:pt idx="3">
                  <c:v>8.9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电池能量密度</c:v>
                </c:pt>
              </c:strCache>
            </c:strRef>
          </c:tx>
          <c:spPr>
            <a:solidFill>
              <a:srgbClr val="8B5E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7.8</c:v>
                </c:pt>
                <c:pt idx="1">
                  <c:v>0.9</c:v>
                </c:pt>
                <c:pt idx="2">
                  <c:v>-4.7</c:v>
                </c:pt>
                <c:pt idx="3">
                  <c:v>16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功率质量比</c:v>
                </c:pt>
              </c:strCache>
            </c:strRef>
          </c:tx>
          <c:spPr>
            <a:solidFill>
              <a:srgbClr val="4A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D2D2D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2021→2022</c:v>
                  </c:pt>
                  <c:pt idx="1">
                    <c:v>2022→2023</c:v>
                  </c:pt>
                  <c:pt idx="2">
                    <c:v>2023→2024</c:v>
                  </c:pt>
                  <c:pt idx="3">
                    <c:v>2024→2025</c:v>
                  </c:pt>
                </c:lvl>
              </c:multiLvlStrCache>
            </c:multiLvl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-22.2</c:v>
                </c:pt>
                <c:pt idx="1">
                  <c:v>1.5</c:v>
                </c:pt>
                <c:pt idx="2">
                  <c:v>-10.3</c:v>
                </c:pt>
                <c:pt idx="3">
                  <c:v>-9.1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D2D2D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chart" Target="..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chart" Target="..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chart" Target="..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chart" Target="..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chart" Target="..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chart" Target="../charts/chart3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chart" Target="..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103120"/>
            <a:ext cx="91440" cy="228600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011680"/>
            <a:ext cx="9144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</a:t>
            </a:r>
            <a:endParaRPr lang="en-US" sz="4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行业分析报告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2021-2025年新能源汽车公告车型深度分析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基于4,348条公告车型数据 | 涵盖BEV与PHEV | 7大维度67页分析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463040" y="5669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2026年8月</a:t>
            </a:r>
            <a:endParaRPr lang="en-US" sz="11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74175" y="6473952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B94A7"/>
                </a:solidFill>
              </a:rPr>
              <a:t>Copyright (c) 2026 David YEAH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执行摘要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NEV公告车型市场核心发现 (2021-2025)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2596896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4,348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85800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公告车型总数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2021-2025累计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74136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280160"/>
            <a:ext cx="2596896" cy="73152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11" name="Text 9"/>
          <p:cNvSpPr/>
          <p:nvPr/>
        </p:nvSpPr>
        <p:spPr>
          <a:xfrm>
            <a:off x="3511296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511296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BEV占比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11296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2,940款车型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9632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99632" y="1280160"/>
            <a:ext cx="2596896" cy="73152"/>
          </a:xfrm>
          <a:prstGeom prst="rect">
            <a:avLst/>
          </a:prstGeom>
          <a:solidFill>
            <a:srgbClr val="7B9E89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7B9E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+574%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336792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PHEV增长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36792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84→566辆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25128" y="128016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25128" y="1280160"/>
            <a:ext cx="2596896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9162288" y="160020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9A9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+45%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9162288" y="233172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BEV续航提升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62288" y="269748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413→601km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520440"/>
            <a:ext cx="2596896" cy="73152"/>
          </a:xfrm>
          <a:prstGeom prst="rect">
            <a:avLst/>
          </a:prstGeom>
          <a:solidFill>
            <a:srgbClr val="8B5E3C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B5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+33.8%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685800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BEV电池容量提升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54.1→72.4kWh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374136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74136" y="3520440"/>
            <a:ext cx="2596896" cy="73152"/>
          </a:xfrm>
          <a:prstGeom prst="rect">
            <a:avLst/>
          </a:prstGeom>
          <a:solidFill>
            <a:srgbClr val="4A8B8B"/>
          </a:solidFill>
          <a:ln/>
        </p:spPr>
      </p:sp>
      <p:sp>
        <p:nvSpPr>
          <p:cNvPr id="31" name="Text 29"/>
          <p:cNvSpPr/>
          <p:nvPr/>
        </p:nvSpPr>
        <p:spPr>
          <a:xfrm>
            <a:off x="3511296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A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55.5%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3511296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电池供应商CR5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11296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2025年集中度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199632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99632" y="3520440"/>
            <a:ext cx="2596896" cy="73152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6" name="Text 34"/>
          <p:cNvSpPr/>
          <p:nvPr/>
        </p:nvSpPr>
        <p:spPr>
          <a:xfrm>
            <a:off x="6336792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301</a:t>
            </a:r>
            <a:endParaRPr lang="en-US" sz="4000" dirty="0"/>
          </a:p>
        </p:txBody>
      </p:sp>
      <p:sp>
        <p:nvSpPr>
          <p:cNvPr id="37" name="Text 35"/>
          <p:cNvSpPr/>
          <p:nvPr/>
        </p:nvSpPr>
        <p:spPr>
          <a:xfrm>
            <a:off x="6336792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336792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覆盖69.8%车型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9025128" y="3520440"/>
            <a:ext cx="2596896" cy="1965960"/>
          </a:xfrm>
          <a:prstGeom prst="roundRect">
            <a:avLst>
              <a:gd name="adj" fmla="val 3721"/>
            </a:avLst>
          </a:prstGeom>
          <a:solidFill>
            <a:srgbClr val="F5F4EE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025128" y="3520440"/>
            <a:ext cx="2596896" cy="73152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41" name="Text 39"/>
          <p:cNvSpPr/>
          <p:nvPr/>
        </p:nvSpPr>
        <p:spPr>
          <a:xfrm>
            <a:off x="9162288" y="3840480"/>
            <a:ext cx="23225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7大维度</a:t>
            </a:r>
            <a:endParaRPr lang="en-US" sz="4000" dirty="0"/>
          </a:p>
        </p:txBody>
      </p:sp>
      <p:sp>
        <p:nvSpPr>
          <p:cNvPr id="42" name="Text 40"/>
          <p:cNvSpPr/>
          <p:nvPr/>
        </p:nvSpPr>
        <p:spPr>
          <a:xfrm>
            <a:off x="9162288" y="4572000"/>
            <a:ext cx="23225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分析维度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9162288" y="4937760"/>
            <a:ext cx="23225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67页深度分析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4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377440" y="137160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市场全景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760720" y="1371600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总览、动力类型分布、年度趋势、细分市场结构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29968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2996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377440" y="202996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动力电池分析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760720" y="2029968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续航里程、电池容量、电池类型、能量密度、分布分析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688336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2377440" y="2688336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驱动与能效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760720" y="2688336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电机功率、重量效率、整车能量密度、PHEV油耗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3346704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346704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377440" y="3346704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供应商格局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760720" y="3346704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HHI、CR趋势、Top供应商、品牌映射、交叉分析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005072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005072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2377440" y="4005072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细分市场深度分析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760720" y="4005072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细分对比、续航容量、整备质量、详细统计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31520" y="4663440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4663440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2377440" y="466344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相关性与增长分析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760720" y="4663440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相关矩阵、同比增长率、增长详情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5321808"/>
            <a:ext cx="54864" cy="566928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21808"/>
            <a:ext cx="10972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2377440" y="5321808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760720" y="5321808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关键发现、年度汇总、核心结论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3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市场全景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总览、动力类型分布、年度趋势、细分市场结构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BEV与PHEV公告车型数量对比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按年度统计的纯电动(BEV)与插电混动(PHEV)公告车型数量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PHEV占比变化趋势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PHEV在当年公告车型总量中的占比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BEV公告车型按细分市场分布 (Top 8)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PHEV细分市场分布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PHEV公告车型按细分市场分布 (Top 8)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年度详细数据明细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BEV、PHEV及总量的逐年统计与PHEV占比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PHEV占比(%)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12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公告车型总量年度趋势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BEV与PHEV合计公告车型数量年度变化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动力电池分析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续航里程、电池容量、电池类型、能量密度、分布分析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BEV平均续航里程趋势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BEV车型年度平均纯电续航里程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PHEV平均续航里程趋势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PHEV车型年度平均纯电续航里程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BEV与PHEV续航里程对比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BEV与PHEV年度平均纯电续航里程对比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BEV平均电池容量趋势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BEV车型年度平均电池容量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PHEV平均电池容量趋势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PHEV车型年度平均电池容量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BEV与PHEV电池容量对比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BEV与PHEV年度平均电池容量对比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BEV电池类型占比趋势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磷酸铁锂(LFP)、三元锂(NCM)及其他电池类型占比变化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PHEV电池类型占比趋势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PHEV车型磷酸铁锂(LFP)、三元锂(NCM)及其他电池类型占比变化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BEV电池能量密度趋势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BEV车型年度平均电池能量密度 (Wh/kg)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BEV续航里程分布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BEV车型按续航里程区间的分布数量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PHEV续航里程分布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PHEV车型按续航里程区间的分布数量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BEV电池容量分布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BEV车型按电池容量区间的分布数量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PHEV电池容量分布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PHEV车型按电池容量区间的分布数量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技术路线矩阵 (2x2象限)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BEV与PHEV按续航-电池容量中位数划分的象限分布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象限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BEV占比(%)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PHEV占比(%)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高续航高容量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低续航高容量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低续航低容量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高续航低容量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2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BEV电池类型年度数量明细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BEV各电池类型年度公告车型数量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7373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电池类型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三元锂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磷酸铁锂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其他锂离子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未知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钠离子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锰酸锂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2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驱动与能效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电机功率、重量效率、整车能量密度、PHEV油耗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BEV电机功率趋势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BEV车型年度平均电机峰值功率 (kW)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PHEV电机功率趋势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PHEV车型年度平均电机峰值功率 (kW)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整备质量趋势对比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BEV与PHEV车型年度平均整备质量 (kg)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功率质量比趋势对比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BEV与PHEV车型年度平均功率质量比 (kW/kg x 1000)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整车能量密度趋势对比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BEV与PHEV年度平均整车能量密度 (Wh/kg)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BEV百公里电耗趋势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BEV车型年度平均百公里电耗 (kWh/100km)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不同电池类型能效对比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磷酸铁锂(LFP)与三元锂(NCM)的百公里电耗对比 (kWh/100km)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PHEV油耗与纯电续航趋势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综合油耗(L/100km)与纯电续航(km, 数值除以30便于同轴展示)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B状态油耗趋势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PHEV车型B状态(馈电)油耗年度趋势 (L/100km)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PHEV综合油耗按排量区间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PHEV不同排量区间的综合油耗均值 (L/100km)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B状态油耗按排量区间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PHEV不同排量区间的B状态(馈电)油耗均值 (L/100km)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供应商格局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HHI、CR趋势、Top供应商、品牌映射、交叉分析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供应商HHI指数趋势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电池供应商与电机供应商年度HHI集中度指数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电池供应商CR集中度趋势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电池供应商CR3/CR5/CR10年度变化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电机供应商CR集中度趋势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电机供应商CR3/CR5/CR10年度变化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10电池供应商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电池供应商公告车型数量排名 (横向条形图)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10电机供应商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电机供应商公告车型数量排名 (横向条形图)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10电池-电机供应商组合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电池供应商与电机供应商组合的公告车型数量排名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品牌-电池供应商映射矩阵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8品牌 x Top 5电池供应商的公告车型数量交叉表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64208"/>
                <a:gridCol w="1664208"/>
                <a:gridCol w="1664208"/>
                <a:gridCol w="1664208"/>
                <a:gridCol w="166420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品牌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宁德时代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国轩高科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中创新航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江苏时代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蜂巢能源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比亚迪牌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埃安(AION)牌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长安牌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奇瑞牌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哪吒牌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零跑牌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东风牌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理想牌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4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品牌-电机供应商映射矩阵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10品牌 x Top 5电机供应商的公告车型数量交叉表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64208"/>
                <a:gridCol w="1664208"/>
                <a:gridCol w="1664208"/>
                <a:gridCol w="1664208"/>
                <a:gridCol w="166420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品牌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联合汽车电子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苏州汇川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衢州极电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威睿电动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方正电机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埃安(AION)牌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比亚迪牌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零跑牌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小鹏牌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长安牌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奇瑞牌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五菱牌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哪吒牌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极氪牌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欧拉牌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电池供应商HHI年度明细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电池供应商HHI指数、供应商数量及记录数年度变化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HHI指数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供应商数量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记录数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总体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电机供应商CR集中度年度明细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电机供应商CR3/CR5/CR10及供应商数量年度变化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年份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CR3(%)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CR5(%)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CR10(%)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供应商数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2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细分市场深度分析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细分对比、续航容量、整备质量、详细统计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BEV细分市场续航对比 (2023 vs 2025)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Top 8细分市场平均续航里程对比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BEV细分市场电池容量对比 (2023 vs 2025)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Top 8细分市场平均电池容量对比 (kWh)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PHEV细分市场续航对比 (2023 vs 2025)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Top 8细分市场平均纯电续航里程对比 (km)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BEV细分市场详细统计 (2025年)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Top 10细分市场2025年平均续航、容量、功率、质量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737360"/>
                <a:gridCol w="1920240"/>
                <a:gridCol w="173736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细分市场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样本数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未知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SUV-C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SUV-D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CAR-B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SUV-B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MPV-D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LUXSUV-3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5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细分市场整备质量对比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各细分市场平均整备质量排名 (kg, Top 12)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相关性与增长分析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相关矩阵、同比增长率、增长详情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BEV关键指标相关性矩阵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8项核心指标间的Pearson相关系数矩阵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65860"/>
                <a:gridCol w="1165860"/>
                <a:gridCol w="1165860"/>
                <a:gridCol w="1165860"/>
                <a:gridCol w="1165860"/>
                <a:gridCol w="1165860"/>
                <a:gridCol w="1165860"/>
                <a:gridCol w="11658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电耗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5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PHEV关键指标相关性矩阵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7项核心指标间的Pearson相关系数矩阵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0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07592"/>
                <a:gridCol w="1307592"/>
                <a:gridCol w="1307592"/>
                <a:gridCol w="1307592"/>
                <a:gridCol w="1307592"/>
                <a:gridCol w="1307592"/>
                <a:gridCol w="130759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功率/质量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8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整车密度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0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1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BEV同比增长率 (按指标)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6项核心指标的年度同比增长率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PHEV同比增长率 (按指标)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6项核心指标的年度同比增长率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31520" y="1371600"/>
          <a:ext cx="106984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BEV同比增长率明细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 5项核心指标的年度同比增长率详情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10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2021→2022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2022→2023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2023→2024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2024→2025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续航里程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电机功率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整备质量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电池能量密度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3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4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PHEV同比增长率明细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 5项核心指标的年度同比增长率详情 (%)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10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2021→2022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2022→2023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2023→2024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2024→2025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续航里程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29.4%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电池容量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电机功率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整备质量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电池能量密度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-4.7%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4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5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286000"/>
            <a:ext cx="73152" cy="201168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463040" y="3017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总结与展望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463040" y="3840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关键发现、年度汇总、核心结论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000" dirty="0"/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关键发现总结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BEV与PHEV核心指标2021 vs 2025对比及变化幅度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10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82880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变化幅度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变化率(%)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413.32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+187.42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+33.8%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+42.25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+30.3%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1589.48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1969.5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+380.02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+23.9%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BEV密度(Wh/kg)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+73.58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+68.2%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-53.22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-26.5%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1921.05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2269.23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+348.18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PHEV密度(Wh/kg)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+23.86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+20.1%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BEV年度指标汇总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BEV各年度平均续航、容量、功率、质量、能量密度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0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82496"/>
                <a:gridCol w="1682496"/>
                <a:gridCol w="1682496"/>
                <a:gridCol w="1682496"/>
                <a:gridCol w="16824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413.32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497.54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538.04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58.03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68.59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139.47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151.29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181.72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1589.48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1681.56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1905.47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1943.05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1969.5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152.42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157.93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145.82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162.02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D2D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PHEV年度指标汇总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PHEV各年度平均续航、容量、功率、质量、能量密度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6355080"/>
            <a:ext cx="11091672" cy="1828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 | 2021-2025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10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71600"/>
          <a:ext cx="10698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82496"/>
                <a:gridCol w="1682496"/>
                <a:gridCol w="1682496"/>
                <a:gridCol w="1682496"/>
                <a:gridCol w="168249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指标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续航(km)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120.38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容量(kWh)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25.82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功率(kW)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167.07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147.78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质量(kg)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1921.05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2072.21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2084.3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2269.23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密度(Wh/kg)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118.55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127.74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128.85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122.73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142.41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8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69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D2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2560320"/>
            <a:ext cx="91440" cy="1645920"/>
          </a:xfrm>
          <a:prstGeom prst="rect">
            <a:avLst/>
          </a:prstGeom>
          <a:solidFill>
            <a:srgbClr val="D97757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3774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46304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NEV公告车型行业分析报告 | 2021-2025 | 基于4,348条公告数据 | 67页深度分析</a:t>
            </a:r>
            <a:endParaRPr lang="en-US" sz="1200" dirty="0"/>
          </a:p>
        </p:txBody>
      </p:sp>
      <p:sp>
        <p:nvSpPr>
          <p:cNvPr id="6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  <p:sp>
        <p:nvSpPr>
          <p:cNvPr id="7" name="Watermark"/>
          <p:cNvSpPr txBox="1"/>
          <p:nvPr/>
        </p:nvSpPr>
        <p:spPr>
          <a:xfrm rot="0">
            <a:off x="9883695" y="64000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Industry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NEV公告车型行业分析</dc:subject>
  <dc:creator>NEV Industry Analysis</dc:creator>
  <cp:lastModifiedBy>NEV Industry Analysis</cp:lastModifiedBy>
  <cp:revision>1</cp:revision>
  <dcterms:created xsi:type="dcterms:W3CDTF">2026-08-08T03:52:50Z</dcterms:created>
  <dcterms:modified xsi:type="dcterms:W3CDTF">2026-08-08T03:52:50Z</dcterms:modified>
</cp:coreProperties>
</file>