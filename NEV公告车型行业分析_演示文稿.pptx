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.xml" ContentType="application/vnd.openxmlformats-officedocument.drawingml.chart+xml"/>
  <Override PartName="/ppt/charts/chart40.xml" ContentType="application/vnd.openxmlformats-officedocument.drawingml.chart+xml"/>
  <Override PartName="/ppt/charts/chart41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1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2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3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4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5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6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7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8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9.xlsx"/></Relationships>
</file>

<file path=ppt/charts/_rels/chart3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0.xlsx"/></Relationships>
</file>

<file path=ppt/charts/_rels/chart3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1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2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3.xlsx"/></Relationships>
</file>

<file path=ppt/charts/_rels/chart3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4.xlsx"/></Relationships>
</file>

<file path=ppt/charts/_rels/chart3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5.xlsx"/></Relationships>
</file>

<file path=ppt/charts/_rels/chart3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6.xlsx"/></Relationships>
</file>

<file path=ppt/charts/_rels/chart3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7.xlsx"/></Relationships>
</file>

<file path=ppt/charts/_rels/chart3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8.xlsx"/></Relationships>
</file>

<file path=ppt/charts/_rels/chart3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9.xlsx"/></Relationships>
</file>

<file path=ppt/charts/_rels/chart4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0.xlsx"/></Relationships>
</file>

<file path=ppt/charts/_rels/chart4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BEV</c:v>
                </c:pt>
              </c:strCache>
            </c:strRef>
          </c:tx>
          <c:spPr>
            <a:solidFill>
              <a:srgbClr val="2E74B5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836</c:v>
                </c:pt>
                <c:pt idx="1">
                  <c:v>520</c:v>
                </c:pt>
                <c:pt idx="2">
                  <c:v>584</c:v>
                </c:pt>
                <c:pt idx="3">
                  <c:v>673</c:v>
                </c:pt>
                <c:pt idx="4">
                  <c:v>647</c:v>
                </c:pt>
                <c:pt idx="5">
                  <c:v>442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PHEV</c:v>
                </c:pt>
              </c:strCache>
            </c:strRef>
          </c:tx>
          <c:spPr>
            <a:solidFill>
              <a:srgbClr val="ED7D31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170</c:v>
                </c:pt>
                <c:pt idx="1">
                  <c:v>135</c:v>
                </c:pt>
                <c:pt idx="2">
                  <c:v>213</c:v>
                </c:pt>
                <c:pt idx="3">
                  <c:v>312</c:v>
                </c:pt>
                <c:pt idx="4">
                  <c:v>551</c:v>
                </c:pt>
                <c:pt idx="5">
                  <c:v>288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PHEV占比%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16.9</c:v>
                </c:pt>
                <c:pt idx="1">
                  <c:v>20.6</c:v>
                </c:pt>
                <c:pt idx="2">
                  <c:v>26.7</c:v>
                </c:pt>
                <c:pt idx="3">
                  <c:v>31.7</c:v>
                </c:pt>
                <c:pt idx="4">
                  <c:v>46.0</c:v>
                </c:pt>
                <c:pt idx="5">
                  <c:v>39.5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数量</c:v>
                </c:pt>
              </c:strCache>
            </c:strRef>
          </c:tx>
          <c:dPt>
            <c:idx val="0"/>
            <c:spPr>
              <a:solidFill>
                <a:srgbClr val="2E74B5"/>
              </a:solidFill>
            </c:spPr>
          </c:dPt>
          <c:dPt>
            <c:idx val="1"/>
            <c:spPr>
              <a:solidFill>
                <a:srgbClr val="ED7D31"/>
              </a:solidFill>
            </c:spPr>
          </c:dPt>
          <c:dPt>
            <c:idx val="2"/>
            <c:spPr>
              <a:solidFill>
                <a:srgbClr val="70AD47"/>
              </a:solidFill>
            </c:spPr>
          </c:dPt>
          <c:dPt>
            <c:idx val="3"/>
            <c:spPr>
              <a:solidFill>
                <a:srgbClr val="FFC000"/>
              </a:solidFill>
            </c:spPr>
          </c:dPt>
          <c:dPt>
            <c:idx val="4"/>
            <c:spPr>
              <a:solidFill>
                <a:srgbClr val="7030A0"/>
              </a:solidFill>
            </c:spPr>
          </c:dPt>
          <c:dPt>
            <c:idx val="5"/>
            <c:spPr>
              <a:solidFill>
                <a:srgbClr val="4472C4"/>
              </a:solidFill>
            </c:spPr>
          </c:dPt>
          <c:dPt>
            <c:idx val="6"/>
            <c:spPr>
              <a:solidFill>
                <a:srgbClr val="C55A11"/>
              </a:solidFill>
            </c:spPr>
          </c:dPt>
          <c:dPt>
            <c:idx val="7"/>
            <c:spPr>
              <a:solidFill>
                <a:srgbClr val="7F7F7F"/>
              </a:solidFill>
            </c:spPr>
          </c:dPt>
          <c:cat>
            <c:strRef>
              <c:f>Sheet1!$A$2:$A$9</c:f>
              <c:strCache>
                <c:ptCount val="8"/>
                <c:pt idx="0">
                  <c:v>SUV-C</c:v>
                </c:pt>
                <c:pt idx="1">
                  <c:v>Car-A</c:v>
                </c:pt>
                <c:pt idx="2">
                  <c:v>SUV-D</c:v>
                </c:pt>
                <c:pt idx="3">
                  <c:v>Car-D</c:v>
                </c:pt>
                <c:pt idx="4">
                  <c:v>Car-C</c:v>
                </c:pt>
                <c:pt idx="5">
                  <c:v>Car-B</c:v>
                </c:pt>
                <c:pt idx="6">
                  <c:v>SUV-B</c:v>
                </c:pt>
                <c:pt idx="7">
                  <c:v>SUV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529</c:v>
                </c:pt>
                <c:pt idx="1">
                  <c:v>466</c:v>
                </c:pt>
                <c:pt idx="2">
                  <c:v>456</c:v>
                </c:pt>
                <c:pt idx="3">
                  <c:v>416</c:v>
                </c:pt>
                <c:pt idx="4">
                  <c:v>390</c:v>
                </c:pt>
                <c:pt idx="5">
                  <c:v>171</c:v>
                </c:pt>
                <c:pt idx="6">
                  <c:v>127</c:v>
                </c:pt>
                <c:pt idx="7">
                  <c:v>90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</c:pieChart>
    </c:plotArea>
    <c:legend>
      <c:legendPos/>
      <c:overlay val="0"/>
    </c:legend>
    <c:dispBlanksAs val="gap"/>
  </c:chart>
  <c:txPr>
    <a:bodyPr/>
    <a:lstStyle/>
    <a:p>
      <a:pPr>
        <a:defRPr sz="18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数量</c:v>
                </c:pt>
              </c:strCache>
            </c:strRef>
          </c:tx>
          <c:dPt>
            <c:idx val="0"/>
            <c:spPr>
              <a:solidFill>
                <a:srgbClr val="2E74B5"/>
              </a:solidFill>
            </c:spPr>
          </c:dPt>
          <c:dPt>
            <c:idx val="1"/>
            <c:spPr>
              <a:solidFill>
                <a:srgbClr val="ED7D31"/>
              </a:solidFill>
            </c:spPr>
          </c:dPt>
          <c:dPt>
            <c:idx val="2"/>
            <c:spPr>
              <a:solidFill>
                <a:srgbClr val="70AD47"/>
              </a:solidFill>
            </c:spPr>
          </c:dPt>
          <c:dPt>
            <c:idx val="3"/>
            <c:spPr>
              <a:solidFill>
                <a:srgbClr val="FFC000"/>
              </a:solidFill>
            </c:spPr>
          </c:dPt>
          <c:dPt>
            <c:idx val="4"/>
            <c:spPr>
              <a:solidFill>
                <a:srgbClr val="7030A0"/>
              </a:solidFill>
            </c:spPr>
          </c:dPt>
          <c:dPt>
            <c:idx val="5"/>
            <c:spPr>
              <a:solidFill>
                <a:srgbClr val="4472C4"/>
              </a:solidFill>
            </c:spPr>
          </c:dPt>
          <c:dPt>
            <c:idx val="6"/>
            <c:spPr>
              <a:solidFill>
                <a:srgbClr val="C55A11"/>
              </a:solidFill>
            </c:spPr>
          </c:dPt>
          <c:dPt>
            <c:idx val="7"/>
            <c:spPr>
              <a:solidFill>
                <a:srgbClr val="7F7F7F"/>
              </a:solidFill>
            </c:spPr>
          </c:dPt>
          <c:cat>
            <c:strRef>
              <c:f>Sheet1!$A$2:$A$9</c:f>
              <c:strCache>
                <c:ptCount val="8"/>
                <c:pt idx="0">
                  <c:v>SUV-C</c:v>
                </c:pt>
                <c:pt idx="1">
                  <c:v>SUV-D</c:v>
                </c:pt>
                <c:pt idx="2">
                  <c:v>Car-D</c:v>
                </c:pt>
                <c:pt idx="3">
                  <c:v>Car-C</c:v>
                </c:pt>
                <c:pt idx="4">
                  <c:v>MPV-D</c:v>
                </c:pt>
                <c:pt idx="5">
                  <c:v>SUV</c:v>
                </c:pt>
                <c:pt idx="6">
                  <c:v>SUV-E</c:v>
                </c:pt>
                <c:pt idx="7">
                  <c:v>Car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566</c:v>
                </c:pt>
                <c:pt idx="1">
                  <c:v>414</c:v>
                </c:pt>
                <c:pt idx="2">
                  <c:v>180</c:v>
                </c:pt>
                <c:pt idx="3">
                  <c:v>170</c:v>
                </c:pt>
                <c:pt idx="4">
                  <c:v>83</c:v>
                </c:pt>
                <c:pt idx="5">
                  <c:v>66</c:v>
                </c:pt>
                <c:pt idx="6">
                  <c:v>25</c:v>
                </c:pt>
                <c:pt idx="7">
                  <c:v>23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</c:pieChart>
    </c:plotArea>
    <c:legend>
      <c:legendPos/>
      <c:overlay val="0"/>
    </c:legend>
    <c:dispBlanksAs val="gap"/>
  </c:chart>
  <c:txPr>
    <a:bodyPr/>
    <a:lstStyle/>
    <a:p>
      <a:pPr>
        <a:defRPr sz="18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合计公告车型</c:v>
                </c:pt>
              </c:strCache>
            </c:strRef>
          </c:tx>
          <c:spPr>
            <a:solidFill>
              <a:srgbClr val="2E74B5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1006</c:v>
                </c:pt>
                <c:pt idx="1">
                  <c:v>655</c:v>
                </c:pt>
                <c:pt idx="2">
                  <c:v>797</c:v>
                </c:pt>
                <c:pt idx="3">
                  <c:v>985</c:v>
                </c:pt>
                <c:pt idx="4">
                  <c:v>1198</c:v>
                </c:pt>
                <c:pt idx="5">
                  <c:v>730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平均续航(km)</c:v>
                </c:pt>
              </c:strCache>
            </c:strRef>
          </c:tx>
          <c:spPr>
            <a:solidFill>
              <a:srgbClr val="2E74B5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407.18</c:v>
                </c:pt>
                <c:pt idx="1">
                  <c:v>445.81</c:v>
                </c:pt>
                <c:pt idx="2">
                  <c:v>489.54</c:v>
                </c:pt>
                <c:pt idx="3">
                  <c:v>521.15</c:v>
                </c:pt>
                <c:pt idx="4">
                  <c:v>513.04</c:v>
                </c:pt>
                <c:pt idx="5">
                  <c:v>608.79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平均纯电续航(km)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86.3</c:v>
                </c:pt>
                <c:pt idx="1">
                  <c:v>114.31</c:v>
                </c:pt>
                <c:pt idx="2">
                  <c:v>116.72</c:v>
                </c:pt>
                <c:pt idx="3">
                  <c:v>129.58</c:v>
                </c:pt>
                <c:pt idx="4">
                  <c:v>160.8</c:v>
                </c:pt>
                <c:pt idx="5">
                  <c:v>246.34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BEV</c:v>
                </c:pt>
              </c:strCache>
            </c:strRef>
          </c:tx>
          <c:spPr>
            <a:solidFill>
              <a:srgbClr val="2E74B5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407.18</c:v>
                </c:pt>
                <c:pt idx="1">
                  <c:v>445.81</c:v>
                </c:pt>
                <c:pt idx="2">
                  <c:v>489.54</c:v>
                </c:pt>
                <c:pt idx="3">
                  <c:v>521.15</c:v>
                </c:pt>
                <c:pt idx="4">
                  <c:v>513.04</c:v>
                </c:pt>
                <c:pt idx="5">
                  <c:v>608.79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PHEV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86.3</c:v>
                </c:pt>
                <c:pt idx="1">
                  <c:v>114.31</c:v>
                </c:pt>
                <c:pt idx="2">
                  <c:v>116.72</c:v>
                </c:pt>
                <c:pt idx="3">
                  <c:v>129.58</c:v>
                </c:pt>
                <c:pt idx="4">
                  <c:v>160.8</c:v>
                </c:pt>
                <c:pt idx="5">
                  <c:v>246.34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BEV平均容量(kWh)</c:v>
                </c:pt>
              </c:strCache>
            </c:strRef>
          </c:tx>
          <c:spPr>
            <a:solidFill>
              <a:srgbClr val="2E74B5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53.97</c:v>
                </c:pt>
                <c:pt idx="1">
                  <c:v>59.99</c:v>
                </c:pt>
                <c:pt idx="2">
                  <c:v>64.48</c:v>
                </c:pt>
                <c:pt idx="3">
                  <c:v>69.25</c:v>
                </c:pt>
                <c:pt idx="4">
                  <c:v>64.58</c:v>
                </c:pt>
                <c:pt idx="5">
                  <c:v>73.82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PHEV平均容量(kWh)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27.92</c:v>
                </c:pt>
                <c:pt idx="1">
                  <c:v>26.28</c:v>
                </c:pt>
                <c:pt idx="2">
                  <c:v>26.38</c:v>
                </c:pt>
                <c:pt idx="3">
                  <c:v>27.89</c:v>
                </c:pt>
                <c:pt idx="4">
                  <c:v>33.71</c:v>
                </c:pt>
                <c:pt idx="5">
                  <c:v>47.5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BEV</c:v>
                </c:pt>
              </c:strCache>
            </c:strRef>
          </c:tx>
          <c:spPr>
            <a:solidFill>
              <a:srgbClr val="2E74B5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53.97</c:v>
                </c:pt>
                <c:pt idx="1">
                  <c:v>59.99</c:v>
                </c:pt>
                <c:pt idx="2">
                  <c:v>64.48</c:v>
                </c:pt>
                <c:pt idx="3">
                  <c:v>69.25</c:v>
                </c:pt>
                <c:pt idx="4">
                  <c:v>64.58</c:v>
                </c:pt>
                <c:pt idx="5">
                  <c:v>73.82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PHEV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27.92</c:v>
                </c:pt>
                <c:pt idx="1">
                  <c:v>26.28</c:v>
                </c:pt>
                <c:pt idx="2">
                  <c:v>26.38</c:v>
                </c:pt>
                <c:pt idx="3">
                  <c:v>27.89</c:v>
                </c:pt>
                <c:pt idx="4">
                  <c:v>33.71</c:v>
                </c:pt>
                <c:pt idx="5">
                  <c:v>47.5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LFP%</c:v>
                </c:pt>
              </c:strCache>
            </c:strRef>
          </c:tx>
          <c:spPr>
            <a:solidFill>
              <a:srgbClr val="70AD47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51.9</c:v>
                </c:pt>
                <c:pt idx="1">
                  <c:v>51.5</c:v>
                </c:pt>
                <c:pt idx="2">
                  <c:v>55.6</c:v>
                </c:pt>
                <c:pt idx="3">
                  <c:v>66.8</c:v>
                </c:pt>
                <c:pt idx="4">
                  <c:v>80.4</c:v>
                </c:pt>
                <c:pt idx="5">
                  <c:v>80.0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NCM%</c:v>
                </c:pt>
              </c:strCache>
            </c:strRef>
          </c:tx>
          <c:spPr>
            <a:solidFill>
              <a:srgbClr val="2E74B5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44.2</c:v>
                </c:pt>
                <c:pt idx="1">
                  <c:v>46.4</c:v>
                </c:pt>
                <c:pt idx="2">
                  <c:v>41.8</c:v>
                </c:pt>
                <c:pt idx="3">
                  <c:v>31.9</c:v>
                </c:pt>
                <c:pt idx="4">
                  <c:v>17.2</c:v>
                </c:pt>
                <c:pt idx="5">
                  <c:v>18.3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其他%</c:v>
                </c:pt>
              </c:strCache>
            </c:strRef>
          </c:tx>
          <c:spPr>
            <a:solidFill>
              <a:srgbClr val="595959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3.9</c:v>
                </c:pt>
                <c:pt idx="1">
                  <c:v>2.1</c:v>
                </c:pt>
                <c:pt idx="2">
                  <c:v>2.5</c:v>
                </c:pt>
                <c:pt idx="3">
                  <c:v>1.3</c:v>
                </c:pt>
                <c:pt idx="4">
                  <c:v>2.3</c:v>
                </c:pt>
                <c:pt idx="5">
                  <c:v>1.7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LFP%</c:v>
                </c:pt>
              </c:strCache>
            </c:strRef>
          </c:tx>
          <c:spPr>
            <a:solidFill>
              <a:srgbClr val="70AD47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53.5</c:v>
                </c:pt>
                <c:pt idx="1">
                  <c:v>36.4</c:v>
                </c:pt>
                <c:pt idx="2">
                  <c:v>46.2</c:v>
                </c:pt>
                <c:pt idx="3">
                  <c:v>74.6</c:v>
                </c:pt>
                <c:pt idx="4">
                  <c:v>81.6</c:v>
                </c:pt>
                <c:pt idx="5">
                  <c:v>72.5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NCM%</c:v>
                </c:pt>
              </c:strCache>
            </c:strRef>
          </c:tx>
          <c:spPr>
            <a:solidFill>
              <a:srgbClr val="2E74B5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46.5</c:v>
                </c:pt>
                <c:pt idx="1">
                  <c:v>50.8</c:v>
                </c:pt>
                <c:pt idx="2">
                  <c:v>49.5</c:v>
                </c:pt>
                <c:pt idx="3">
                  <c:v>24.4</c:v>
                </c:pt>
                <c:pt idx="4">
                  <c:v>15.7</c:v>
                </c:pt>
                <c:pt idx="5">
                  <c:v>23.9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其他%</c:v>
                </c:pt>
              </c:strCache>
            </c:strRef>
          </c:tx>
          <c:spPr>
            <a:solidFill>
              <a:srgbClr val="595959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0.0</c:v>
                </c:pt>
                <c:pt idx="1">
                  <c:v>12.9</c:v>
                </c:pt>
                <c:pt idx="2">
                  <c:v>4.3</c:v>
                </c:pt>
                <c:pt idx="3">
                  <c:v>1.0</c:v>
                </c:pt>
                <c:pt idx="4">
                  <c:v>2.6</c:v>
                </c:pt>
                <c:pt idx="5">
                  <c:v>3.6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BEV平均能量密度</c:v>
                </c:pt>
              </c:strCache>
            </c:strRef>
          </c:tx>
          <c:spPr>
            <a:solidFill>
              <a:srgbClr val="2E74B5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150.7</c:v>
                </c:pt>
                <c:pt idx="1">
                  <c:v>153.8</c:v>
                </c:pt>
                <c:pt idx="2">
                  <c:v>158.2</c:v>
                </c:pt>
                <c:pt idx="3">
                  <c:v>146.7</c:v>
                </c:pt>
                <c:pt idx="4">
                  <c:v>151.1</c:v>
                </c:pt>
                <c:pt idx="5">
                  <c:v>163.6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400-500</c:v>
                </c:pt>
              </c:strCache>
            </c:strRef>
          </c:tx>
          <c:spPr>
            <a:solidFill>
              <a:srgbClr val="DEEBF7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274</c:v>
                </c:pt>
                <c:pt idx="1">
                  <c:v>98</c:v>
                </c:pt>
                <c:pt idx="2">
                  <c:v>106</c:v>
                </c:pt>
                <c:pt idx="3">
                  <c:v>103</c:v>
                </c:pt>
                <c:pt idx="4">
                  <c:v>119</c:v>
                </c:pt>
                <c:pt idx="5">
                  <c:v>54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600-700</c:v>
                </c:pt>
              </c:strCache>
            </c:strRef>
          </c:tx>
          <c:spPr>
            <a:solidFill>
              <a:srgbClr val="9DC3E6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65</c:v>
                </c:pt>
                <c:pt idx="1">
                  <c:v>88</c:v>
                </c:pt>
                <c:pt idx="2">
                  <c:v>112</c:v>
                </c:pt>
                <c:pt idx="3">
                  <c:v>150</c:v>
                </c:pt>
                <c:pt idx="4">
                  <c:v>120</c:v>
                </c:pt>
                <c:pt idx="5">
                  <c:v>107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300-400</c:v>
                </c:pt>
              </c:strCache>
            </c:strRef>
          </c:tx>
          <c:spPr>
            <a:solidFill>
              <a:srgbClr val="2E74B5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155</c:v>
                </c:pt>
                <c:pt idx="1">
                  <c:v>66</c:v>
                </c:pt>
                <c:pt idx="2">
                  <c:v>52</c:v>
                </c:pt>
                <c:pt idx="3">
                  <c:v>76</c:v>
                </c:pt>
                <c:pt idx="4">
                  <c:v>119</c:v>
                </c:pt>
                <c:pt idx="5">
                  <c:v>22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500-600</c:v>
                </c:pt>
              </c:strCache>
            </c:strRef>
          </c:tx>
          <c:spPr>
            <a:solidFill>
              <a:srgbClr val="1F3864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169</c:v>
                </c:pt>
                <c:pt idx="1">
                  <c:v>112</c:v>
                </c:pt>
                <c:pt idx="2">
                  <c:v>164</c:v>
                </c:pt>
                <c:pt idx="3">
                  <c:v>184</c:v>
                </c:pt>
                <c:pt idx="4">
                  <c:v>160</c:v>
                </c:pt>
                <c:pt idx="5">
                  <c:v>102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&lt;200</c:v>
                </c:pt>
              </c:strCache>
            </c:strRef>
          </c:tx>
          <c:spPr>
            <a:solidFill>
              <a:srgbClr val="ED7D31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81</c:v>
                </c:pt>
                <c:pt idx="1">
                  <c:v>42</c:v>
                </c:pt>
                <c:pt idx="2">
                  <c:v>21</c:v>
                </c:pt>
                <c:pt idx="3">
                  <c:v>12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200-300</c:v>
                </c:pt>
              </c:strCache>
            </c:strRef>
          </c:tx>
          <c:spPr>
            <a:solidFill>
              <a:srgbClr val="C55A11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37</c:v>
                </c:pt>
                <c:pt idx="1">
                  <c:v>55</c:v>
                </c:pt>
                <c:pt idx="2">
                  <c:v>63</c:v>
                </c:pt>
                <c:pt idx="3">
                  <c:v>39</c:v>
                </c:pt>
                <c:pt idx="4">
                  <c:v>30</c:v>
                </c:pt>
                <c:pt idx="5">
                  <c:v>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≥700</c:v>
                </c:pt>
              </c:strCache>
            </c:strRef>
          </c:tx>
          <c:spPr>
            <a:solidFill>
              <a:srgbClr val="70AD47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10</c:v>
                </c:pt>
                <c:pt idx="1">
                  <c:v>33</c:v>
                </c:pt>
                <c:pt idx="2">
                  <c:v>56</c:v>
                </c:pt>
                <c:pt idx="3">
                  <c:v>92</c:v>
                </c:pt>
                <c:pt idx="4">
                  <c:v>95</c:v>
                </c:pt>
                <c:pt idx="5">
                  <c:v>136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125-150</c:v>
                </c:pt>
              </c:strCache>
            </c:strRef>
          </c:tx>
          <c:spPr>
            <a:solidFill>
              <a:srgbClr val="DEEBF7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23</c:v>
                </c:pt>
                <c:pt idx="1">
                  <c:v>8</c:v>
                </c:pt>
                <c:pt idx="2">
                  <c:v>17</c:v>
                </c:pt>
                <c:pt idx="3">
                  <c:v>26</c:v>
                </c:pt>
                <c:pt idx="4">
                  <c:v>46</c:v>
                </c:pt>
                <c:pt idx="5">
                  <c:v>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150-200</c:v>
                </c:pt>
              </c:strCache>
            </c:strRef>
          </c:tx>
          <c:spPr>
            <a:solidFill>
              <a:srgbClr val="9DC3E6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</c:v>
                </c:pt>
                <c:pt idx="1">
                  <c:v>37</c:v>
                </c:pt>
                <c:pt idx="2">
                  <c:v>58</c:v>
                </c:pt>
                <c:pt idx="3">
                  <c:v>90</c:v>
                </c:pt>
                <c:pt idx="4">
                  <c:v>174</c:v>
                </c:pt>
                <c:pt idx="5">
                  <c:v>82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50-100</c:v>
                </c:pt>
              </c:strCache>
            </c:strRef>
          </c:tx>
          <c:spPr>
            <a:solidFill>
              <a:srgbClr val="2E74B5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62</c:v>
                </c:pt>
                <c:pt idx="1">
                  <c:v>49</c:v>
                </c:pt>
                <c:pt idx="2">
                  <c:v>68</c:v>
                </c:pt>
                <c:pt idx="3">
                  <c:v>84</c:v>
                </c:pt>
                <c:pt idx="4">
                  <c:v>42</c:v>
                </c:pt>
                <c:pt idx="5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100-125</c:v>
                </c:pt>
              </c:strCache>
            </c:strRef>
          </c:tx>
          <c:spPr>
            <a:solidFill>
              <a:srgbClr val="1F3864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42</c:v>
                </c:pt>
                <c:pt idx="1">
                  <c:v>16</c:v>
                </c:pt>
                <c:pt idx="2">
                  <c:v>42</c:v>
                </c:pt>
                <c:pt idx="3">
                  <c:v>59</c:v>
                </c:pt>
                <c:pt idx="4">
                  <c:v>160</c:v>
                </c:pt>
                <c:pt idx="5">
                  <c:v>24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&lt;50</c:v>
                </c:pt>
              </c:strCache>
            </c:strRef>
          </c:tx>
          <c:spPr>
            <a:solidFill>
              <a:srgbClr val="ED7D31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34</c:v>
                </c:pt>
                <c:pt idx="1">
                  <c:v>14</c:v>
                </c:pt>
                <c:pt idx="2">
                  <c:v>15</c:v>
                </c:pt>
                <c:pt idx="3">
                  <c:v>13</c:v>
                </c:pt>
                <c:pt idx="4">
                  <c:v>8</c:v>
                </c:pt>
                <c:pt idx="5">
                  <c:v>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≥200</c:v>
                </c:pt>
              </c:strCache>
            </c:strRef>
          </c:tx>
          <c:spPr>
            <a:solidFill>
              <a:srgbClr val="C55A11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2</c:v>
                </c:pt>
                <c:pt idx="1">
                  <c:v>8</c:v>
                </c:pt>
                <c:pt idx="2">
                  <c:v>8</c:v>
                </c:pt>
                <c:pt idx="3">
                  <c:v>29</c:v>
                </c:pt>
                <c:pt idx="4">
                  <c:v>119</c:v>
                </c:pt>
                <c:pt idx="5">
                  <c:v>158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60-70</c:v>
                </c:pt>
              </c:strCache>
            </c:strRef>
          </c:tx>
          <c:spPr>
            <a:solidFill>
              <a:srgbClr val="DEEBF7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92</c:v>
                </c:pt>
                <c:pt idx="1">
                  <c:v>67</c:v>
                </c:pt>
                <c:pt idx="2">
                  <c:v>98</c:v>
                </c:pt>
                <c:pt idx="3">
                  <c:v>107</c:v>
                </c:pt>
                <c:pt idx="4">
                  <c:v>119</c:v>
                </c:pt>
                <c:pt idx="5">
                  <c:v>80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70-80</c:v>
                </c:pt>
              </c:strCache>
            </c:strRef>
          </c:tx>
          <c:spPr>
            <a:solidFill>
              <a:srgbClr val="9DC3E6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62</c:v>
                </c:pt>
                <c:pt idx="1">
                  <c:v>51</c:v>
                </c:pt>
                <c:pt idx="2">
                  <c:v>98</c:v>
                </c:pt>
                <c:pt idx="3">
                  <c:v>99</c:v>
                </c:pt>
                <c:pt idx="4">
                  <c:v>65</c:v>
                </c:pt>
                <c:pt idx="5">
                  <c:v>53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40-50</c:v>
                </c:pt>
              </c:strCache>
            </c:strRef>
          </c:tx>
          <c:spPr>
            <a:solidFill>
              <a:srgbClr val="2E74B5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71</c:v>
                </c:pt>
                <c:pt idx="1">
                  <c:v>51</c:v>
                </c:pt>
                <c:pt idx="2">
                  <c:v>49</c:v>
                </c:pt>
                <c:pt idx="3">
                  <c:v>54</c:v>
                </c:pt>
                <c:pt idx="4">
                  <c:v>82</c:v>
                </c:pt>
                <c:pt idx="5">
                  <c:v>37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20-30</c:v>
                </c:pt>
              </c:strCache>
            </c:strRef>
          </c:tx>
          <c:spPr>
            <a:solidFill>
              <a:srgbClr val="1F3864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24</c:v>
                </c:pt>
                <c:pt idx="1">
                  <c:v>21</c:v>
                </c:pt>
                <c:pt idx="2">
                  <c:v>18</c:v>
                </c:pt>
                <c:pt idx="3">
                  <c:v>7</c:v>
                </c:pt>
                <c:pt idx="4">
                  <c:v>11</c:v>
                </c:pt>
                <c:pt idx="5">
                  <c:v>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30-40</c:v>
                </c:pt>
              </c:strCache>
            </c:strRef>
          </c:tx>
          <c:spPr>
            <a:solidFill>
              <a:srgbClr val="ED7D31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78</c:v>
                </c:pt>
                <c:pt idx="1">
                  <c:v>26</c:v>
                </c:pt>
                <c:pt idx="2">
                  <c:v>45</c:v>
                </c:pt>
                <c:pt idx="3">
                  <c:v>28</c:v>
                </c:pt>
                <c:pt idx="4">
                  <c:v>28</c:v>
                </c:pt>
                <c:pt idx="5">
                  <c:v>13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&lt;20</c:v>
                </c:pt>
              </c:strCache>
            </c:strRef>
          </c:tx>
          <c:spPr>
            <a:solidFill>
              <a:srgbClr val="C55A11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86</c:v>
                </c:pt>
                <c:pt idx="1">
                  <c:v>70</c:v>
                </c:pt>
                <c:pt idx="2">
                  <c:v>45</c:v>
                </c:pt>
                <c:pt idx="3">
                  <c:v>24</c:v>
                </c:pt>
                <c:pt idx="4">
                  <c:v>27</c:v>
                </c:pt>
                <c:pt idx="5">
                  <c:v>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50-60</c:v>
                </c:pt>
              </c:strCache>
            </c:strRef>
          </c:tx>
          <c:spPr>
            <a:solidFill>
              <a:srgbClr val="70AD47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120</c:v>
                </c:pt>
                <c:pt idx="1">
                  <c:v>55</c:v>
                </c:pt>
                <c:pt idx="2">
                  <c:v>55</c:v>
                </c:pt>
                <c:pt idx="3">
                  <c:v>86</c:v>
                </c:pt>
                <c:pt idx="4">
                  <c:v>133</c:v>
                </c:pt>
                <c:pt idx="5">
                  <c:v>64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≥80</c:v>
                </c:pt>
              </c:strCache>
            </c:strRef>
          </c:tx>
          <c:spPr>
            <a:solidFill>
              <a:srgbClr val="404040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102</c:v>
                </c:pt>
                <c:pt idx="1">
                  <c:v>130</c:v>
                </c:pt>
                <c:pt idx="2">
                  <c:v>158</c:v>
                </c:pt>
                <c:pt idx="3">
                  <c:v>211</c:v>
                </c:pt>
                <c:pt idx="4">
                  <c:v>166</c:v>
                </c:pt>
                <c:pt idx="5">
                  <c:v>158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30-40</c:v>
                </c:pt>
              </c:strCache>
            </c:strRef>
          </c:tx>
          <c:spPr>
            <a:solidFill>
              <a:srgbClr val="FBE5D6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30</c:v>
                </c:pt>
                <c:pt idx="1">
                  <c:v>26</c:v>
                </c:pt>
                <c:pt idx="2">
                  <c:v>33</c:v>
                </c:pt>
                <c:pt idx="3">
                  <c:v>82</c:v>
                </c:pt>
                <c:pt idx="4">
                  <c:v>152</c:v>
                </c:pt>
                <c:pt idx="5">
                  <c:v>70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20-30</c:v>
                </c:pt>
              </c:strCache>
            </c:strRef>
          </c:tx>
          <c:spPr>
            <a:solidFill>
              <a:srgbClr val="F4B183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</c:v>
                </c:pt>
                <c:pt idx="1">
                  <c:v>19</c:v>
                </c:pt>
                <c:pt idx="2">
                  <c:v>37</c:v>
                </c:pt>
                <c:pt idx="3">
                  <c:v>50</c:v>
                </c:pt>
                <c:pt idx="4">
                  <c:v>106</c:v>
                </c:pt>
                <c:pt idx="5">
                  <c:v>47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10-20</c:v>
                </c:pt>
              </c:strCache>
            </c:strRef>
          </c:tx>
          <c:spPr>
            <a:solidFill>
              <a:srgbClr val="ED7D31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40</c:v>
                </c:pt>
                <c:pt idx="1">
                  <c:v>52</c:v>
                </c:pt>
                <c:pt idx="2">
                  <c:v>76</c:v>
                </c:pt>
                <c:pt idx="3">
                  <c:v>97</c:v>
                </c:pt>
                <c:pt idx="4">
                  <c:v>117</c:v>
                </c:pt>
                <c:pt idx="5">
                  <c:v>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&lt;10</c:v>
                </c:pt>
              </c:strCache>
            </c:strRef>
          </c:tx>
          <c:spPr>
            <a:solidFill>
              <a:srgbClr val="C55A11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16</c:v>
                </c:pt>
                <c:pt idx="1">
                  <c:v>11</c:v>
                </c:pt>
                <c:pt idx="2">
                  <c:v>16</c:v>
                </c:pt>
                <c:pt idx="3">
                  <c:v>17</c:v>
                </c:pt>
                <c:pt idx="4">
                  <c:v>11</c:v>
                </c:pt>
                <c:pt idx="5">
                  <c:v>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磷酸铁锂(LFP)</c:v>
                </c:pt>
              </c:strCache>
            </c:strRef>
          </c:tx>
          <c:spPr>
            <a:solidFill>
              <a:srgbClr val="70AD47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391</c:v>
                </c:pt>
                <c:pt idx="1">
                  <c:v>242</c:v>
                </c:pt>
                <c:pt idx="2">
                  <c:v>307</c:v>
                </c:pt>
                <c:pt idx="3">
                  <c:v>410</c:v>
                </c:pt>
                <c:pt idx="4">
                  <c:v>481</c:v>
                </c:pt>
                <c:pt idx="5">
                  <c:v>328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三元锂(NCM)</c:v>
                </c:pt>
              </c:strCache>
            </c:strRef>
          </c:tx>
          <c:spPr>
            <a:solidFill>
              <a:srgbClr val="2E74B5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333</c:v>
                </c:pt>
                <c:pt idx="1">
                  <c:v>218</c:v>
                </c:pt>
                <c:pt idx="2">
                  <c:v>231</c:v>
                </c:pt>
                <c:pt idx="3">
                  <c:v>196</c:v>
                </c:pt>
                <c:pt idx="4">
                  <c:v>103</c:v>
                </c:pt>
                <c:pt idx="5">
                  <c:v>75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其他</c:v>
                </c:pt>
              </c:strCache>
            </c:strRef>
          </c:tx>
          <c:spPr>
            <a:solidFill>
              <a:srgbClr val="595959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29</c:v>
                </c:pt>
                <c:pt idx="1">
                  <c:v>10</c:v>
                </c:pt>
                <c:pt idx="2">
                  <c:v>14</c:v>
                </c:pt>
                <c:pt idx="3">
                  <c:v>8</c:v>
                </c:pt>
                <c:pt idx="4">
                  <c:v>14</c:v>
                </c:pt>
                <c:pt idx="5">
                  <c:v>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BEV平均峰值功率</c:v>
                </c:pt>
              </c:strCache>
            </c:strRef>
          </c:tx>
          <c:spPr>
            <a:solidFill>
              <a:srgbClr val="2E74B5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154.64</c:v>
                </c:pt>
                <c:pt idx="1">
                  <c:v>191.87</c:v>
                </c:pt>
                <c:pt idx="2">
                  <c:v>204.7</c:v>
                </c:pt>
                <c:pt idx="3">
                  <c:v>209.13</c:v>
                </c:pt>
                <c:pt idx="4">
                  <c:v>190.25</c:v>
                </c:pt>
                <c:pt idx="5">
                  <c:v>254.0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PHEV平均峰值功率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143.42</c:v>
                </c:pt>
                <c:pt idx="1">
                  <c:v>188.79</c:v>
                </c:pt>
                <c:pt idx="2">
                  <c:v>190.78</c:v>
                </c:pt>
                <c:pt idx="3">
                  <c:v>197.62</c:v>
                </c:pt>
                <c:pt idx="4">
                  <c:v>183.88</c:v>
                </c:pt>
                <c:pt idx="5">
                  <c:v>218.29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BEV</c:v>
                </c:pt>
              </c:strCache>
            </c:strRef>
          </c:tx>
          <c:spPr>
            <a:solidFill>
              <a:srgbClr val="2E74B5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1551.5</c:v>
                </c:pt>
                <c:pt idx="1">
                  <c:v>1700.9</c:v>
                </c:pt>
                <c:pt idx="2">
                  <c:v>1862.6</c:v>
                </c:pt>
                <c:pt idx="3">
                  <c:v>1956.5</c:v>
                </c:pt>
                <c:pt idx="4">
                  <c:v>1889.7</c:v>
                </c:pt>
                <c:pt idx="5">
                  <c:v>1996.2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PHEV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1960.3</c:v>
                </c:pt>
                <c:pt idx="1">
                  <c:v>2025.8</c:v>
                </c:pt>
                <c:pt idx="2">
                  <c:v>2059.9</c:v>
                </c:pt>
                <c:pt idx="3">
                  <c:v>2052.1</c:v>
                </c:pt>
                <c:pt idx="4">
                  <c:v>2204.3</c:v>
                </c:pt>
                <c:pt idx="5">
                  <c:v>2336.1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BEV</c:v>
                </c:pt>
              </c:strCache>
            </c:strRef>
          </c:tx>
          <c:spPr>
            <a:solidFill>
              <a:srgbClr val="2E74B5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101.2</c:v>
                </c:pt>
                <c:pt idx="1">
                  <c:v>107.6</c:v>
                </c:pt>
                <c:pt idx="2">
                  <c:v>105.7</c:v>
                </c:pt>
                <c:pt idx="3">
                  <c:v>110.6</c:v>
                </c:pt>
                <c:pt idx="4">
                  <c:v>96.5</c:v>
                </c:pt>
                <c:pt idx="5">
                  <c:v>124.1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PHEV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77.3</c:v>
                </c:pt>
                <c:pt idx="1">
                  <c:v>91.7</c:v>
                </c:pt>
                <c:pt idx="2">
                  <c:v>91.6</c:v>
                </c:pt>
                <c:pt idx="3">
                  <c:v>95.6</c:v>
                </c:pt>
                <c:pt idx="4">
                  <c:v>82.2</c:v>
                </c:pt>
                <c:pt idx="5">
                  <c:v>91.9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BEV</c:v>
                </c:pt>
              </c:strCache>
            </c:strRef>
          </c:tx>
          <c:spPr>
            <a:solidFill>
              <a:srgbClr val="2E74B5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32.1</c:v>
                </c:pt>
                <c:pt idx="1">
                  <c:v>33.0</c:v>
                </c:pt>
                <c:pt idx="2">
                  <c:v>33.4</c:v>
                </c:pt>
                <c:pt idx="3">
                  <c:v>34.6</c:v>
                </c:pt>
                <c:pt idx="4">
                  <c:v>33.4</c:v>
                </c:pt>
                <c:pt idx="5">
                  <c:v>35.9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PHEV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13.7</c:v>
                </c:pt>
                <c:pt idx="1">
                  <c:v>12.7</c:v>
                </c:pt>
                <c:pt idx="2">
                  <c:v>12.5</c:v>
                </c:pt>
                <c:pt idx="3">
                  <c:v>13.2</c:v>
                </c:pt>
                <c:pt idx="4">
                  <c:v>14.9</c:v>
                </c:pt>
                <c:pt idx="5">
                  <c:v>19.8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BEV平均电耗</c:v>
                </c:pt>
              </c:strCache>
            </c:strRef>
          </c:tx>
          <c:spPr>
            <a:solidFill>
              <a:srgbClr val="2E74B5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13.34</c:v>
                </c:pt>
                <c:pt idx="1">
                  <c:v>13.49</c:v>
                </c:pt>
                <c:pt idx="2">
                  <c:v>14.05</c:v>
                </c:pt>
                <c:pt idx="3">
                  <c:v>14.08</c:v>
                </c:pt>
                <c:pt idx="4">
                  <c:v>13.74</c:v>
                </c:pt>
                <c:pt idx="5">
                  <c:v>13.23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LFP</c:v>
                </c:pt>
              </c:strCache>
            </c:strRef>
          </c:tx>
          <c:spPr>
            <a:solidFill>
              <a:srgbClr val="70AD47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12.58</c:v>
                </c:pt>
                <c:pt idx="1">
                  <c:v>12.59</c:v>
                </c:pt>
                <c:pt idx="2">
                  <c:v>13.53</c:v>
                </c:pt>
                <c:pt idx="3">
                  <c:v>13.62</c:v>
                </c:pt>
                <c:pt idx="4">
                  <c:v>13.41</c:v>
                </c:pt>
                <c:pt idx="5">
                  <c:v>12.79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NCM</c:v>
                </c:pt>
              </c:strCache>
            </c:strRef>
          </c:tx>
          <c:spPr>
            <a:solidFill>
              <a:srgbClr val="2E74B5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14.3</c:v>
                </c:pt>
                <c:pt idx="1">
                  <c:v>14.76</c:v>
                </c:pt>
                <c:pt idx="2">
                  <c:v>14.85</c:v>
                </c:pt>
                <c:pt idx="3">
                  <c:v>14.85</c:v>
                </c:pt>
                <c:pt idx="4">
                  <c:v>14.77</c:v>
                </c:pt>
                <c:pt idx="5">
                  <c:v>15.11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综合油耗(L)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3.17</c:v>
                </c:pt>
                <c:pt idx="1">
                  <c:v>3.31</c:v>
                </c:pt>
                <c:pt idx="2">
                  <c:v>3.88</c:v>
                </c:pt>
                <c:pt idx="3">
                  <c:v>4.98</c:v>
                </c:pt>
                <c:pt idx="4">
                  <c:v>5.58</c:v>
                </c:pt>
                <c:pt idx="5">
                  <c:v>5.28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纯电续航/30(km)</c:v>
                </c:pt>
              </c:strCache>
            </c:strRef>
          </c:tx>
          <c:spPr>
            <a:solidFill>
              <a:srgbClr val="2E74B5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2.88</c:v>
                </c:pt>
                <c:pt idx="1">
                  <c:v>3.81</c:v>
                </c:pt>
                <c:pt idx="2">
                  <c:v>3.89</c:v>
                </c:pt>
                <c:pt idx="3">
                  <c:v>4.32</c:v>
                </c:pt>
                <c:pt idx="4">
                  <c:v>5.36</c:v>
                </c:pt>
                <c:pt idx="5">
                  <c:v>8.21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B状态油耗(L)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5.28</c:v>
                </c:pt>
                <c:pt idx="1">
                  <c:v>6.02</c:v>
                </c:pt>
                <c:pt idx="2">
                  <c:v>5.93</c:v>
                </c:pt>
                <c:pt idx="3">
                  <c:v>5.69</c:v>
                </c:pt>
                <c:pt idx="4">
                  <c:v>5.65</c:v>
                </c:pt>
                <c:pt idx="5">
                  <c:v>5.54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综合油耗</c:v>
                </c:pt>
              </c:strCache>
            </c:strRef>
          </c:tx>
          <c:spPr>
            <a:solidFill>
              <a:srgbClr val="ED7D31"/>
            </a:solidFill>
          </c:spPr>
          <c:invertIfNegative val="0"/>
          <c:cat>
            <c:strRef>
              <c:f>Sheet1!$A$2:$A$5</c:f>
              <c:strCache>
                <c:ptCount val="4"/>
                <c:pt idx="0">
                  <c:v>&lt;1.0L</c:v>
                </c:pt>
                <c:pt idx="1">
                  <c:v>1.0-1.5L</c:v>
                </c:pt>
                <c:pt idx="2">
                  <c:v>1.5-2.0L</c:v>
                </c:pt>
                <c:pt idx="3">
                  <c:v>≥2.0L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5.38</c:v>
                </c:pt>
                <c:pt idx="2">
                  <c:v>5.13</c:v>
                </c:pt>
                <c:pt idx="3">
                  <c:v>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B状态油耗</c:v>
                </c:pt>
              </c:strCache>
            </c:strRef>
          </c:tx>
          <c:spPr>
            <a:solidFill>
              <a:srgbClr val="C55A11"/>
            </a:solidFill>
          </c:spPr>
          <c:invertIfNegative val="0"/>
          <c:cat>
            <c:strRef>
              <c:f>Sheet1!$A$2:$A$5</c:f>
              <c:strCache>
                <c:ptCount val="4"/>
                <c:pt idx="0">
                  <c:v>&lt;1.0L</c:v>
                </c:pt>
                <c:pt idx="1">
                  <c:v>1.0-1.5L</c:v>
                </c:pt>
                <c:pt idx="2">
                  <c:v>1.5-2.0L</c:v>
                </c:pt>
                <c:pt idx="3">
                  <c:v>≥2.0L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5.41</c:v>
                </c:pt>
                <c:pt idx="2">
                  <c:v>6.44</c:v>
                </c:pt>
                <c:pt idx="3">
                  <c:v>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电池供应商HHI</c:v>
                </c:pt>
              </c:strCache>
            </c:strRef>
          </c:tx>
          <c:spPr>
            <a:solidFill>
              <a:srgbClr val="2E74B5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1808.8</c:v>
                </c:pt>
                <c:pt idx="1">
                  <c:v>1546.3</c:v>
                </c:pt>
                <c:pt idx="2">
                  <c:v>1529.7</c:v>
                </c:pt>
                <c:pt idx="3">
                  <c:v>2197.3</c:v>
                </c:pt>
                <c:pt idx="4">
                  <c:v>1313.8</c:v>
                </c:pt>
                <c:pt idx="5">
                  <c:v>684.9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电机供应商HHI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282.0</c:v>
                </c:pt>
                <c:pt idx="1">
                  <c:v>261.4</c:v>
                </c:pt>
                <c:pt idx="2">
                  <c:v>222.2</c:v>
                </c:pt>
                <c:pt idx="3">
                  <c:v>355.1</c:v>
                </c:pt>
                <c:pt idx="4">
                  <c:v>429.3</c:v>
                </c:pt>
                <c:pt idx="5">
                  <c:v>285.7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CR3</c:v>
                </c:pt>
              </c:strCache>
            </c:strRef>
          </c:tx>
          <c:spPr>
            <a:solidFill>
              <a:srgbClr val="9DC3E6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66.2</c:v>
                </c:pt>
                <c:pt idx="1">
                  <c:v>58.4</c:v>
                </c:pt>
                <c:pt idx="2">
                  <c:v>56.1</c:v>
                </c:pt>
                <c:pt idx="3">
                  <c:v>70.5</c:v>
                </c:pt>
                <c:pt idx="4">
                  <c:v>56.5</c:v>
                </c:pt>
                <c:pt idx="5">
                  <c:v>37.6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CR5</c:v>
                </c:pt>
              </c:strCache>
            </c:strRef>
          </c:tx>
          <c:spPr>
            <a:solidFill>
              <a:srgbClr val="2E74B5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80.4</c:v>
                </c:pt>
                <c:pt idx="1">
                  <c:v>68.5</c:v>
                </c:pt>
                <c:pt idx="2">
                  <c:v>69.0</c:v>
                </c:pt>
                <c:pt idx="3">
                  <c:v>81.4</c:v>
                </c:pt>
                <c:pt idx="4">
                  <c:v>66.2</c:v>
                </c:pt>
                <c:pt idx="5">
                  <c:v>48.7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CR10</c:v>
                </c:pt>
              </c:strCache>
            </c:strRef>
          </c:tx>
          <c:spPr>
            <a:solidFill>
              <a:srgbClr val="1F3864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95.1</c:v>
                </c:pt>
                <c:pt idx="1">
                  <c:v>85.9</c:v>
                </c:pt>
                <c:pt idx="2">
                  <c:v>86.5</c:v>
                </c:pt>
                <c:pt idx="3">
                  <c:v>92.2</c:v>
                </c:pt>
                <c:pt idx="4">
                  <c:v>84.3</c:v>
                </c:pt>
                <c:pt idx="5">
                  <c:v>63.5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CR3</c:v>
                </c:pt>
              </c:strCache>
            </c:strRef>
          </c:tx>
          <c:spPr>
            <a:solidFill>
              <a:srgbClr val="F4B183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19.7</c:v>
                </c:pt>
                <c:pt idx="1">
                  <c:v>21.4</c:v>
                </c:pt>
                <c:pt idx="2">
                  <c:v>18.9</c:v>
                </c:pt>
                <c:pt idx="3">
                  <c:v>24.4</c:v>
                </c:pt>
                <c:pt idx="4">
                  <c:v>25.3</c:v>
                </c:pt>
                <c:pt idx="5">
                  <c:v>19.3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CR5</c:v>
                </c:pt>
              </c:strCache>
            </c:strRef>
          </c:tx>
          <c:spPr>
            <a:solidFill>
              <a:srgbClr val="ED7D31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26.1</c:v>
                </c:pt>
                <c:pt idx="1">
                  <c:v>29.1</c:v>
                </c:pt>
                <c:pt idx="2">
                  <c:v>24.9</c:v>
                </c:pt>
                <c:pt idx="3">
                  <c:v>34.3</c:v>
                </c:pt>
                <c:pt idx="4">
                  <c:v>35.2</c:v>
                </c:pt>
                <c:pt idx="5">
                  <c:v>28.9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CR10</c:v>
                </c:pt>
              </c:strCache>
            </c:strRef>
          </c:tx>
          <c:spPr>
            <a:solidFill>
              <a:srgbClr val="843C0C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38.0</c:v>
                </c:pt>
                <c:pt idx="1">
                  <c:v>41.2</c:v>
                </c:pt>
                <c:pt idx="2">
                  <c:v>35.9</c:v>
                </c:pt>
                <c:pt idx="3">
                  <c:v>47.6</c:v>
                </c:pt>
                <c:pt idx="4">
                  <c:v>52.5</c:v>
                </c:pt>
                <c:pt idx="5">
                  <c:v>44.2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配套车型数</c:v>
                </c:pt>
              </c:strCache>
            </c:strRef>
          </c:tx>
          <c:spPr>
            <a:solidFill>
              <a:srgbClr val="2E74B5"/>
            </a:solidFill>
          </c:spPr>
          <c:invertIfNegative val="0"/>
          <c:cat>
            <c:strRef>
              <c:f>Sheet1!$A$2:$A$11</c:f>
              <c:strCache>
                <c:ptCount val="10"/>
                <c:pt idx="0">
                  <c:v>宁德时代</c:v>
                </c:pt>
                <c:pt idx="1">
                  <c:v>弗迪</c:v>
                </c:pt>
                <c:pt idx="2">
                  <c:v>国轩高科</c:v>
                </c:pt>
                <c:pt idx="3">
                  <c:v>蜂巢能源</c:v>
                </c:pt>
                <c:pt idx="4">
                  <c:v>中创新航</c:v>
                </c:pt>
                <c:pt idx="5">
                  <c:v>欣旺达</c:v>
                </c:pt>
                <c:pt idx="6">
                  <c:v>比亚迪</c:v>
                </c:pt>
                <c:pt idx="7">
                  <c:v>宁德时代(四川时代)</c:v>
                </c:pt>
                <c:pt idx="8">
                  <c:v>宁德时代(江苏时代)</c:v>
                </c:pt>
                <c:pt idx="9">
                  <c:v>亿纬动力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389</c:v>
                </c:pt>
                <c:pt idx="1">
                  <c:v>368</c:v>
                </c:pt>
                <c:pt idx="2">
                  <c:v>125</c:v>
                </c:pt>
                <c:pt idx="3">
                  <c:v>71</c:v>
                </c:pt>
                <c:pt idx="4">
                  <c:v>61</c:v>
                </c:pt>
                <c:pt idx="5">
                  <c:v>60</c:v>
                </c:pt>
                <c:pt idx="6">
                  <c:v>54</c:v>
                </c:pt>
                <c:pt idx="7">
                  <c:v>46</c:v>
                </c:pt>
                <c:pt idx="8">
                  <c:v>33</c:v>
                </c:pt>
                <c:pt idx="9">
                  <c:v>26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配套车型数</c:v>
                </c:pt>
              </c:strCache>
            </c:strRef>
          </c:tx>
          <c:spPr>
            <a:solidFill>
              <a:srgbClr val="ED7D31"/>
            </a:solidFill>
          </c:spPr>
          <c:invertIfNegative val="0"/>
          <c:cat>
            <c:strRef>
              <c:f>Sheet1!$A$2:$A$11</c:f>
              <c:strCache>
                <c:ptCount val="10"/>
                <c:pt idx="0">
                  <c:v>长沙市比亚迪汽车有限公司</c:v>
                </c:pt>
                <c:pt idx="1">
                  <c:v>重庆青山工业有限责任公司</c:v>
                </c:pt>
                <c:pt idx="2">
                  <c:v>奇瑞汽车</c:v>
                </c:pt>
                <c:pt idx="3">
                  <c:v>苏州汇川联合动力系统股份有限公司</c:v>
                </c:pt>
                <c:pt idx="4">
                  <c:v>华为数字能源技术有限公司</c:v>
                </c:pt>
                <c:pt idx="5">
                  <c:v>联合汽车电子有限公司</c:v>
                </c:pt>
                <c:pt idx="6">
                  <c:v>柳州赛克科技发展有限公司</c:v>
                </c:pt>
                <c:pt idx="7">
                  <c:v>珠海英搏尔电气股份有限公司</c:v>
                </c:pt>
                <c:pt idx="8">
                  <c:v>金华凌昇动力科技有限公司</c:v>
                </c:pt>
                <c:pt idx="9">
                  <c:v>联合汽车电子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408</c:v>
                </c:pt>
                <c:pt idx="1">
                  <c:v>151</c:v>
                </c:pt>
                <c:pt idx="2">
                  <c:v>114</c:v>
                </c:pt>
                <c:pt idx="3">
                  <c:v>108</c:v>
                </c:pt>
                <c:pt idx="4">
                  <c:v>106</c:v>
                </c:pt>
                <c:pt idx="5">
                  <c:v>99</c:v>
                </c:pt>
                <c:pt idx="6">
                  <c:v>95</c:v>
                </c:pt>
                <c:pt idx="7">
                  <c:v>86</c:v>
                </c:pt>
                <c:pt idx="8">
                  <c:v>79</c:v>
                </c:pt>
                <c:pt idx="9">
                  <c:v>65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9DC3E6"/>
            </a:solidFill>
          </c:spPr>
          <c:invertIfNegative val="0"/>
          <c:cat>
            <c:strRef>
              <c:f>Sheet1!$A$2:$A$9</c:f>
              <c:strCache>
                <c:ptCount val="8"/>
                <c:pt idx="0">
                  <c:v>SUV-C</c:v>
                </c:pt>
                <c:pt idx="1">
                  <c:v>SUV-D</c:v>
                </c:pt>
                <c:pt idx="2">
                  <c:v>Car-C</c:v>
                </c:pt>
                <c:pt idx="3">
                  <c:v>Car-D</c:v>
                </c:pt>
                <c:pt idx="4">
                  <c:v>Car-B</c:v>
                </c:pt>
                <c:pt idx="5">
                  <c:v>Car-A</c:v>
                </c:pt>
                <c:pt idx="6">
                  <c:v>MPV-D</c:v>
                </c:pt>
                <c:pt idx="7">
                  <c:v>SUV-B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523.5</c:v>
                </c:pt>
                <c:pt idx="1">
                  <c:v>530.5</c:v>
                </c:pt>
                <c:pt idx="2">
                  <c:v>516.3</c:v>
                </c:pt>
                <c:pt idx="3">
                  <c:v>630.4</c:v>
                </c:pt>
                <c:pt idx="4">
                  <c:v>359.7</c:v>
                </c:pt>
                <c:pt idx="5">
                  <c:v>261.0</c:v>
                </c:pt>
                <c:pt idx="6">
                  <c:v>601.5</c:v>
                </c:pt>
                <c:pt idx="7">
                  <c:v>437.7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2E74B5"/>
            </a:solidFill>
          </c:spPr>
          <c:invertIfNegative val="0"/>
          <c:cat>
            <c:strRef>
              <c:f>Sheet1!$A$2:$A$9</c:f>
              <c:strCache>
                <c:ptCount val="8"/>
                <c:pt idx="0">
                  <c:v>SUV-C</c:v>
                </c:pt>
                <c:pt idx="1">
                  <c:v>SUV-D</c:v>
                </c:pt>
                <c:pt idx="2">
                  <c:v>Car-C</c:v>
                </c:pt>
                <c:pt idx="3">
                  <c:v>Car-D</c:v>
                </c:pt>
                <c:pt idx="4">
                  <c:v>Car-B</c:v>
                </c:pt>
                <c:pt idx="5">
                  <c:v>Car-A</c:v>
                </c:pt>
                <c:pt idx="6">
                  <c:v>MPV-D</c:v>
                </c:pt>
                <c:pt idx="7">
                  <c:v>SUV-B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540.1</c:v>
                </c:pt>
                <c:pt idx="1">
                  <c:v>618.0</c:v>
                </c:pt>
                <c:pt idx="2">
                  <c:v>515.2</c:v>
                </c:pt>
                <c:pt idx="3">
                  <c:v>648.3</c:v>
                </c:pt>
                <c:pt idx="4">
                  <c:v>368.3</c:v>
                </c:pt>
                <c:pt idx="5">
                  <c:v>252.7</c:v>
                </c:pt>
                <c:pt idx="6">
                  <c:v>513.5</c:v>
                </c:pt>
                <c:pt idx="7">
                  <c:v>416.9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F4B183"/>
            </a:solidFill>
          </c:spPr>
          <c:invertIfNegative val="0"/>
          <c:cat>
            <c:strRef>
              <c:f>Sheet1!$A$2:$A$9</c:f>
              <c:strCache>
                <c:ptCount val="8"/>
                <c:pt idx="0">
                  <c:v>SUV-C</c:v>
                </c:pt>
                <c:pt idx="1">
                  <c:v>SUV-D</c:v>
                </c:pt>
                <c:pt idx="2">
                  <c:v>Car-C</c:v>
                </c:pt>
                <c:pt idx="3">
                  <c:v>Car-D</c:v>
                </c:pt>
                <c:pt idx="4">
                  <c:v>Car-B</c:v>
                </c:pt>
                <c:pt idx="5">
                  <c:v>Car-A</c:v>
                </c:pt>
                <c:pt idx="6">
                  <c:v>MPV-D</c:v>
                </c:pt>
                <c:pt idx="7">
                  <c:v>SUV-B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68.3</c:v>
                </c:pt>
                <c:pt idx="1">
                  <c:v>79.0</c:v>
                </c:pt>
                <c:pt idx="2">
                  <c:v>60.5</c:v>
                </c:pt>
                <c:pt idx="3">
                  <c:v>80.3</c:v>
                </c:pt>
                <c:pt idx="4">
                  <c:v>41.0</c:v>
                </c:pt>
                <c:pt idx="5">
                  <c:v>24.5</c:v>
                </c:pt>
                <c:pt idx="6">
                  <c:v>98.3</c:v>
                </c:pt>
                <c:pt idx="7">
                  <c:v>50.9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ED7D31"/>
            </a:solidFill>
          </c:spPr>
          <c:invertIfNegative val="0"/>
          <c:cat>
            <c:strRef>
              <c:f>Sheet1!$A$2:$A$9</c:f>
              <c:strCache>
                <c:ptCount val="8"/>
                <c:pt idx="0">
                  <c:v>SUV-C</c:v>
                </c:pt>
                <c:pt idx="1">
                  <c:v>SUV-D</c:v>
                </c:pt>
                <c:pt idx="2">
                  <c:v>Car-C</c:v>
                </c:pt>
                <c:pt idx="3">
                  <c:v>Car-D</c:v>
                </c:pt>
                <c:pt idx="4">
                  <c:v>Car-B</c:v>
                </c:pt>
                <c:pt idx="5">
                  <c:v>Car-A</c:v>
                </c:pt>
                <c:pt idx="6">
                  <c:v>MPV-D</c:v>
                </c:pt>
                <c:pt idx="7">
                  <c:v>SUV-B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65.3</c:v>
                </c:pt>
                <c:pt idx="1">
                  <c:v>84.2</c:v>
                </c:pt>
                <c:pt idx="2">
                  <c:v>54.8</c:v>
                </c:pt>
                <c:pt idx="3">
                  <c:v>77.7</c:v>
                </c:pt>
                <c:pt idx="4">
                  <c:v>36.4</c:v>
                </c:pt>
                <c:pt idx="5">
                  <c:v>23.0</c:v>
                </c:pt>
                <c:pt idx="6">
                  <c:v>81.7</c:v>
                </c:pt>
                <c:pt idx="7">
                  <c:v>44.1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F4B183"/>
            </a:solidFill>
          </c:spPr>
          <c:invertIfNegative val="0"/>
          <c:cat>
            <c:strRef>
              <c:f>Sheet1!$A$2:$A$8</c:f>
              <c:strCache>
                <c:ptCount val="7"/>
                <c:pt idx="0">
                  <c:v>SUV-C</c:v>
                </c:pt>
                <c:pt idx="1">
                  <c:v>SUV-D</c:v>
                </c:pt>
                <c:pt idx="2">
                  <c:v>Car-C</c:v>
                </c:pt>
                <c:pt idx="3">
                  <c:v>Car-D</c:v>
                </c:pt>
                <c:pt idx="4">
                  <c:v>MPV-D</c:v>
                </c:pt>
                <c:pt idx="5">
                  <c:v>SUV-E</c:v>
                </c:pt>
                <c:pt idx="6">
                  <c:v>Car-A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103.6</c:v>
                </c:pt>
                <c:pt idx="1">
                  <c:v>149.2</c:v>
                </c:pt>
                <c:pt idx="2">
                  <c:v>96.9</c:v>
                </c:pt>
                <c:pt idx="3">
                  <c:v>130.9</c:v>
                </c:pt>
                <c:pt idx="4">
                  <c:v>129.0</c:v>
                </c:pt>
                <c:pt idx="5">
                  <c:v>171.0</c:v>
                </c:pt>
                <c:pt idx="6">
                  <c:v>115.0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ED7D31"/>
            </a:solidFill>
          </c:spPr>
          <c:invertIfNegative val="0"/>
          <c:cat>
            <c:strRef>
              <c:f>Sheet1!$A$2:$A$8</c:f>
              <c:strCache>
                <c:ptCount val="7"/>
                <c:pt idx="0">
                  <c:v>SUV-C</c:v>
                </c:pt>
                <c:pt idx="1">
                  <c:v>SUV-D</c:v>
                </c:pt>
                <c:pt idx="2">
                  <c:v>Car-C</c:v>
                </c:pt>
                <c:pt idx="3">
                  <c:v>Car-D</c:v>
                </c:pt>
                <c:pt idx="4">
                  <c:v>MPV-D</c:v>
                </c:pt>
                <c:pt idx="5">
                  <c:v>SUV-E</c:v>
                </c:pt>
                <c:pt idx="6">
                  <c:v>Car-A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125.9</c:v>
                </c:pt>
                <c:pt idx="1">
                  <c:v>186.6</c:v>
                </c:pt>
                <c:pt idx="2">
                  <c:v>110.1</c:v>
                </c:pt>
                <c:pt idx="3">
                  <c:v>188.6</c:v>
                </c:pt>
                <c:pt idx="4">
                  <c:v>187.2</c:v>
                </c:pt>
                <c:pt idx="5">
                  <c:v>194.1</c:v>
                </c:pt>
                <c:pt idx="6">
                  <c:v>159.0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平均整备(kg)</c:v>
                </c:pt>
              </c:strCache>
            </c:strRef>
          </c:tx>
          <c:spPr>
            <a:solidFill>
              <a:srgbClr val="1F3864"/>
            </a:solidFill>
          </c:spPr>
          <c:invertIfNegative val="0"/>
          <c:cat>
            <c:strRef>
              <c:f>Sheet1!$A$2:$A$13</c:f>
              <c:strCache>
                <c:ptCount val="12"/>
                <c:pt idx="0">
                  <c:v>Lux Car-5</c:v>
                </c:pt>
                <c:pt idx="1">
                  <c:v>Lux Car</c:v>
                </c:pt>
                <c:pt idx="2">
                  <c:v>Lux SUV</c:v>
                </c:pt>
                <c:pt idx="3">
                  <c:v>MPV-D</c:v>
                </c:pt>
                <c:pt idx="4">
                  <c:v>Car-E</c:v>
                </c:pt>
                <c:pt idx="5">
                  <c:v>Lux SUV-4</c:v>
                </c:pt>
                <c:pt idx="6">
                  <c:v>MPV-B</c:v>
                </c:pt>
                <c:pt idx="7">
                  <c:v>Lux Car-4</c:v>
                </c:pt>
                <c:pt idx="8">
                  <c:v>SUV-E</c:v>
                </c:pt>
                <c:pt idx="9">
                  <c:v>Lux SUV-3</c:v>
                </c:pt>
                <c:pt idx="10">
                  <c:v>SUV-D</c:v>
                </c:pt>
                <c:pt idx="11">
                  <c:v>SUV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2888.1</c:v>
                </c:pt>
                <c:pt idx="1">
                  <c:v>2629.9</c:v>
                </c:pt>
                <c:pt idx="2">
                  <c:v>2606.5</c:v>
                </c:pt>
                <c:pt idx="3">
                  <c:v>2591.1</c:v>
                </c:pt>
                <c:pt idx="4">
                  <c:v>2530.2</c:v>
                </c:pt>
                <c:pt idx="5">
                  <c:v>2529.0</c:v>
                </c:pt>
                <c:pt idx="6">
                  <c:v>2525.8</c:v>
                </c:pt>
                <c:pt idx="7">
                  <c:v>2349.6</c:v>
                </c:pt>
                <c:pt idx="8">
                  <c:v>2328.8</c:v>
                </c:pt>
                <c:pt idx="9">
                  <c:v>2324.0</c:v>
                </c:pt>
                <c:pt idx="10">
                  <c:v>2323.3</c:v>
                </c:pt>
                <c:pt idx="11">
                  <c:v>2196.0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平均续航(km)</c:v>
                </c:pt>
              </c:strCache>
            </c:strRef>
          </c:tx>
          <c:spPr>
            <a:solidFill>
              <a:srgbClr val="9DC3E6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1">
                  <c:v>9.5</c:v>
                </c:pt>
                <c:pt idx="2">
                  <c:v>9.8</c:v>
                </c:pt>
                <c:pt idx="3">
                  <c:v>6.5</c:v>
                </c:pt>
                <c:pt idx="4">
                  <c:v>-1.6</c:v>
                </c:pt>
                <c:pt idx="5">
                  <c:v>18.7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平均容量(kWh)</c:v>
                </c:pt>
              </c:strCache>
            </c:strRef>
          </c:tx>
          <c:spPr>
            <a:solidFill>
              <a:srgbClr val="2E74B5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1">
                  <c:v>11.1</c:v>
                </c:pt>
                <c:pt idx="2">
                  <c:v>7.5</c:v>
                </c:pt>
                <c:pt idx="3">
                  <c:v>7.4</c:v>
                </c:pt>
                <c:pt idx="4">
                  <c:v>-6.7</c:v>
                </c:pt>
                <c:pt idx="5">
                  <c:v>14.3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平均功率(kW)</c:v>
                </c:pt>
              </c:strCache>
            </c:strRef>
          </c:tx>
          <c:spPr>
            <a:solidFill>
              <a:srgbClr val="ED7D31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1">
                  <c:v>24.1</c:v>
                </c:pt>
                <c:pt idx="2">
                  <c:v>6.7</c:v>
                </c:pt>
                <c:pt idx="3">
                  <c:v>2.2</c:v>
                </c:pt>
                <c:pt idx="4">
                  <c:v>-9.0</c:v>
                </c:pt>
                <c:pt idx="5">
                  <c:v>33.5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平均整备质量(kg)</c:v>
                </c:pt>
              </c:strCache>
            </c:strRef>
          </c:tx>
          <c:spPr>
            <a:solidFill>
              <a:srgbClr val="70AD47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1">
                  <c:v>9.6</c:v>
                </c:pt>
                <c:pt idx="2">
                  <c:v>9.5</c:v>
                </c:pt>
                <c:pt idx="3">
                  <c:v>5.0</c:v>
                </c:pt>
                <c:pt idx="4">
                  <c:v>-3.4</c:v>
                </c:pt>
                <c:pt idx="5">
                  <c:v>5.6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平均能量密度(Wh/kg)</c:v>
                </c:pt>
              </c:strCache>
            </c:strRef>
          </c:tx>
          <c:spPr>
            <a:solidFill>
              <a:srgbClr val="FFC000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1">
                  <c:v>2.0</c:v>
                </c:pt>
                <c:pt idx="2">
                  <c:v>2.9</c:v>
                </c:pt>
                <c:pt idx="3">
                  <c:v>-7.2</c:v>
                </c:pt>
                <c:pt idx="4">
                  <c:v>3.0</c:v>
                </c:pt>
                <c:pt idx="5">
                  <c:v>8.3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公告数量(款)</c:v>
                </c:pt>
              </c:strCache>
            </c:strRef>
          </c:tx>
          <c:spPr>
            <a:solidFill>
              <a:srgbClr val="7030A0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-37.8</c:v>
                </c:pt>
                <c:pt idx="1">
                  <c:v>12.3</c:v>
                </c:pt>
                <c:pt idx="2">
                  <c:v>15.2</c:v>
                </c:pt>
                <c:pt idx="3">
                  <c:v>-3.9</c:v>
                </c:pt>
                <c:pt idx="4">
                  <c:v>-31.7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平均续航(km)</c:v>
                </c:pt>
              </c:strCache>
            </c:strRef>
          </c:tx>
          <c:spPr>
            <a:solidFill>
              <a:srgbClr val="9DC3E6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1">
                  <c:v>32.5</c:v>
                </c:pt>
                <c:pt idx="2">
                  <c:v>2.1</c:v>
                </c:pt>
                <c:pt idx="3">
                  <c:v>11.0</c:v>
                </c:pt>
                <c:pt idx="4">
                  <c:v>24.1</c:v>
                </c:pt>
                <c:pt idx="5">
                  <c:v>53.2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平均容量(kWh)</c:v>
                </c:pt>
              </c:strCache>
            </c:strRef>
          </c:tx>
          <c:spPr>
            <a:solidFill>
              <a:srgbClr val="2E74B5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1">
                  <c:v>-5.9</c:v>
                </c:pt>
                <c:pt idx="2">
                  <c:v>0.4</c:v>
                </c:pt>
                <c:pt idx="3">
                  <c:v>5.7</c:v>
                </c:pt>
                <c:pt idx="4">
                  <c:v>20.9</c:v>
                </c:pt>
                <c:pt idx="5">
                  <c:v>40.9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平均功率(kW)</c:v>
                </c:pt>
              </c:strCache>
            </c:strRef>
          </c:tx>
          <c:spPr>
            <a:solidFill>
              <a:srgbClr val="ED7D31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1">
                  <c:v>31.6</c:v>
                </c:pt>
                <c:pt idx="2">
                  <c:v>1.1</c:v>
                </c:pt>
                <c:pt idx="3">
                  <c:v>3.6</c:v>
                </c:pt>
                <c:pt idx="4">
                  <c:v>-7.0</c:v>
                </c:pt>
                <c:pt idx="5">
                  <c:v>18.7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平均整备质量(kg)</c:v>
                </c:pt>
              </c:strCache>
            </c:strRef>
          </c:tx>
          <c:spPr>
            <a:solidFill>
              <a:srgbClr val="70AD47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1">
                  <c:v>3.3</c:v>
                </c:pt>
                <c:pt idx="2">
                  <c:v>1.7</c:v>
                </c:pt>
                <c:pt idx="3">
                  <c:v>-0.4</c:v>
                </c:pt>
                <c:pt idx="4">
                  <c:v>7.4</c:v>
                </c:pt>
                <c:pt idx="5">
                  <c:v>6.0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平均能量密度(Wh/kg)</c:v>
                </c:pt>
              </c:strCache>
            </c:strRef>
          </c:tx>
          <c:spPr>
            <a:solidFill>
              <a:srgbClr val="FFC000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1">
                  <c:v>7.2</c:v>
                </c:pt>
                <c:pt idx="2">
                  <c:v>0.3</c:v>
                </c:pt>
                <c:pt idx="3">
                  <c:v>-3.5</c:v>
                </c:pt>
                <c:pt idx="4">
                  <c:v>11.2</c:v>
                </c:pt>
                <c:pt idx="5">
                  <c:v>5.2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公告数量(款)</c:v>
                </c:pt>
              </c:strCache>
            </c:strRef>
          </c:tx>
          <c:spPr>
            <a:solidFill>
              <a:srgbClr val="7030A0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-20.6</c:v>
                </c:pt>
                <c:pt idx="1">
                  <c:v>57.8</c:v>
                </c:pt>
                <c:pt idx="2">
                  <c:v>46.5</c:v>
                </c:pt>
                <c:pt idx="3">
                  <c:v>76.6</c:v>
                </c:pt>
                <c:pt idx="4">
                  <c:v>-47.7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8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0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8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9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0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1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847088"/>
            <a:ext cx="1463040" cy="8229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57400"/>
            <a:ext cx="10515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rial"/>
                <a:ea typeface="微软雅黑"/>
              </a:rPr>
              <a:t>NEV公告车型 | 行业分析报告</a:t>
            </a:r>
          </a:p>
          <a:p>
            <a:pPr algn="l"/>
            <a:r>
              <a:rPr sz="1700" b="0">
                <a:solidFill>
                  <a:srgbClr val="BDD7EE"/>
                </a:solidFill>
                <a:latin typeface="Arial"/>
                <a:ea typeface="微软雅黑"/>
              </a:rPr>
              <a:t>2021–2026年新能源汽车公告车型深度分析（纯乘用车口径）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D7D31"/>
                </a:solidFill>
                <a:latin typeface="Arial"/>
                <a:ea typeface="微软雅黑"/>
              </a:rPr>
              <a:t>基于 5,392 条公告车型数据 · 涵盖 BEV 与 PHEV · 7大维度67页分析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172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FAADC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 · 生成日期 2026-09-27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执行摘要 | NEV公告车型市场核心发现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样本 5,392 款（BEV 3,702 / PHEV 1,690）· 第341~410批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2670048" cy="1371600"/>
          </a:xfrm>
          <a:prstGeom prst="rect">
            <a:avLst/>
          </a:prstGeom>
          <a:solidFill>
            <a:srgbClr val="F2F6FB"/>
          </a:solidFill>
          <a:ln>
            <a:solidFill>
              <a:srgbClr val="BD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  <a:ea typeface="微软雅黑"/>
              </a:rPr>
              <a:t>公告车型总量</a:t>
            </a:r>
          </a:p>
          <a:p>
            <a:pPr algn="l"/>
            <a:r>
              <a:rPr sz="2400" b="1">
                <a:solidFill>
                  <a:srgbClr val="1F3864"/>
                </a:solidFill>
                <a:latin typeface="Arial"/>
                <a:ea typeface="微软雅黑"/>
              </a:rPr>
              <a:t>5,392 款</a:t>
            </a:r>
          </a:p>
          <a:p>
            <a:pPr algn="l"/>
            <a:r>
              <a:rPr sz="950" b="0">
                <a:solidFill>
                  <a:srgbClr val="595959"/>
                </a:solidFill>
                <a:latin typeface="Arial"/>
                <a:ea typeface="微软雅黑"/>
              </a:rPr>
              <a:t>纯乘用车口径（5,392 款 × 38 列）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3310128" y="1554480"/>
            <a:ext cx="2670048" cy="1371600"/>
          </a:xfrm>
          <a:prstGeom prst="rect">
            <a:avLst/>
          </a:prstGeom>
          <a:solidFill>
            <a:srgbClr val="F2F6FB"/>
          </a:solidFill>
          <a:ln>
            <a:solidFill>
              <a:srgbClr val="BD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  <a:ea typeface="微软雅黑"/>
              </a:rPr>
              <a:t>BEV 平均续航 2025</a:t>
            </a:r>
          </a:p>
          <a:p>
            <a:pPr algn="l"/>
            <a:r>
              <a:rPr sz="2400" b="1">
                <a:solidFill>
                  <a:srgbClr val="1F3864"/>
                </a:solidFill>
                <a:latin typeface="Arial"/>
                <a:ea typeface="微软雅黑"/>
              </a:rPr>
              <a:t>540.8 km</a:t>
            </a:r>
          </a:p>
          <a:p>
            <a:pPr algn="l"/>
            <a:r>
              <a:rPr sz="950" b="0">
                <a:solidFill>
                  <a:srgbClr val="595959"/>
                </a:solidFill>
                <a:latin typeface="Arial"/>
                <a:ea typeface="微软雅黑"/>
              </a:rPr>
              <a:t>较2021年 +30.9%</a:t>
            </a:r>
          </a:p>
        </p:txBody>
      </p:sp>
      <p:sp>
        <p:nvSpPr>
          <p:cNvPr id="9" name="Rectangle 8"/>
          <p:cNvSpPr/>
          <p:nvPr/>
        </p:nvSpPr>
        <p:spPr>
          <a:xfrm>
            <a:off x="6163056" y="1554480"/>
            <a:ext cx="2670048" cy="1371600"/>
          </a:xfrm>
          <a:prstGeom prst="rect">
            <a:avLst/>
          </a:prstGeom>
          <a:solidFill>
            <a:srgbClr val="F2F6FB"/>
          </a:solidFill>
          <a:ln>
            <a:solidFill>
              <a:srgbClr val="BD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  <a:ea typeface="微软雅黑"/>
              </a:rPr>
              <a:t>PHEV 平均纯电续航 2025</a:t>
            </a:r>
          </a:p>
          <a:p>
            <a:pPr algn="l"/>
            <a:r>
              <a:rPr sz="2400" b="1">
                <a:solidFill>
                  <a:srgbClr val="1F3864"/>
                </a:solidFill>
                <a:latin typeface="Arial"/>
                <a:ea typeface="微软雅黑"/>
              </a:rPr>
              <a:t>159.24 km</a:t>
            </a:r>
          </a:p>
          <a:p>
            <a:pPr algn="l"/>
            <a:r>
              <a:rPr sz="950" b="0">
                <a:solidFill>
                  <a:srgbClr val="595959"/>
                </a:solidFill>
                <a:latin typeface="Arial"/>
                <a:ea typeface="微软雅黑"/>
              </a:rPr>
              <a:t>插混长途化、大电池化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15984" y="1554480"/>
            <a:ext cx="2670048" cy="1371600"/>
          </a:xfrm>
          <a:prstGeom prst="rect">
            <a:avLst/>
          </a:prstGeom>
          <a:solidFill>
            <a:srgbClr val="F2F6FB"/>
          </a:solidFill>
          <a:ln>
            <a:solidFill>
              <a:srgbClr val="BD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  <a:ea typeface="微软雅黑"/>
              </a:rPr>
              <a:t>2025 年 PHEV 占比</a:t>
            </a:r>
          </a:p>
          <a:p>
            <a:pPr algn="l"/>
            <a:r>
              <a:rPr sz="2400" b="1">
                <a:solidFill>
                  <a:srgbClr val="1F3864"/>
                </a:solidFill>
                <a:latin typeface="Arial"/>
                <a:ea typeface="微软雅黑"/>
              </a:rPr>
              <a:t>39.2%</a:t>
            </a:r>
          </a:p>
          <a:p>
            <a:pPr algn="l"/>
            <a:r>
              <a:rPr sz="950" b="0">
                <a:solidFill>
                  <a:srgbClr val="595959"/>
                </a:solidFill>
                <a:latin typeface="Arial"/>
                <a:ea typeface="微软雅黑"/>
              </a:rPr>
              <a:t>插混/增程持续放量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3200400"/>
          <a:ext cx="1127455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9319"/>
                <a:gridCol w="1409319"/>
                <a:gridCol w="1409319"/>
                <a:gridCol w="1409319"/>
                <a:gridCol w="1691182"/>
                <a:gridCol w="1973046"/>
                <a:gridCol w="1973046"/>
              </a:tblGrid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年份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BEV(款)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PHEV(款)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合计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PHEV占比%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BEV均值续航(km)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BEV均值容量(kWh)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836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407.2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54.0</a:t>
                      </a:r>
                    </a:p>
                  </a:txBody>
                  <a:tcPr/>
                </a:tc>
              </a:tr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520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135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655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20.6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445.8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60.0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26.7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489.5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64.5</a:t>
                      </a:r>
                    </a:p>
                  </a:txBody>
                  <a:tcPr/>
                </a:tc>
              </a:tr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673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312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985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31.7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521.1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69.2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1198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513.0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64.6</a:t>
                      </a:r>
                    </a:p>
                  </a:txBody>
                  <a:tcPr/>
                </a:tc>
              </a:tr>
              <a:tr h="339636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442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730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39.5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608.8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73.8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目录 |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七大维度 · 67页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173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D7D31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4173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864"/>
                </a:solidFill>
                <a:latin typeface="Arial"/>
                <a:ea typeface="微软雅黑"/>
              </a:rPr>
              <a:t>市场全景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1472184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  <a:ea typeface="微软雅黑"/>
              </a:rPr>
              <a:t>总览、动力类型分布、年度趋势、细分市场结构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075688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D7D31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07568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864"/>
                </a:solidFill>
                <a:latin typeface="Arial"/>
                <a:ea typeface="微软雅黑"/>
              </a:rPr>
              <a:t>动力电池分析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2130552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  <a:ea typeface="微软雅黑"/>
              </a:rPr>
              <a:t>续航、容量、类型、能量密度、分布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734056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D7D31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734056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864"/>
                </a:solidFill>
                <a:latin typeface="Arial"/>
                <a:ea typeface="微软雅黑"/>
              </a:rPr>
              <a:t>驱动与能效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0" y="2788920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  <a:ea typeface="微软雅黑"/>
              </a:rPr>
              <a:t>功率、重量效率、整车能量密度、油耗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392424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D7D31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392424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864"/>
                </a:solidFill>
                <a:latin typeface="Arial"/>
                <a:ea typeface="微软雅黑"/>
              </a:rPr>
              <a:t>供应商格局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3447288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  <a:ea typeface="微软雅黑"/>
              </a:rPr>
              <a:t>HHI、CR趋势、Top供应商、品牌映射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050791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D7D31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050791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864"/>
                </a:solidFill>
                <a:latin typeface="Arial"/>
                <a:ea typeface="微软雅黑"/>
              </a:rPr>
              <a:t>细分市场深度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0" y="4105655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  <a:ea typeface="微软雅黑"/>
              </a:rPr>
              <a:t>细分对比、续航容量、整备质量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709159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D7D31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470915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864"/>
                </a:solidFill>
                <a:latin typeface="Arial"/>
                <a:ea typeface="微软雅黑"/>
              </a:rPr>
              <a:t>相关性与增长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0" y="4764023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  <a:ea typeface="微软雅黑"/>
              </a:rPr>
              <a:t>相关矩阵、同比增长率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67528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D7D31"/>
                </a:solidFill>
                <a:latin typeface="Arial"/>
                <a:ea typeface="微软雅黑"/>
              </a:rPr>
              <a:t>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0" y="536752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864"/>
                </a:solidFill>
                <a:latin typeface="Arial"/>
                <a:ea typeface="微软雅黑"/>
              </a:rPr>
              <a:t>总结与展望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0" y="5422392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  <a:ea typeface="微软雅黑"/>
              </a:rPr>
              <a:t>关键发现、年度汇总、核心结论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ED7D31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2487168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  <a:ea typeface="微软雅黑"/>
              </a:rPr>
              <a:t>市场全景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32304" y="3566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DD7EE"/>
                </a:solidFill>
                <a:latin typeface="Arial"/>
                <a:ea typeface="微软雅黑"/>
              </a:rPr>
              <a:t>总览、动力类型分布、年度趋势、细分市场结构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8E2F0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94560"/>
            <a:ext cx="5394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公告车型总量 5,392 款（BEV 3,702 / PHEV 1,690）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2026 年公告 730 款（BEV 442 / PHEV 288）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2025 年 PHEV 占比 46.0%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BEV与PHEV公告车型数量对比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按年度统计的纯电动(BEV)与插电混动(PHEV)公告车型数量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总量自1006款增长至1198款（2025年）；PHEV份额升至46.0%，插混成为公告结构变量 ｜ 2021→2026 BEV 836.0→442.0（-47.1%）；2026年 PHEV=288.0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6744"/>
                <a:gridCol w="3666744"/>
                <a:gridCol w="3666744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BEV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PHEV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836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170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520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135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584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213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673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312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647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551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442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288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PHEV占比变化趋势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PHEV在当年公告车型总量中的占比 (%)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PHEV占比由16.9%（2021）升至46.0%（2025），增程/插混大电池车型为主要增量 ｜ 2021→2026 PHEV占比% 16.9→39.5（+133.7%）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0116"/>
                <a:gridCol w="5500116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PHEV占比%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16.9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20.6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26.7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31.7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46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39.5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BEV细分市场分布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BEV公告车型按细分市场分布 (Top 8)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BEV以 SUV-C 为主力（529款，占Top8的21%），级别分化明显 ｜ 前三（SUV-C、Car-A、SUV-D）合计 54.9%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1097280" y="1417320"/>
          <a:ext cx="10058400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234440" y="4116628"/>
          <a:ext cx="9784080" cy="12124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6020"/>
                <a:gridCol w="2446020"/>
                <a:gridCol w="2446020"/>
                <a:gridCol w="2446020"/>
              </a:tblGrid>
              <a:tr h="26151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数量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数量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SUV-C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529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Car-C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390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Car-A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466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Car-B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171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SUV-D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456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SUV-B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127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Car-D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416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SUV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90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PHEV细分市场分布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PHEV公告车型按细分市场分布 (Top 8)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7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PHEV以 SUV-C 为主力（566款，占Top8的36%），级别分化明显 ｜ 前三（SUV-C、SUV-D、Car-D）合计 76.0%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1097280" y="1417320"/>
          <a:ext cx="10058400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234440" y="4116628"/>
          <a:ext cx="9784080" cy="12124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6020"/>
                <a:gridCol w="2446020"/>
                <a:gridCol w="2446020"/>
                <a:gridCol w="2446020"/>
              </a:tblGrid>
              <a:tr h="26151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数量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数量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SUV-C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566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MPV-D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83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SUV-D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414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SUV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66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Car-D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180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SUV-E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25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Car-C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170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Car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23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年度详细数据明细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BEV、PHEV及总量的逐年统计与PHEV占比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150" b="0">
                <a:solidFill>
                  <a:srgbClr val="1F3864"/>
                </a:solidFill>
                <a:latin typeface="Arial"/>
                <a:ea typeface="微软雅黑"/>
              </a:rPr>
              <a:t>洞察  2026年为410批公示占位的早期统计，全年数据待正式公告发布后更新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463040"/>
          <a:ext cx="11274551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8183"/>
                <a:gridCol w="2168183"/>
                <a:gridCol w="2168183"/>
                <a:gridCol w="2168183"/>
                <a:gridCol w="2601819"/>
              </a:tblGrid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年份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BEV(款)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PHEV(款)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合计(款)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PHEV占比%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836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16.9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520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135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655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20.6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26.7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673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312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985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31.7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1198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46.0</a:t>
                      </a:r>
                    </a:p>
                  </a:txBody>
                  <a:tcPr/>
                </a:tc>
              </a:tr>
              <a:tr h="587832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442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730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39.5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公告车型总量年度趋势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BEV与PHEV合计公告车型数量年度变化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年度公告车型合计维持582~1117款区间，供给充沛 ｜ 2021→2026 合计公告车型 1,006.0→730.0（-27.4%）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0116"/>
                <a:gridCol w="5500116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合计公告车型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1006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655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797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985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1198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730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ED7D31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2487168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  <a:ea typeface="微软雅黑"/>
              </a:rPr>
              <a:t>动力电池分析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32304" y="3566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DD7EE"/>
                </a:solidFill>
                <a:latin typeface="Arial"/>
                <a:ea typeface="微软雅黑"/>
              </a:rPr>
              <a:t>续航里程、电池容量、电池类型、能量密度、分布分析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8E2F0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94560"/>
            <a:ext cx="5394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BEV 2026 平均续航 608.8 km · 平均容量 73.8 kWh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LFP 占比持续走高（2025 年 BEV 约八成）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BEV 平均能量密度 163.6 Wh/kg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BEV平均续航里程趋势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BEV车型年度平均纯电续航里程 (km)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BEV平均续航由407.18km（2021）提升至513.0km（2025），累计提升26.0% ｜ 2021→2026 平均续航(km) 407.2→608.8（+49.5%）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0116"/>
                <a:gridCol w="5500116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平均续航(km)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407.2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445.8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489.5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521.1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513.0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608.8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PHEV平均续航里程趋势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PHEV车型年度平均纯电续航里程 (km)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12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PHEV纯电续航由86.30km升至160.80km，大电池插混/增程驱动 ｜ 2021→2026 平均纯电续航(km) 86.3→246.3（+185.4%）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0116"/>
                <a:gridCol w="5500116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平均纯电续航(km)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86.3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114.3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116.7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129.6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160.8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246.3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BEV与PHEV续航里程对比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BEV与PHEV年度平均纯电续航里程对比 (km)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13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两者差距由311.5km收窄至381.6km，插混电动化属性增强 ｜ 2021→2026 BEV 407.2→608.8（+49.5%）；2026年 PHEV=246.3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6744"/>
                <a:gridCol w="3666744"/>
                <a:gridCol w="3666744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BEV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PHEV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407.2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86.3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445.8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114.3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489.5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116.7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521.1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129.6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513.0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160.8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608.8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246.3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BEV平均电池容量趋势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BEV车型年度平均电池容量 (kWh)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14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BEV平均容量达64.58kWh（2025），较2021年提升19.7% ｜ 2021→2026 BEV平均容量(kWh) 54.0→73.8（+36.8%）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0116"/>
                <a:gridCol w="5500116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BEV平均容量(kWh)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54.0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60.0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64.5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69.2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64.6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73.8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PHEV平均电池容量趋势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PHEV车型年度平均电池容量 (kWh)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15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PHEV平均容量升至33.71kWh，增程车型大电池配置是主因 ｜ 2021→2026 PHEV平均容量(kWh) 27.9→47.5（+70.1%）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0116"/>
                <a:gridCol w="5500116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PHEV平均容量(kWh)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27.9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26.3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26.4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27.9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33.7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47.5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BEV与PHEV电池容量对比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BEV与PHEV年度平均电池容量对比 (kWh)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16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PHEV与BEV容量差持续收窄，插混车型带电量向30kWh+迁移 ｜ 2021→2026 BEV 54.0→73.8（+36.8%）；2026年 PHEV=47.5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6744"/>
                <a:gridCol w="3666744"/>
                <a:gridCol w="3666744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BEV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PHEV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54.0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27.9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60.0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26.3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64.5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26.4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69.2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27.9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64.6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33.7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73.8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47.5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BEV电池类型占比趋势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BEV车型磷酸铁锂(LFP)、三元锂(NCM)及其他电池类型占比变化 (%)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17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LFP占比由2021年的51.9%变为2026年的80.0%，成本驱动下磷酸铁锂成为绝对主流 ｜ 2021→2026 LFP% 51.9→80.0（+54.1%）；2026年 NCM%=18.3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0058"/>
                <a:gridCol w="2750058"/>
                <a:gridCol w="2750058"/>
                <a:gridCol w="2750058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LFP%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NCM%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其他%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51.9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44.2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3.9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51.5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46.4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2.1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55.6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41.8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2.5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66.8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31.9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1.3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80.4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17.2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2.3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18.3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1.7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PHEV电池类型占比趋势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PHEV车型磷酸铁锂(LFP)、三元锂(NCM)及其他电池类型占比变化 (%)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18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LFP占比由2021年的53.5%变为2026年的72.5%，成本驱动下磷酸铁锂成为绝对主流 ｜ 2021→2026 LFP% 53.5→72.5（+35.5%）；2026年 NCM%=23.9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0058"/>
                <a:gridCol w="2750058"/>
                <a:gridCol w="2750058"/>
                <a:gridCol w="2750058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LFP%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NCM%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其他%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53.5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46.5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0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36.4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50.8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12.9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46.2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49.5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4.3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74.6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24.4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81.6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15.7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2.6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72.5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23.9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3.6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BEV电池能量密度趋势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BEV车型年度平均电池能量密度 (Wh/kg)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19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平均能量密度151.10Wh/kg（2025），结构上LFP占比提升拉低均值、NCM冲高 ｜ 2021→2026 BEV平均能量密度 150.7→163.6（+8.6%）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0116"/>
                <a:gridCol w="5500116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BEV平均能量密度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150.7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153.8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158.2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146.7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151.1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163.6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BEV续航里程分布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BEV车型按续航里程区间的分布数量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20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BEV主力区间为 300-400 段，尾部区间（≥700）逐年放大 ｜ 2021→2026 400-500 274.0→54.0（-80.3%）；2026年 600-700=107.0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5029"/>
                <a:gridCol w="1375029"/>
                <a:gridCol w="1375029"/>
                <a:gridCol w="1375029"/>
                <a:gridCol w="1375029"/>
                <a:gridCol w="1375029"/>
                <a:gridCol w="1375029"/>
                <a:gridCol w="1375029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400-500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600-700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300-400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500-600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&lt;200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200-300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≥700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274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155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169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33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164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56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150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184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92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120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160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95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136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PHEV续航里程分布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PHEV车型按续航里程区间的分布数量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21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PHEV主力区间为 50--32 段，尾部区间（≥200）逐年放大 ｜ 2021→2026 125-150 23.0→21.0（-8.7%）；2026年 150-200=82.0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1461"/>
                <a:gridCol w="1571461"/>
                <a:gridCol w="1571461"/>
                <a:gridCol w="1571461"/>
                <a:gridCol w="1571461"/>
                <a:gridCol w="1571461"/>
                <a:gridCol w="1571466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125-150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150-200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50-100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100-125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&lt;50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≥200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29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174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160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119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158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BEV电池容量分布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BEV车型按电池容量区间的分布数量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22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50-60kWh 与 60-70kWh 区间为绝对主力，80kWh+ 长续航车型占比逐年提升 ｜ 2021→2026 60-70 92.0→80.0（-13.0%）；2026年 70-80=53.0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2248"/>
                <a:gridCol w="1222248"/>
                <a:gridCol w="1222248"/>
                <a:gridCol w="1222248"/>
                <a:gridCol w="1222248"/>
                <a:gridCol w="1222248"/>
                <a:gridCol w="1222248"/>
                <a:gridCol w="1222248"/>
                <a:gridCol w="1222248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60-70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70-80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40-50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20-30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30-40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&lt;20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50-60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≥80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120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102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130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158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211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133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166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158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PHEV电池容量分布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PHEV车型按电池容量区间的分布数量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23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PHEV容量重心上移至30kWh+，纯电续航200km级插混成为新品主流配置 ｜ 2021→2026 30-40 30.0→70.0（+133.3%）；2026年 20-30=47.0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046"/>
                <a:gridCol w="2200046"/>
                <a:gridCol w="2200046"/>
                <a:gridCol w="2200046"/>
                <a:gridCol w="2200048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30-40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20-30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10-20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&lt;10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16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16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17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152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0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技术路线矩阵 (2x2象限)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BEV按续航-电池容量中位数划分的象限分布（分界：520km / 65.0kWh）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24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150" b="0">
                <a:solidFill>
                  <a:srgbClr val="1F3864"/>
                </a:solidFill>
                <a:latin typeface="Arial"/>
                <a:ea typeface="微软雅黑"/>
              </a:rPr>
              <a:t>洞察  高续航高容量象限 1295 款为技术主力，占比 43%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645920" y="1645920"/>
          <a:ext cx="88696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34840"/>
                <a:gridCol w="2217420"/>
                <a:gridCol w="2217420"/>
              </a:tblGrid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象限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车型数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占比%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高续航高容量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43.0</a:t>
                      </a:r>
                    </a:p>
                  </a:txBody>
                  <a:tcPr/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高续航低容量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313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9.4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低续航高容量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7.0</a:t>
                      </a:r>
                    </a:p>
                  </a:txBody>
                  <a:tcPr/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低续航低容量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1351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40.6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BEV电池类型年度数量明细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BEV各电池类型年度公告车型数量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25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LFP在数量维度全面超越NCM，且差距仍在扩大 ｜ 2021→2026 磷酸铁锂(LFP) 391.0→328.0（-16.1%）；2026年 三元锂(NCM)=75.0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0058"/>
                <a:gridCol w="2750058"/>
                <a:gridCol w="2750058"/>
                <a:gridCol w="2750058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磷酸铁锂(LFP)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三元锂(NCM)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其他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391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333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29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242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218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307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231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14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410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196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481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14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328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ED7D31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2487168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  <a:ea typeface="微软雅黑"/>
              </a:rPr>
              <a:t>驱动与能效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32304" y="3566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DD7EE"/>
                </a:solidFill>
                <a:latin typeface="Arial"/>
                <a:ea typeface="微软雅黑"/>
              </a:rPr>
              <a:t>电机功率、重量效率、整车能量密度、PHEV油耗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8E2F0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94560"/>
            <a:ext cx="5394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BEV 平均功率 254.0 kW · 整备 1996.2 kg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BEV 平均电耗 13.2 kWh/100km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PHEV 平均纯电续航 246.3 km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BEV电机功率趋势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BEV车型年度平均电机总功率 (kW)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27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BEV平均功率升至190.25kW（2025），性能与快充需求双驱动 ｜ 2021→2026 BEV平均峰值功率 154.6→254.0（+64.3%）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0116"/>
                <a:gridCol w="5500116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BEV平均峰值功率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154.6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191.9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204.7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209.1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190.2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254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PHEV电机功率趋势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PHEV车型年度平均电机总功率 (kW)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28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PHEV平均功率183.88kW，电驱占比提升 ｜ 2021→2026 PHEV平均峰值功率 143.4→218.3（+52.2%）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0116"/>
                <a:gridCol w="5500116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PHEV平均峰值功率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143.4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188.8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190.8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197.6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183.9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218.3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整备质量趋势对比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BEV与PHEV车型年度平均整备质量 (kg)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29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两动力类型整备质量同步上行，大电池与配置升级是主因 ｜ 2021→2026 BEV 1,551.5→1,996.2（+28.7%）；2026年 PHEV=2,336.1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6744"/>
                <a:gridCol w="3666744"/>
                <a:gridCol w="3666744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BEV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PHEV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1,551.5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1,960.3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1,700.9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2,025.8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1,862.6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2,059.9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1,956.5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2,052.1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1,889.7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2,204.3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1,996.2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2,336.1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功率质量比趋势对比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BEV与PHEV车型年度平均功率质量比 (kW/kg×1000)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30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功率质量比稳中有升，电驱系统效率与性能同步改善 ｜ 2021→2026 BEV 101.2→124.1（+22.6%）；2026年 PHEV=91.9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6744"/>
                <a:gridCol w="3666744"/>
                <a:gridCol w="3666744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BEV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PHEV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101.2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77.3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107.6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91.7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105.7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91.6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110.6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95.6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96.5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82.2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124.1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91.9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整车能量密度趋势对比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BEV与PHEV年度平均整车能量密度 (Wh/kg)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31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BEV整车能量密度持续提升，成组效率与电池包集成技术贡献显著 ｜ 2021→2026 BEV 32.1→35.9（+11.8%）；2026年 PHEV=19.8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6744"/>
                <a:gridCol w="3666744"/>
                <a:gridCol w="3666744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BEV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PHEV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32.1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13.7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12.7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33.4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12.5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34.6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13.2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33.4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14.9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35.9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19.8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BEV百公里电耗趋势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BEV车型年度平均百公里电耗 (kWh/100km)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32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平均电耗13.74kWh/100km（2025），车型大型化下能效仍维持稳定 ｜ 2021→2026 BEV平均电耗 13.3→13.2（-0.8%）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0116"/>
                <a:gridCol w="5500116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BEV平均电耗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13.3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13.5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14.1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14.1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13.7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13.2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不同电池类型能效对比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磷酸铁锂(LFP)与三元锂(NCM)的百公里电耗对比 (kWh/100km)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33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LFP与NCM电耗差距有限，能效差异更多来自车型结构与热管理 ｜ 2021→2026 LFP 12.6→12.8（+1.7%）；2026年 NCM=15.1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6744"/>
                <a:gridCol w="3666744"/>
                <a:gridCol w="3666744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LFP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NCM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12.6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14.3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12.6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14.8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13.5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14.8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13.6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14.8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13.4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14.8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12.8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15.1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PHEV油耗与纯电续航趋势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综合油耗(L/100km)与纯电续航(km, 数值除以30便于同轴展示)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34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纯电续航大幅上行、馈电油耗同步改善，插混"可电可油"属性强化 ｜ 2021→2026 综合油耗(L) 3.2→5.3（+66.6%）；2026年 纯电续航/30(km)=8.2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6744"/>
                <a:gridCol w="3666744"/>
                <a:gridCol w="3666744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综合油耗(L)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纯电续航/30(km)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3.2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2.9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3.3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3.8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3.9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3.9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5.0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4.3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5.6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5.4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5.3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8.2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 B状态油耗趋势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PHEV车型B状态(馈电)油耗年度趋势 (L/100km)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35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B状态油耗降至5.65L/100km（2025），混动专用发动机普及见效 ｜ 2021→2026 B状态油耗(L) 5.3→5.5（+4.9%）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0116"/>
                <a:gridCol w="5500116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B状态油耗(L)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5.3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6.0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5.9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5.7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5.7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5.5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PHEV综合油耗按排量区间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PHEV不同排量区间的综合油耗均值 (L/100km)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36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1.5L及以下排量主导新品，小排量+高功率电混架构成为主流 ｜ 前三（1.0-1.5L、1.5-2.0L、&lt;1.0L）合计 100.0%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2124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0116"/>
                <a:gridCol w="5500116"/>
              </a:tblGrid>
              <a:tr h="26151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综合油耗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&lt;1.0L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0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1.0-1.5L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5.4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1.5-2.0L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5.1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≥2.0L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0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 B状态油耗按排量区间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PHEV不同排量区间的B状态(馈电)油耗均值 (L/100km)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37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馈电油耗随排量增大而抬升，1.0-1.5L区间能效表现最优 ｜ 前三（1.5-2.0L、1.0-1.5L、&lt;1.0L）合计 100.0%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2124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0116"/>
                <a:gridCol w="5500116"/>
              </a:tblGrid>
              <a:tr h="26151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B状态油耗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&lt;1.0L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0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1.0-1.5L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5.4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1.5-2.0L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6.4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≥2.0L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0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ED7D31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2487168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  <a:ea typeface="微软雅黑"/>
              </a:rPr>
              <a:t>供应商格局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32304" y="3566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DD7EE"/>
                </a:solidFill>
                <a:latin typeface="Arial"/>
                <a:ea typeface="微软雅黑"/>
              </a:rPr>
              <a:t>HHI、CR趋势、Top供应商、品牌映射、交叉分析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8E2F0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94560"/>
            <a:ext cx="5394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电芯 CR3 / 电机 CR3 保持竞合格局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Top10 供应商位次重排（详见排名页）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HHI 按有值子集计算，覆盖逐年改善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供应商HHI指数趋势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电池供应商与电机供应商年度HHI集中度指数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39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电池供应商HHI由1808.8降至1313.8（2025），集中度回落、二供三供普及 ｜ 2021→2026 电池供应商HHI 1,808.8→684.9（-62.1%）；2026年 电机供应商HHI=285.7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6744"/>
                <a:gridCol w="3666744"/>
                <a:gridCol w="3666744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电池供应商HHI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电机供应商HHI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1,808.8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282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1,546.3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261.4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1,529.7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222.2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2,197.3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355.1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1,313.8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429.3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684.9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285.7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电池供应商CR集中度趋势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电池供应商CR3/CR5/CR10年度变化 (%)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40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CR10稳步抬升，头部规模效应与长尾出清并存 ｜ 2021→2026 CR3 66.2→37.6（-43.2%）；2026年 CR5=48.7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0058"/>
                <a:gridCol w="2750058"/>
                <a:gridCol w="2750058"/>
                <a:gridCol w="2750058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CR3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CR5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CR10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66.2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80.4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95.1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58.4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68.5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85.9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56.1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86.5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70.5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81.4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92.2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56.5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66.2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84.3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37.6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48.7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63.5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电机供应商CR集中度趋势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电机供应商CR3/CR5/CR10年度变化 (%)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41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电机供应格局较电池更分散，主机厂自供体系占比高 ｜ 2021→2026 CR3 19.7→19.3（-2.0%）；2026年 CR5=28.9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0058"/>
                <a:gridCol w="2750058"/>
                <a:gridCol w="2750058"/>
                <a:gridCol w="2750058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CR3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CR5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CR10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19.7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26.1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38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21.4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29.1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41.2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18.9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24.9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35.9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24.4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34.3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47.6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25.3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35.2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52.5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19.3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28.9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44.2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Top 10电池供应商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电池供应商公告车型数量排名 (横向条形图)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42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口径说明：基于电芯供应商有值样本 1361 款（覆盖率29.5%），头部效应显著 ｜ 前三（宁德时代、弗迪、国轩高科）合计 71.5%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4502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0058"/>
                <a:gridCol w="2750058"/>
                <a:gridCol w="2750058"/>
                <a:gridCol w="2750058"/>
              </a:tblGrid>
              <a:tr h="26151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配套车型数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配套车型数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宁德时代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389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欣旺达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60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弗迪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368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比亚迪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54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国轩高科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宁德时代(四川时代)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46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蜂巢能源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宁德时代(江苏时代)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33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中创新航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亿纬动力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26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Top 10电机供应商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电机供应商公告车型数量排名 (横向条形图)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43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电机供应商以主机厂关联企业为主，第三方头部份额稳定 ｜ 前三（长沙市比亚迪汽车有限公司、重庆青山工业有限责任公司、奇瑞汽车）合计 51.3%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4502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0058"/>
                <a:gridCol w="2750058"/>
                <a:gridCol w="2750058"/>
                <a:gridCol w="2750058"/>
              </a:tblGrid>
              <a:tr h="26151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配套车型数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配套车型数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长沙市比亚迪汽车有限公司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408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联合汽车电子有限公司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99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重庆青山工业有限责任公司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151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柳州赛克科技发展有限公司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95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奇瑞汽车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珠海英搏尔电气股份有限公司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86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苏州汇川联合动力系统股份有限公司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金华凌昇动力科技有限公司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79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华为数字能源技术有限公司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联合汽车电子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65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Top 10电池-电机供应商组合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电池供应商与电机供应商组合的公告车型数量排名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44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150" b="0">
                <a:solidFill>
                  <a:srgbClr val="1F3864"/>
                </a:solidFill>
                <a:latin typeface="Arial"/>
                <a:ea typeface="微软雅黑"/>
              </a:rPr>
              <a:t>洞察  头部电池+头部电驱组合绑定加深，平台化车型带动组合复用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1463040"/>
          <a:ext cx="10515599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1389"/>
                <a:gridCol w="7379368"/>
                <a:gridCol w="1844842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排名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电池供应商 + 电机供应商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车型数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弗迪 + 长沙市比亚迪汽车有限公司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190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比亚迪 + 长沙市比亚迪汽车有限公司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宁德时代 + 联合汽车电子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弗迪 + 南京市比亚迪汽车有限公司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宁德时代 + 重庆青山工业有限责任公司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宁德时代 + 联合电子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宁德时代 + 联合汽车电子有限公司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耀宁新能源 + 威睿电动技术有限公司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弗迪 + 长沙市比亚迪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中创新航 + 重庆青山工业有限责任公司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品牌-电池供应商映射矩阵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Top 8品牌 × Top 5电池供应商的公告车型数量交叉表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45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150" b="0">
                <a:solidFill>
                  <a:srgbClr val="1F3864"/>
                </a:solidFill>
                <a:latin typeface="Arial"/>
                <a:ea typeface="微软雅黑"/>
              </a:rPr>
              <a:t>洞察  头部品牌与头部电芯绑定集中，弗迪/中创新航/宁德时代覆盖面最广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1463040"/>
          <a:ext cx="10515597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5277"/>
                <a:gridCol w="1696064"/>
                <a:gridCol w="1696064"/>
                <a:gridCol w="1696064"/>
                <a:gridCol w="1696064"/>
                <a:gridCol w="1696064"/>
              </a:tblGrid>
              <a:tr h="44704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品牌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宁德时代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弗迪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国轩高科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蜂巢能源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中创新航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44704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比亚迪牌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</a:tr>
              <a:tr h="44704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长安牌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44704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埃安(AION)牌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</a:tr>
              <a:tr h="44704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奇瑞牌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44704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吉利牌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</a:tr>
              <a:tr h="44704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零跑牌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44704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东风牌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</a:t>
                      </a:r>
                    </a:p>
                  </a:txBody>
                  <a:tcPr/>
                </a:tc>
              </a:tr>
              <a:tr h="44704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五菱牌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品牌-电机供应商映射矩阵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Top 10品牌 × Top 5电机供应商的公告车型数量交叉表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46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150" b="0">
                <a:solidFill>
                  <a:srgbClr val="1F3864"/>
                </a:solidFill>
                <a:latin typeface="Arial"/>
                <a:ea typeface="微软雅黑"/>
              </a:rPr>
              <a:t>洞察  自研自供（比亚迪/弗迪动力等）与外采双轨并行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1463040"/>
          <a:ext cx="10515597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5277"/>
                <a:gridCol w="1696064"/>
                <a:gridCol w="1696064"/>
                <a:gridCol w="1696064"/>
                <a:gridCol w="1696064"/>
                <a:gridCol w="1696064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品牌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长沙市比亚迪汽车有限公司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重庆青山工业有限责任公司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奇瑞汽车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苏州汇川联合动力系统股份有限公司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华为数字能源技术有限公司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比亚迪牌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长安牌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116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埃安(AION)牌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奇瑞牌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吉利牌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零跑牌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东风牌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五菱牌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小鹏牌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哪吒牌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电池供应商HHI年度明细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电池供应商HHI指数、供应商数量及记录数年度变化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47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150" b="0">
                <a:solidFill>
                  <a:srgbClr val="1F3864"/>
                </a:solidFill>
                <a:latin typeface="Arial"/>
                <a:ea typeface="微软雅黑"/>
              </a:rPr>
              <a:t>洞察  供应商数量扩张与HHI回落同步，竞争生态趋于多元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1463040"/>
          <a:ext cx="105156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年份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电池供应商HHI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电池CR3(%)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1808.8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66.2</a:t>
                      </a:r>
                    </a:p>
                  </a:txBody>
                  <a:tcPr/>
                </a:tc>
              </a:tr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1546.3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58.4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1529.7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56.1</a:t>
                      </a:r>
                    </a:p>
                  </a:txBody>
                  <a:tcPr/>
                </a:tc>
              </a:tr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2197.3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70.5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1313.8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56.5</a:t>
                      </a:r>
                    </a:p>
                  </a:txBody>
                  <a:tcPr/>
                </a:tc>
              </a:tr>
              <a:tr h="57477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684.9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37.6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电机供应商CR集中度年度明细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电机供应商CR3/CR5/CR10及供应商数量年度变化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48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150" b="0">
                <a:solidFill>
                  <a:srgbClr val="1F3864"/>
                </a:solidFill>
                <a:latin typeface="Arial"/>
                <a:ea typeface="微软雅黑"/>
              </a:rPr>
              <a:t>洞察  CR3波动平稳，尾部供应商随新批次持续进入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1463040"/>
          <a:ext cx="105156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年份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电机CR3(%)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电机CR5(%)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电机CR10(%)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19.7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38.0</a:t>
                      </a:r>
                    </a:p>
                  </a:txBody>
                  <a:tcPr/>
                </a:tc>
              </a:tr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21.4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29.1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41.2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18.9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35.9</a:t>
                      </a:r>
                    </a:p>
                  </a:txBody>
                  <a:tcPr/>
                </a:tc>
              </a:tr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24.4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34.3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47.6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52.5</a:t>
                      </a:r>
                    </a:p>
                  </a:txBody>
                  <a:tcPr/>
                </a:tc>
              </a:tr>
              <a:tr h="57477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19.3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28.9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44.2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ED7D31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2487168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  <a:ea typeface="微软雅黑"/>
              </a:rPr>
              <a:t>细分市场深度分析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32304" y="3566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DD7EE"/>
                </a:solidFill>
                <a:latin typeface="Arial"/>
                <a:ea typeface="微软雅黑"/>
              </a:rPr>
              <a:t>细分对比、续航容量、整备质量、详细统计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8E2F0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94560"/>
            <a:ext cx="5394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细分市场统计基于 28 个细分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2025 年 SUV-C / Car-D 为 BEV 主力细分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细分均值对比 2023 vs 2025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BEV细分市场续航对比 (2023 vs 2025)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 Top 8细分市场平均续航里程对比 (km)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50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各细分市场续航普遍上台阶，Car-A/B级涨幅最大 ｜ 峰值 2023=630.4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2124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0058"/>
                <a:gridCol w="2750058"/>
                <a:gridCol w="2750058"/>
                <a:gridCol w="2750058"/>
              </a:tblGrid>
              <a:tr h="26151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SUV-C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523.5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Car-B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359.7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SUV-D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530.5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Car-A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261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Car-C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516.3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MPV-D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601.5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Car-D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630.4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SUV-B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437.7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BEV细分市场电池容量对比 (2023 vs 2025)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 Top 8细分市场平均电池容量对比 (kWh)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51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容量升级幅度普遍在10kWh+，与续航提升互为因果 ｜ 峰值 2023=98.3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2124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0058"/>
                <a:gridCol w="2750058"/>
                <a:gridCol w="2750058"/>
                <a:gridCol w="2750058"/>
              </a:tblGrid>
              <a:tr h="26151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SUV-C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68.3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Car-B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41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SUV-D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Car-A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24.5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Car-C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60.5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MPV-D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98.3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Car-D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80.3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SUV-B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50.9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PHEV细分市场续航对比 (2023 vs 2025)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 Top 8细分市场平均纯电续航里程对比 (km)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52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插混各细分市场纯电续航全面迈入53km+时代 ｜ 峰值 2023=171.0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2124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0058"/>
                <a:gridCol w="2750058"/>
                <a:gridCol w="2750058"/>
                <a:gridCol w="2750058"/>
              </a:tblGrid>
              <a:tr h="26151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SUV-C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103.6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MPV-D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129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SUV-D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149.2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SUV-E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171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Car-C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96.9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Car-A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115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Car-D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130.9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BEV细分市场详细统计 (2025年)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 Top 10细分市场2025年平均续航、容量、功率、质量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53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150" b="0">
                <a:solidFill>
                  <a:srgbClr val="1F3864"/>
                </a:solidFill>
                <a:latin typeface="Arial"/>
                <a:ea typeface="微软雅黑"/>
              </a:rPr>
              <a:t>洞察  SUV-C/D 与 Car-C/D 构成公告基本盘，高级别车型参数全面占优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63040"/>
          <a:ext cx="1088136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6272"/>
                <a:gridCol w="1450848"/>
                <a:gridCol w="1813560"/>
                <a:gridCol w="1813560"/>
                <a:gridCol w="1813560"/>
                <a:gridCol w="181356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细分市场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车型数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平均续航(km)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平均容量(kWh)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平均功率(kW)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平均整备(kg)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SUV-C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540.1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65.3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187.9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1849.4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SUV-D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92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618.0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84.2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252.2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2252.8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Car-C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515.2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172.8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1651.0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Car-D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71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648.3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77.7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292.5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2051.2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SUV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490.8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68.1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155.9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1968.8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Car-B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368.3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36.4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104.3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1268.8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Car-A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911.8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MPV-D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513.5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81.7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222.4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2421.4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601.6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228.8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1918.6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SUV-B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9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416.9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44.1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181.0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1432.8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细分市场整备质量对比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各细分市场平均整备质量排名 (kg, Top 12)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54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MPV-D与大型SUV质量领先，与电池容量、性能需求正相关 ｜ 前三（Lux Car-5、Lux Car、Lux SUV）合计 27.2%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0058"/>
                <a:gridCol w="2750058"/>
                <a:gridCol w="2750058"/>
                <a:gridCol w="2750058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平均整备(kg)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平均整备(kg)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Lux Car-5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2,888.1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MPV-B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2,525.8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Lux Car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2,629.9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Lux Car-4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2,349.6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Lux SUV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2,606.5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SUV-E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2,328.8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MPV-D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2,591.1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Lux SUV-3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2324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Car-E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2,530.2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SUV-D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2,323.3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Lux SUV-4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2529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SUV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2196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ED7D31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2487168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  <a:ea typeface="微软雅黑"/>
              </a:rPr>
              <a:t>相关性与增长分析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32304" y="3566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DD7EE"/>
                </a:solidFill>
                <a:latin typeface="Arial"/>
                <a:ea typeface="微软雅黑"/>
              </a:rPr>
              <a:t>相关矩阵、同比增长率、增长详情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8E2F0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55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94560"/>
            <a:ext cx="5394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续航-容量相关性最强（Pearson 见矩阵）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同比增长率 2022→2026 六指标全景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关键指标汇总含均值/中位数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BEV关键指标相关性矩阵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BEV核心指标间的Pearson相关系数矩阵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56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150" b="0">
                <a:solidFill>
                  <a:srgbClr val="1F3864"/>
                </a:solidFill>
                <a:latin typeface="Arial"/>
                <a:ea typeface="微软雅黑"/>
              </a:rPr>
              <a:t>洞察  续航-容量高度正相关；电耗与质量正相关，反映车型大型化的能效代价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1463040"/>
          <a:ext cx="10515597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9177"/>
                <a:gridCol w="1481070"/>
                <a:gridCol w="1481070"/>
                <a:gridCol w="1481070"/>
                <a:gridCol w="1481070"/>
                <a:gridCol w="1481070"/>
                <a:gridCol w="1481070"/>
              </a:tblGrid>
              <a:tr h="574765">
                <a:tc>
                  <a:txBody>
                    <a:bodyPr/>
                    <a:lstStyle/>
                    <a:p>
                      <a:pPr algn="ctr"/>
                      <a:r>
                        <a:t/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续航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容量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功率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整备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密度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电耗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续航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</a:t>
                      </a:r>
                    </a:p>
                  </a:txBody>
                  <a:tcPr/>
                </a:tc>
              </a:tr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容量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0.9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1.0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0.9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0.7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0.7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功率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</a:t>
                      </a:r>
                    </a:p>
                  </a:txBody>
                  <a:tcPr/>
                </a:tc>
              </a:tr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整备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0.9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1.0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密度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/>
                </a:tc>
              </a:tr>
              <a:tr h="57477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电耗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0.7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1.0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PHEV关键指标相关性矩阵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PHEV核心指标间的Pearson相关系数矩阵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57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150" b="0">
                <a:solidFill>
                  <a:srgbClr val="1F3864"/>
                </a:solidFill>
                <a:latin typeface="Arial"/>
                <a:ea typeface="微软雅黑"/>
              </a:rPr>
              <a:t>洞察  续航-容量高度正相关；电耗与质量正相关，反映车型大型化的能效代价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1463040"/>
          <a:ext cx="10515598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8044"/>
                <a:gridCol w="1298222"/>
                <a:gridCol w="1298222"/>
                <a:gridCol w="1298222"/>
                <a:gridCol w="1298222"/>
                <a:gridCol w="1298222"/>
                <a:gridCol w="1298222"/>
                <a:gridCol w="1298222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t/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续航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容量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功率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整备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密度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电耗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油耗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续航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容量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0.9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1.0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0.7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功率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整备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0.7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1.0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密度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电耗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1.0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油耗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1.0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BEV同比增长率 (按指标)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BEV核心指标的年度同比增长率 (%)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58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公告量增速放缓、单车参数指标保持正增长，行业由量转质；2026 为 410 批公示占位早期数据，其同比仅供参考 ｜ 2021→2026 平均续航(km) 9.5→18.7（+96.8%）；2026年 平均容量(kWh)=14.3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1461"/>
                <a:gridCol w="1571461"/>
                <a:gridCol w="1571461"/>
                <a:gridCol w="1571461"/>
                <a:gridCol w="1571461"/>
                <a:gridCol w="1571461"/>
                <a:gridCol w="1571466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平均续航(km)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平均容量(kWh)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平均功率(kW)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平均整备质量(kg)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平均能量密度(Wh/kg)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公告数量(款)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-37.8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9.5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11.1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24.1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9.6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12.3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9.8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7.5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6.7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9.5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2.9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15.2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6.5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7.4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2.2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-7.2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-3.9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-1.6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-6.7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-9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-3.4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-31.7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18.7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14.3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33.5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5.6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8.3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PHEV同比增长率 (按指标)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PHEV核心指标的年度同比增长率 (%)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59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公告量增速放缓、单车参数指标保持正增长，行业由量转质；2026 为 410 批公示占位早期数据，其同比仅供参考 ｜ 2021→2026 平均续航(km) 32.5→53.2（+63.7%）；2026年 平均容量(kWh)=40.9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1461"/>
                <a:gridCol w="1571461"/>
                <a:gridCol w="1571461"/>
                <a:gridCol w="1571461"/>
                <a:gridCol w="1571461"/>
                <a:gridCol w="1571461"/>
                <a:gridCol w="1571466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平均续航(km)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平均容量(kWh)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平均功率(kW)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平均整备质量(kg)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平均能量密度(Wh/kg)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公告数量(款)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-20.6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32.5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-5.9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31.6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3.3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7.2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57.8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2.1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0.4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1.1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1.7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0.3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46.5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5.7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3.6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-0.4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-3.5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76.6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24.1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20.9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-7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7.4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11.2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-47.7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53.2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40.9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18.7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5.2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BEV同比增长率明细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 5项核心指标的年度同比增长率详情 (%)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60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150" b="0">
                <a:solidFill>
                  <a:srgbClr val="1F3864"/>
                </a:solidFill>
                <a:latin typeface="Arial"/>
                <a:ea typeface="微软雅黑"/>
              </a:rPr>
              <a:t>洞察  以续航为代表的单车技术指标增速仍维持正值，量减质增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1463040"/>
          <a:ext cx="1051559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3565"/>
                <a:gridCol w="1352005"/>
                <a:gridCol w="1352005"/>
                <a:gridCol w="1352005"/>
                <a:gridCol w="1352005"/>
                <a:gridCol w="1352005"/>
                <a:gridCol w="1352005"/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2021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2022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2023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2024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2025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2026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平均续航(km)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9.8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-1.6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平均容量(kWh)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—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11.1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7.4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-6.7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平均功率(kW)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-9.0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平均整备质量(kg)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—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9.6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9.5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5.0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-3.4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平均能量密度(Wh/kg)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-7.2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3.0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PHEV同比增长率明细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 5项核心指标的年度同比增长率详情 (%)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61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150" b="0">
                <a:solidFill>
                  <a:srgbClr val="1F3864"/>
                </a:solidFill>
                <a:latin typeface="Arial"/>
                <a:ea typeface="微软雅黑"/>
              </a:rPr>
              <a:t>洞察  以续航为代表的单车技术指标增速仍维持正值，量减质增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1463040"/>
          <a:ext cx="1051559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3565"/>
                <a:gridCol w="1352005"/>
                <a:gridCol w="1352005"/>
                <a:gridCol w="1352005"/>
                <a:gridCol w="1352005"/>
                <a:gridCol w="1352005"/>
                <a:gridCol w="1352005"/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2021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2022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2023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2024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2025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2026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平均续航(km)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24.1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平均容量(kWh)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—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-5.9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5.7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20.9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平均功率(kW)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31.6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-7.0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平均整备质量(kg)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—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3.3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1.7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-0.4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7.4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平均能量密度(Wh/kg)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-3.5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11.2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ED7D31"/>
                </a:solidFill>
                <a:latin typeface="Arial"/>
                <a:ea typeface="微软雅黑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2487168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  <a:ea typeface="微软雅黑"/>
              </a:rPr>
              <a:t>总结与展望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32304" y="3566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DD7EE"/>
                </a:solidFill>
                <a:latin typeface="Arial"/>
                <a:ea typeface="微软雅黑"/>
              </a:rPr>
              <a:t>关键发现、年度汇总、核心结论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8E2F0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62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94560"/>
            <a:ext cx="5394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六大核心发现 + 年度指标汇总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关键对比 2021 vs 2025（完整年口径）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数据同源：v4.9.24 口径 45 表底表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BEV年度指标汇总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BEV各年度平均续航、容量、功率、质量、能量密度（全周期描述统计）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63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150" b="0">
                <a:solidFill>
                  <a:srgbClr val="1F3864"/>
                </a:solidFill>
                <a:latin typeface="Arial"/>
                <a:ea typeface="微软雅黑"/>
              </a:rPr>
              <a:t>洞察  BEV五项核心指标均较2021年改善，公告车型技术水位系统性抬升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1463040"/>
          <a:ext cx="10515598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199"/>
                <a:gridCol w="2503714"/>
                <a:gridCol w="2503714"/>
                <a:gridCol w="2002971"/>
              </a:tblGrid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均值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中位数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单位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平均续航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489.6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506.0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km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平均容量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63.9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64.2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kWh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平均功率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195.7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kW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平均整备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1824.0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1853.0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kg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平均能量密度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152.7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150.0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Wh/kg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PHEV年度指标汇总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PHEV各年度平均续航、容量、功率、质量、能量密度（全周期描述统计）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64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150" b="0">
                <a:solidFill>
                  <a:srgbClr val="1F3864"/>
                </a:solidFill>
                <a:latin typeface="Arial"/>
                <a:ea typeface="微软雅黑"/>
              </a:rPr>
              <a:t>洞察  PHEV五项核心指标均较2021年改善，公告车型技术水位系统性抬升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1463040"/>
          <a:ext cx="10515598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199"/>
                <a:gridCol w="2503714"/>
                <a:gridCol w="2503714"/>
                <a:gridCol w="2002971"/>
              </a:tblGrid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均值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中位数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单位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平均续航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154.3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km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平均容量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33.1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32.7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kWh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平均功率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189.9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kW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平均整备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2149.5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2075.0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kg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平均能量密度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131.1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Wh/kg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关键发现总结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BEV与PHEV核心指标 2021 vs 2025 对比及变化幅度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65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150" b="0">
                <a:solidFill>
                  <a:srgbClr val="1F3864"/>
                </a:solidFill>
                <a:latin typeface="Arial"/>
                <a:ea typeface="微软雅黑"/>
              </a:rPr>
              <a:t>洞察  电动化纵深推进：续航/容量/功率三线上行，LFP主导、插混大电池化、供应商多元化为三大结构特征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1463040"/>
          <a:ext cx="105156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2103120"/>
                <a:gridCol w="2103120"/>
                <a:gridCol w="2103120"/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2021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2025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变化%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BEV平均续航(km)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407.2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513.0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26.0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BEV平均容量(kWh)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54.0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64.6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19.7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BEV平均功率(kW)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154.6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190.2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23.0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PHEV平均纯电续航(km)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86.3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160.8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86.3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PHEV平均容量(kWh)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20.7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rial"/>
                <a:ea typeface="微软雅黑"/>
              </a:rPr>
              <a:t>谢谢 | THANK YOU</a:t>
            </a:r>
          </a:p>
          <a:p>
            <a:pPr algn="l"/>
            <a:r>
              <a:rPr sz="1100" b="0">
                <a:solidFill>
                  <a:srgbClr val="8FAADC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66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