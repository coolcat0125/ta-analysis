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3" r:id="rId74"/>
    <p:sldId id="324" r:id="rId75"/>
    <p:sldId id="325" r:id="rId76"/>
    <p:sldId id="258" r:id="rId9"/>
    <p:sldId id="326" r:id="rId77"/>
    <p:sldId id="327" r:id="rId78"/>
    <p:sldId id="328" r:id="rId79"/>
    <p:sldId id="329" r:id="rId80"/>
    <p:sldId id="330" r:id="rId81"/>
    <p:sldId id="331" r:id="rId82"/>
    <p:sldId id="260" r:id="rId11"/>
    <p:sldId id="261" r:id="rId12"/>
    <p:sldId id="332" r:id="rId83"/>
    <p:sldId id="333" r:id="rId84"/>
    <p:sldId id="262" r:id="rId13"/>
    <p:sldId id="263" r:id="rId14"/>
    <p:sldId id="264" r:id="rId15"/>
    <p:sldId id="265" r:id="rId16"/>
    <p:sldId id="266" r:id="rId17"/>
    <p:sldId id="334" r:id="rId85"/>
    <p:sldId id="335" r:id="rId86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336" r:id="rId87"/>
    <p:sldId id="337" r:id="rId88"/>
    <p:sldId id="338" r:id="rId89"/>
    <p:sldId id="339" r:id="rId90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40" r:id="rId91"/>
    <p:sldId id="341" r:id="rId92"/>
    <p:sldId id="342" r:id="rId93"/>
    <p:sldId id="300" r:id="rId51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08" r:id="rId59"/>
    <p:sldId id="350" r:id="rId101"/>
    <p:sldId id="351" r:id="rId102"/>
    <p:sldId id="352" r:id="rId103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53" r:id="rId104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836</c:v>
                </c:pt>
                <c:pt idx="1">
                  <c:v>520</c:v>
                </c:pt>
                <c:pt idx="2">
                  <c:v>584</c:v>
                </c:pt>
                <c:pt idx="3">
                  <c:v>673</c:v>
                </c:pt>
                <c:pt idx="4">
                  <c:v>647</c:v>
                </c:pt>
                <c:pt idx="5">
                  <c:v>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170</c:v>
                </c:pt>
                <c:pt idx="1">
                  <c:v>135</c:v>
                </c:pt>
                <c:pt idx="2">
                  <c:v>213</c:v>
                </c:pt>
                <c:pt idx="3">
                  <c:v>312</c:v>
                </c:pt>
                <c:pt idx="4">
                  <c:v>551</c:v>
                </c:pt>
                <c:pt idx="5">
                  <c:v>311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PHEV占比%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16.9</c:v>
                </c:pt>
                <c:pt idx="1">
                  <c:v>20.6</c:v>
                </c:pt>
                <c:pt idx="2">
                  <c:v>26.7</c:v>
                </c:pt>
                <c:pt idx="3">
                  <c:v>31.7</c:v>
                </c:pt>
                <c:pt idx="4">
                  <c:v>46.0</c:v>
                </c:pt>
                <c:pt idx="5">
                  <c:v>40.1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030A0"/>
              </a:solidFill>
            </c:spPr>
          </c:dPt>
          <c:dPt>
            <c:idx val="5"/>
            <c:spPr>
              <a:solidFill>
                <a:srgbClr val="4472C4"/>
              </a:solidFill>
            </c:spPr>
          </c:dPt>
          <c:dPt>
            <c:idx val="6"/>
            <c:spPr>
              <a:solidFill>
                <a:srgbClr val="C55A11"/>
              </a:solidFill>
            </c:spPr>
          </c:dPt>
          <c:dPt>
            <c:idx val="7"/>
            <c:spPr>
              <a:solidFill>
                <a:srgbClr val="7F7F7F"/>
              </a:solidFill>
            </c:spPr>
          </c:dPt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Car-A</c:v>
                </c:pt>
                <c:pt idx="2">
                  <c:v>SUV-D</c:v>
                </c:pt>
                <c:pt idx="3">
                  <c:v>Car-D</c:v>
                </c:pt>
                <c:pt idx="4">
                  <c:v>Car-C</c:v>
                </c:pt>
                <c:pt idx="5">
                  <c:v>Car-B</c:v>
                </c:pt>
                <c:pt idx="6">
                  <c:v>SUV-B</c:v>
                </c:pt>
                <c:pt idx="7">
                  <c:v>SUV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529</c:v>
                </c:pt>
                <c:pt idx="1">
                  <c:v>466</c:v>
                </c:pt>
                <c:pt idx="2">
                  <c:v>456</c:v>
                </c:pt>
                <c:pt idx="3">
                  <c:v>416</c:v>
                </c:pt>
                <c:pt idx="4">
                  <c:v>390</c:v>
                </c:pt>
                <c:pt idx="5">
                  <c:v>171</c:v>
                </c:pt>
                <c:pt idx="6">
                  <c:v>127</c:v>
                </c:pt>
                <c:pt idx="7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030A0"/>
              </a:solidFill>
            </c:spPr>
          </c:dPt>
          <c:dPt>
            <c:idx val="5"/>
            <c:spPr>
              <a:solidFill>
                <a:srgbClr val="4472C4"/>
              </a:solidFill>
            </c:spPr>
          </c:dPt>
          <c:dPt>
            <c:idx val="6"/>
            <c:spPr>
              <a:solidFill>
                <a:srgbClr val="C55A11"/>
              </a:solidFill>
            </c:spPr>
          </c:dPt>
          <c:dPt>
            <c:idx val="7"/>
            <c:spPr>
              <a:solidFill>
                <a:srgbClr val="7F7F7F"/>
              </a:solidFill>
            </c:spPr>
          </c:dPt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Car-D</c:v>
                </c:pt>
                <c:pt idx="3">
                  <c:v>Car-C</c:v>
                </c:pt>
                <c:pt idx="4">
                  <c:v>MPV-D</c:v>
                </c:pt>
                <c:pt idx="5">
                  <c:v>SUV</c:v>
                </c:pt>
                <c:pt idx="6">
                  <c:v>SUV-E</c:v>
                </c:pt>
                <c:pt idx="7">
                  <c:v>Car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566</c:v>
                </c:pt>
                <c:pt idx="1">
                  <c:v>414</c:v>
                </c:pt>
                <c:pt idx="2">
                  <c:v>180</c:v>
                </c:pt>
                <c:pt idx="3">
                  <c:v>170</c:v>
                </c:pt>
                <c:pt idx="4">
                  <c:v>83</c:v>
                </c:pt>
                <c:pt idx="5">
                  <c:v>66</c:v>
                </c:pt>
                <c:pt idx="6">
                  <c:v>25</c:v>
                </c:pt>
                <c:pt idx="7">
                  <c:v>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合计公告车型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1006</c:v>
                </c:pt>
                <c:pt idx="1">
                  <c:v>655</c:v>
                </c:pt>
                <c:pt idx="2">
                  <c:v>797</c:v>
                </c:pt>
                <c:pt idx="3">
                  <c:v>985</c:v>
                </c:pt>
                <c:pt idx="4">
                  <c:v>1198</c:v>
                </c:pt>
                <c:pt idx="5">
                  <c:v>776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407.18</c:v>
                </c:pt>
                <c:pt idx="1">
                  <c:v>445.81</c:v>
                </c:pt>
                <c:pt idx="2">
                  <c:v>490.08</c:v>
                </c:pt>
                <c:pt idx="3">
                  <c:v>521.15</c:v>
                </c:pt>
                <c:pt idx="4">
                  <c:v>513.04</c:v>
                </c:pt>
                <c:pt idx="5">
                  <c:v>608.08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平均纯电续航(km)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86.3</c:v>
                </c:pt>
                <c:pt idx="1">
                  <c:v>114.31</c:v>
                </c:pt>
                <c:pt idx="2">
                  <c:v>116.72</c:v>
                </c:pt>
                <c:pt idx="3">
                  <c:v>129.58</c:v>
                </c:pt>
                <c:pt idx="4">
                  <c:v>160.8</c:v>
                </c:pt>
                <c:pt idx="5">
                  <c:v>246.44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407.18</c:v>
                </c:pt>
                <c:pt idx="1">
                  <c:v>445.81</c:v>
                </c:pt>
                <c:pt idx="2">
                  <c:v>490.08</c:v>
                </c:pt>
                <c:pt idx="3">
                  <c:v>521.15</c:v>
                </c:pt>
                <c:pt idx="4">
                  <c:v>513.04</c:v>
                </c:pt>
                <c:pt idx="5">
                  <c:v>608.08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86.3</c:v>
                </c:pt>
                <c:pt idx="1">
                  <c:v>114.31</c:v>
                </c:pt>
                <c:pt idx="2">
                  <c:v>116.72</c:v>
                </c:pt>
                <c:pt idx="3">
                  <c:v>129.58</c:v>
                </c:pt>
                <c:pt idx="4">
                  <c:v>160.8</c:v>
                </c:pt>
                <c:pt idx="5">
                  <c:v>246.44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BEV平均容量(kWh)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53.97</c:v>
                </c:pt>
                <c:pt idx="1">
                  <c:v>59.99</c:v>
                </c:pt>
                <c:pt idx="2">
                  <c:v>64.53</c:v>
                </c:pt>
                <c:pt idx="3">
                  <c:v>69.25</c:v>
                </c:pt>
                <c:pt idx="4">
                  <c:v>64.58</c:v>
                </c:pt>
                <c:pt idx="5">
                  <c:v>73.75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PHEV平均容量(kWh)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27.92</c:v>
                </c:pt>
                <c:pt idx="1">
                  <c:v>26.28</c:v>
                </c:pt>
                <c:pt idx="2">
                  <c:v>26.38</c:v>
                </c:pt>
                <c:pt idx="3">
                  <c:v>27.89</c:v>
                </c:pt>
                <c:pt idx="4">
                  <c:v>33.71</c:v>
                </c:pt>
                <c:pt idx="5">
                  <c:v>47.94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53.97</c:v>
                </c:pt>
                <c:pt idx="1">
                  <c:v>59.99</c:v>
                </c:pt>
                <c:pt idx="2">
                  <c:v>64.53</c:v>
                </c:pt>
                <c:pt idx="3">
                  <c:v>69.25</c:v>
                </c:pt>
                <c:pt idx="4">
                  <c:v>64.58</c:v>
                </c:pt>
                <c:pt idx="5">
                  <c:v>73.75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27.92</c:v>
                </c:pt>
                <c:pt idx="1">
                  <c:v>26.28</c:v>
                </c:pt>
                <c:pt idx="2">
                  <c:v>26.38</c:v>
                </c:pt>
                <c:pt idx="3">
                  <c:v>27.89</c:v>
                </c:pt>
                <c:pt idx="4">
                  <c:v>33.71</c:v>
                </c:pt>
                <c:pt idx="5">
                  <c:v>47.94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LFP%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51.9</c:v>
                </c:pt>
                <c:pt idx="1">
                  <c:v>51.5</c:v>
                </c:pt>
                <c:pt idx="2">
                  <c:v>55.6</c:v>
                </c:pt>
                <c:pt idx="3">
                  <c:v>66.8</c:v>
                </c:pt>
                <c:pt idx="4">
                  <c:v>80.4</c:v>
                </c:pt>
                <c:pt idx="5">
                  <c:v>79.7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NCM%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44.2</c:v>
                </c:pt>
                <c:pt idx="1">
                  <c:v>46.4</c:v>
                </c:pt>
                <c:pt idx="2">
                  <c:v>41.8</c:v>
                </c:pt>
                <c:pt idx="3">
                  <c:v>31.9</c:v>
                </c:pt>
                <c:pt idx="4">
                  <c:v>17.2</c:v>
                </c:pt>
                <c:pt idx="5">
                  <c:v>18.7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其他%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3.9</c:v>
                </c:pt>
                <c:pt idx="1">
                  <c:v>2.1</c:v>
                </c:pt>
                <c:pt idx="2">
                  <c:v>2.5</c:v>
                </c:pt>
                <c:pt idx="3">
                  <c:v>1.3</c:v>
                </c:pt>
                <c:pt idx="4">
                  <c:v>2.3</c:v>
                </c:pt>
                <c:pt idx="5">
                  <c:v>1.6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LFP%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53.5</c:v>
                </c:pt>
                <c:pt idx="1">
                  <c:v>36.4</c:v>
                </c:pt>
                <c:pt idx="2">
                  <c:v>46.2</c:v>
                </c:pt>
                <c:pt idx="3">
                  <c:v>74.6</c:v>
                </c:pt>
                <c:pt idx="4">
                  <c:v>81.6</c:v>
                </c:pt>
                <c:pt idx="5">
                  <c:v>70.7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NCM%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46.5</c:v>
                </c:pt>
                <c:pt idx="1">
                  <c:v>50.8</c:v>
                </c:pt>
                <c:pt idx="2">
                  <c:v>49.5</c:v>
                </c:pt>
                <c:pt idx="3">
                  <c:v>24.4</c:v>
                </c:pt>
                <c:pt idx="4">
                  <c:v>15.7</c:v>
                </c:pt>
                <c:pt idx="5">
                  <c:v>26.0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其他%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12.9</c:v>
                </c:pt>
                <c:pt idx="2">
                  <c:v>4.3</c:v>
                </c:pt>
                <c:pt idx="3">
                  <c:v>1.0</c:v>
                </c:pt>
                <c:pt idx="4">
                  <c:v>2.6</c:v>
                </c:pt>
                <c:pt idx="5">
                  <c:v>3.3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BEV平均能量密度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150.7</c:v>
                </c:pt>
                <c:pt idx="1">
                  <c:v>153.8</c:v>
                </c:pt>
                <c:pt idx="2">
                  <c:v>158.2</c:v>
                </c:pt>
                <c:pt idx="3">
                  <c:v>146.7</c:v>
                </c:pt>
                <c:pt idx="4">
                  <c:v>151.1</c:v>
                </c:pt>
                <c:pt idx="5">
                  <c:v>163.6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400-500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274</c:v>
                </c:pt>
                <c:pt idx="1">
                  <c:v>98</c:v>
                </c:pt>
                <c:pt idx="2">
                  <c:v>104</c:v>
                </c:pt>
                <c:pt idx="3">
                  <c:v>103</c:v>
                </c:pt>
                <c:pt idx="4">
                  <c:v>119</c:v>
                </c:pt>
                <c:pt idx="5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600-700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88</c:v>
                </c:pt>
                <c:pt idx="2">
                  <c:v>114</c:v>
                </c:pt>
                <c:pt idx="3">
                  <c:v>150</c:v>
                </c:pt>
                <c:pt idx="4">
                  <c:v>120</c:v>
                </c:pt>
                <c:pt idx="5">
                  <c:v>111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300-400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155</c:v>
                </c:pt>
                <c:pt idx="1">
                  <c:v>66</c:v>
                </c:pt>
                <c:pt idx="2">
                  <c:v>52</c:v>
                </c:pt>
                <c:pt idx="3">
                  <c:v>76</c:v>
                </c:pt>
                <c:pt idx="4">
                  <c:v>119</c:v>
                </c:pt>
                <c:pt idx="5">
                  <c:v>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500-600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169</c:v>
                </c:pt>
                <c:pt idx="1">
                  <c:v>112</c:v>
                </c:pt>
                <c:pt idx="2">
                  <c:v>164</c:v>
                </c:pt>
                <c:pt idx="3">
                  <c:v>184</c:v>
                </c:pt>
                <c:pt idx="4">
                  <c:v>160</c:v>
                </c:pt>
                <c:pt idx="5">
                  <c:v>105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&lt;200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81</c:v>
                </c:pt>
                <c:pt idx="1">
                  <c:v>42</c:v>
                </c:pt>
                <c:pt idx="2">
                  <c:v>21</c:v>
                </c:pt>
                <c:pt idx="3">
                  <c:v>12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200-300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37</c:v>
                </c:pt>
                <c:pt idx="1">
                  <c:v>55</c:v>
                </c:pt>
                <c:pt idx="2">
                  <c:v>63</c:v>
                </c:pt>
                <c:pt idx="3">
                  <c:v>39</c:v>
                </c:pt>
                <c:pt idx="4">
                  <c:v>30</c:v>
                </c:pt>
                <c:pt idx="5">
                  <c:v>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≥700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10</c:v>
                </c:pt>
                <c:pt idx="1">
                  <c:v>33</c:v>
                </c:pt>
                <c:pt idx="2">
                  <c:v>56</c:v>
                </c:pt>
                <c:pt idx="3">
                  <c:v>92</c:v>
                </c:pt>
                <c:pt idx="4">
                  <c:v>95</c:v>
                </c:pt>
                <c:pt idx="5">
                  <c:v>143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125-150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8</c:v>
                </c:pt>
                <c:pt idx="2">
                  <c:v>17</c:v>
                </c:pt>
                <c:pt idx="3">
                  <c:v>26</c:v>
                </c:pt>
                <c:pt idx="4">
                  <c:v>46</c:v>
                </c:pt>
                <c:pt idx="5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150-200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37</c:v>
                </c:pt>
                <c:pt idx="2">
                  <c:v>58</c:v>
                </c:pt>
                <c:pt idx="3">
                  <c:v>90</c:v>
                </c:pt>
                <c:pt idx="4">
                  <c:v>174</c:v>
                </c:pt>
                <c:pt idx="5">
                  <c:v>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50-100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62</c:v>
                </c:pt>
                <c:pt idx="1">
                  <c:v>49</c:v>
                </c:pt>
                <c:pt idx="2">
                  <c:v>68</c:v>
                </c:pt>
                <c:pt idx="3">
                  <c:v>84</c:v>
                </c:pt>
                <c:pt idx="4">
                  <c:v>42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100-125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42</c:v>
                </c:pt>
                <c:pt idx="1">
                  <c:v>16</c:v>
                </c:pt>
                <c:pt idx="2">
                  <c:v>42</c:v>
                </c:pt>
                <c:pt idx="3">
                  <c:v>59</c:v>
                </c:pt>
                <c:pt idx="4">
                  <c:v>160</c:v>
                </c:pt>
                <c:pt idx="5">
                  <c:v>24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&lt;50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34</c:v>
                </c:pt>
                <c:pt idx="1">
                  <c:v>14</c:v>
                </c:pt>
                <c:pt idx="2">
                  <c:v>15</c:v>
                </c:pt>
                <c:pt idx="3">
                  <c:v>13</c:v>
                </c:pt>
                <c:pt idx="4">
                  <c:v>8</c:v>
                </c:pt>
                <c:pt idx="5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≥200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8</c:v>
                </c:pt>
                <c:pt idx="3">
                  <c:v>29</c:v>
                </c:pt>
                <c:pt idx="4">
                  <c:v>119</c:v>
                </c:pt>
                <c:pt idx="5">
                  <c:v>175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60-70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67</c:v>
                </c:pt>
                <c:pt idx="2">
                  <c:v>98</c:v>
                </c:pt>
                <c:pt idx="3">
                  <c:v>107</c:v>
                </c:pt>
                <c:pt idx="4">
                  <c:v>119</c:v>
                </c:pt>
                <c:pt idx="5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70-80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</c:v>
                </c:pt>
                <c:pt idx="1">
                  <c:v>51</c:v>
                </c:pt>
                <c:pt idx="2">
                  <c:v>97</c:v>
                </c:pt>
                <c:pt idx="3">
                  <c:v>99</c:v>
                </c:pt>
                <c:pt idx="4">
                  <c:v>65</c:v>
                </c:pt>
                <c:pt idx="5">
                  <c:v>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40-50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</c:v>
                </c:pt>
                <c:pt idx="1">
                  <c:v>51</c:v>
                </c:pt>
                <c:pt idx="2">
                  <c:v>49</c:v>
                </c:pt>
                <c:pt idx="3">
                  <c:v>54</c:v>
                </c:pt>
                <c:pt idx="4">
                  <c:v>82</c:v>
                </c:pt>
                <c:pt idx="5">
                  <c:v>39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20-30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24</c:v>
                </c:pt>
                <c:pt idx="1">
                  <c:v>21</c:v>
                </c:pt>
                <c:pt idx="2">
                  <c:v>18</c:v>
                </c:pt>
                <c:pt idx="3">
                  <c:v>7</c:v>
                </c:pt>
                <c:pt idx="4">
                  <c:v>11</c:v>
                </c:pt>
                <c:pt idx="5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30-40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78</c:v>
                </c:pt>
                <c:pt idx="1">
                  <c:v>26</c:v>
                </c:pt>
                <c:pt idx="2">
                  <c:v>45</c:v>
                </c:pt>
                <c:pt idx="3">
                  <c:v>28</c:v>
                </c:pt>
                <c:pt idx="4">
                  <c:v>28</c:v>
                </c:pt>
                <c:pt idx="5">
                  <c:v>15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&lt;20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86</c:v>
                </c:pt>
                <c:pt idx="1">
                  <c:v>70</c:v>
                </c:pt>
                <c:pt idx="2">
                  <c:v>45</c:v>
                </c:pt>
                <c:pt idx="3">
                  <c:v>24</c:v>
                </c:pt>
                <c:pt idx="4">
                  <c:v>27</c:v>
                </c:pt>
                <c:pt idx="5">
                  <c:v>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50-60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120</c:v>
                </c:pt>
                <c:pt idx="1">
                  <c:v>55</c:v>
                </c:pt>
                <c:pt idx="2">
                  <c:v>55</c:v>
                </c:pt>
                <c:pt idx="3">
                  <c:v>86</c:v>
                </c:pt>
                <c:pt idx="4">
                  <c:v>133</c:v>
                </c:pt>
                <c:pt idx="5">
                  <c:v>68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≥80</c:v>
                </c:pt>
              </c:strCache>
            </c:strRef>
          </c:tx>
          <c:spPr>
            <a:solidFill>
              <a:srgbClr val="40404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102</c:v>
                </c:pt>
                <c:pt idx="1">
                  <c:v>130</c:v>
                </c:pt>
                <c:pt idx="2">
                  <c:v>159</c:v>
                </c:pt>
                <c:pt idx="3">
                  <c:v>211</c:v>
                </c:pt>
                <c:pt idx="4">
                  <c:v>166</c:v>
                </c:pt>
                <c:pt idx="5">
                  <c:v>167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30-40</c:v>
                </c:pt>
              </c:strCache>
            </c:strRef>
          </c:tx>
          <c:spPr>
            <a:solidFill>
              <a:srgbClr val="FBE5D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26</c:v>
                </c:pt>
                <c:pt idx="2">
                  <c:v>33</c:v>
                </c:pt>
                <c:pt idx="3">
                  <c:v>82</c:v>
                </c:pt>
                <c:pt idx="4">
                  <c:v>152</c:v>
                </c:pt>
                <c:pt idx="5">
                  <c:v>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20-30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19</c:v>
                </c:pt>
                <c:pt idx="2">
                  <c:v>37</c:v>
                </c:pt>
                <c:pt idx="3">
                  <c:v>50</c:v>
                </c:pt>
                <c:pt idx="4">
                  <c:v>106</c:v>
                </c:pt>
                <c:pt idx="5">
                  <c:v>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10-20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40</c:v>
                </c:pt>
                <c:pt idx="1">
                  <c:v>52</c:v>
                </c:pt>
                <c:pt idx="2">
                  <c:v>76</c:v>
                </c:pt>
                <c:pt idx="3">
                  <c:v>97</c:v>
                </c:pt>
                <c:pt idx="4">
                  <c:v>117</c:v>
                </c:pt>
                <c:pt idx="5">
                  <c:v>11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&lt;10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</c:v>
                </c:pt>
                <c:pt idx="1">
                  <c:v>11</c:v>
                </c:pt>
                <c:pt idx="2">
                  <c:v>16</c:v>
                </c:pt>
                <c:pt idx="3">
                  <c:v>17</c:v>
                </c:pt>
                <c:pt idx="4">
                  <c:v>11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磷酸铁锂(LFP)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391</c:v>
                </c:pt>
                <c:pt idx="1">
                  <c:v>242</c:v>
                </c:pt>
                <c:pt idx="2">
                  <c:v>307</c:v>
                </c:pt>
                <c:pt idx="3">
                  <c:v>410</c:v>
                </c:pt>
                <c:pt idx="4">
                  <c:v>481</c:v>
                </c:pt>
                <c:pt idx="5">
                  <c:v>341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三元锂(NCM)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333</c:v>
                </c:pt>
                <c:pt idx="1">
                  <c:v>218</c:v>
                </c:pt>
                <c:pt idx="2">
                  <c:v>231</c:v>
                </c:pt>
                <c:pt idx="3">
                  <c:v>196</c:v>
                </c:pt>
                <c:pt idx="4">
                  <c:v>103</c:v>
                </c:pt>
                <c:pt idx="5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29</c:v>
                </c:pt>
                <c:pt idx="1">
                  <c:v>10</c:v>
                </c:pt>
                <c:pt idx="2">
                  <c:v>14</c:v>
                </c:pt>
                <c:pt idx="3">
                  <c:v>8</c:v>
                </c:pt>
                <c:pt idx="4">
                  <c:v>14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BEV平均峰值功率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154.64</c:v>
                </c:pt>
                <c:pt idx="1">
                  <c:v>191.87</c:v>
                </c:pt>
                <c:pt idx="2">
                  <c:v>204.7</c:v>
                </c:pt>
                <c:pt idx="3">
                  <c:v>209.13</c:v>
                </c:pt>
                <c:pt idx="4">
                  <c:v>190.25</c:v>
                </c:pt>
                <c:pt idx="5">
                  <c:v>254.22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PHEV平均峰值功率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143.42</c:v>
                </c:pt>
                <c:pt idx="1">
                  <c:v>188.79</c:v>
                </c:pt>
                <c:pt idx="2">
                  <c:v>190.78</c:v>
                </c:pt>
                <c:pt idx="3">
                  <c:v>197.62</c:v>
                </c:pt>
                <c:pt idx="4">
                  <c:v>183.88</c:v>
                </c:pt>
                <c:pt idx="5">
                  <c:v>221.03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1551.5</c:v>
                </c:pt>
                <c:pt idx="1">
                  <c:v>1700.9</c:v>
                </c:pt>
                <c:pt idx="2">
                  <c:v>1862.4</c:v>
                </c:pt>
                <c:pt idx="3">
                  <c:v>1956.5</c:v>
                </c:pt>
                <c:pt idx="4">
                  <c:v>1889.7</c:v>
                </c:pt>
                <c:pt idx="5">
                  <c:v>1997.4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1960.3</c:v>
                </c:pt>
                <c:pt idx="1">
                  <c:v>2025.8</c:v>
                </c:pt>
                <c:pt idx="2">
                  <c:v>2059.9</c:v>
                </c:pt>
                <c:pt idx="3">
                  <c:v>2052.1</c:v>
                </c:pt>
                <c:pt idx="4">
                  <c:v>2204.3</c:v>
                </c:pt>
                <c:pt idx="5">
                  <c:v>2362.0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101.2</c:v>
                </c:pt>
                <c:pt idx="1">
                  <c:v>107.6</c:v>
                </c:pt>
                <c:pt idx="2">
                  <c:v>105.7</c:v>
                </c:pt>
                <c:pt idx="3">
                  <c:v>110.6</c:v>
                </c:pt>
                <c:pt idx="4">
                  <c:v>96.5</c:v>
                </c:pt>
                <c:pt idx="5">
                  <c:v>123.9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77.3</c:v>
                </c:pt>
                <c:pt idx="1">
                  <c:v>91.7</c:v>
                </c:pt>
                <c:pt idx="2">
                  <c:v>91.6</c:v>
                </c:pt>
                <c:pt idx="3">
                  <c:v>95.6</c:v>
                </c:pt>
                <c:pt idx="4">
                  <c:v>82.2</c:v>
                </c:pt>
                <c:pt idx="5">
                  <c:v>92.5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32.1</c:v>
                </c:pt>
                <c:pt idx="1">
                  <c:v>33.0</c:v>
                </c:pt>
                <c:pt idx="2">
                  <c:v>33.5</c:v>
                </c:pt>
                <c:pt idx="3">
                  <c:v>34.6</c:v>
                </c:pt>
                <c:pt idx="4">
                  <c:v>33.4</c:v>
                </c:pt>
                <c:pt idx="5">
                  <c:v>35.8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13.7</c:v>
                </c:pt>
                <c:pt idx="1">
                  <c:v>12.7</c:v>
                </c:pt>
                <c:pt idx="2">
                  <c:v>12.5</c:v>
                </c:pt>
                <c:pt idx="3">
                  <c:v>13.2</c:v>
                </c:pt>
                <c:pt idx="4">
                  <c:v>14.9</c:v>
                </c:pt>
                <c:pt idx="5">
                  <c:v>19.8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BEV平均电耗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13.34</c:v>
                </c:pt>
                <c:pt idx="1">
                  <c:v>13.49</c:v>
                </c:pt>
                <c:pt idx="2">
                  <c:v>14.05</c:v>
                </c:pt>
                <c:pt idx="3">
                  <c:v>14.08</c:v>
                </c:pt>
                <c:pt idx="4">
                  <c:v>13.74</c:v>
                </c:pt>
                <c:pt idx="5">
                  <c:v>13.23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LFP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12.58</c:v>
                </c:pt>
                <c:pt idx="1">
                  <c:v>12.59</c:v>
                </c:pt>
                <c:pt idx="2">
                  <c:v>13.53</c:v>
                </c:pt>
                <c:pt idx="3">
                  <c:v>13.62</c:v>
                </c:pt>
                <c:pt idx="4">
                  <c:v>13.41</c:v>
                </c:pt>
                <c:pt idx="5">
                  <c:v>12.79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14.3</c:v>
                </c:pt>
                <c:pt idx="1">
                  <c:v>14.76</c:v>
                </c:pt>
                <c:pt idx="2">
                  <c:v>14.85</c:v>
                </c:pt>
                <c:pt idx="3">
                  <c:v>14.85</c:v>
                </c:pt>
                <c:pt idx="4">
                  <c:v>14.77</c:v>
                </c:pt>
                <c:pt idx="5">
                  <c:v>15.11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综合油耗(L)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3.17</c:v>
                </c:pt>
                <c:pt idx="1">
                  <c:v>3.31</c:v>
                </c:pt>
                <c:pt idx="2">
                  <c:v>3.88</c:v>
                </c:pt>
                <c:pt idx="3">
                  <c:v>4.98</c:v>
                </c:pt>
                <c:pt idx="4">
                  <c:v>5.58</c:v>
                </c:pt>
                <c:pt idx="5">
                  <c:v>5.36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纯电续航/30(km)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2.88</c:v>
                </c:pt>
                <c:pt idx="1">
                  <c:v>3.81</c:v>
                </c:pt>
                <c:pt idx="2">
                  <c:v>3.89</c:v>
                </c:pt>
                <c:pt idx="3">
                  <c:v>4.32</c:v>
                </c:pt>
                <c:pt idx="4">
                  <c:v>5.36</c:v>
                </c:pt>
                <c:pt idx="5">
                  <c:v>8.21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B状态油耗(L)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5.28</c:v>
                </c:pt>
                <c:pt idx="1">
                  <c:v>6.02</c:v>
                </c:pt>
                <c:pt idx="2">
                  <c:v>5.93</c:v>
                </c:pt>
                <c:pt idx="3">
                  <c:v>5.69</c:v>
                </c:pt>
                <c:pt idx="4">
                  <c:v>5.65</c:v>
                </c:pt>
                <c:pt idx="5">
                  <c:v>5.57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综合油耗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&lt;1.0L</c:v>
                </c:pt>
                <c:pt idx="1">
                  <c:v>1.0-1.5L</c:v>
                </c:pt>
                <c:pt idx="2">
                  <c:v>1.5-2.0L</c:v>
                </c:pt>
                <c:pt idx="3">
                  <c:v>≥2.0L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5.42</c:v>
                </c:pt>
                <c:pt idx="2">
                  <c:v>5.51</c:v>
                </c:pt>
                <c:pt idx="3">
                  <c:v>6.25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B状态油耗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&lt;1.0L</c:v>
                </c:pt>
                <c:pt idx="1">
                  <c:v>1.0-1.5L</c:v>
                </c:pt>
                <c:pt idx="2">
                  <c:v>1.5-2.0L</c:v>
                </c:pt>
                <c:pt idx="3">
                  <c:v>≥2.0L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5.44</c:v>
                </c:pt>
                <c:pt idx="2">
                  <c:v>6.46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电池供应商HHI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1808.8</c:v>
                </c:pt>
                <c:pt idx="1">
                  <c:v>1546.3</c:v>
                </c:pt>
                <c:pt idx="2">
                  <c:v>1529.7</c:v>
                </c:pt>
                <c:pt idx="3">
                  <c:v>2197.3</c:v>
                </c:pt>
                <c:pt idx="4">
                  <c:v>1313.8</c:v>
                </c:pt>
                <c:pt idx="5">
                  <c:v>652.5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电机供应商HHI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282.0</c:v>
                </c:pt>
                <c:pt idx="1">
                  <c:v>261.4</c:v>
                </c:pt>
                <c:pt idx="2">
                  <c:v>222.2</c:v>
                </c:pt>
                <c:pt idx="3">
                  <c:v>355.1</c:v>
                </c:pt>
                <c:pt idx="4">
                  <c:v>429.3</c:v>
                </c:pt>
                <c:pt idx="5">
                  <c:v>273.0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CR3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66.2</c:v>
                </c:pt>
                <c:pt idx="1">
                  <c:v>58.4</c:v>
                </c:pt>
                <c:pt idx="2">
                  <c:v>56.1</c:v>
                </c:pt>
                <c:pt idx="3">
                  <c:v>70.5</c:v>
                </c:pt>
                <c:pt idx="4">
                  <c:v>56.5</c:v>
                </c:pt>
                <c:pt idx="5">
                  <c:v>36.7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CR5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80.4</c:v>
                </c:pt>
                <c:pt idx="1">
                  <c:v>68.5</c:v>
                </c:pt>
                <c:pt idx="2">
                  <c:v>69.0</c:v>
                </c:pt>
                <c:pt idx="3">
                  <c:v>81.4</c:v>
                </c:pt>
                <c:pt idx="4">
                  <c:v>66.2</c:v>
                </c:pt>
                <c:pt idx="5">
                  <c:v>47.5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CR10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95.1</c:v>
                </c:pt>
                <c:pt idx="1">
                  <c:v>85.9</c:v>
                </c:pt>
                <c:pt idx="2">
                  <c:v>86.5</c:v>
                </c:pt>
                <c:pt idx="3">
                  <c:v>92.2</c:v>
                </c:pt>
                <c:pt idx="4">
                  <c:v>84.3</c:v>
                </c:pt>
                <c:pt idx="5">
                  <c:v>62.0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19.7</c:v>
                </c:pt>
                <c:pt idx="1">
                  <c:v>21.4</c:v>
                </c:pt>
                <c:pt idx="2">
                  <c:v>18.9</c:v>
                </c:pt>
                <c:pt idx="3">
                  <c:v>24.4</c:v>
                </c:pt>
                <c:pt idx="4">
                  <c:v>25.3</c:v>
                </c:pt>
                <c:pt idx="5">
                  <c:v>18.4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26.1</c:v>
                </c:pt>
                <c:pt idx="1">
                  <c:v>29.1</c:v>
                </c:pt>
                <c:pt idx="2">
                  <c:v>24.9</c:v>
                </c:pt>
                <c:pt idx="3">
                  <c:v>34.3</c:v>
                </c:pt>
                <c:pt idx="4">
                  <c:v>35.2</c:v>
                </c:pt>
                <c:pt idx="5">
                  <c:v>27.6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CR10</c:v>
                </c:pt>
              </c:strCache>
            </c:strRef>
          </c:tx>
          <c:spPr>
            <a:solidFill>
              <a:srgbClr val="843C0C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38.0</c:v>
                </c:pt>
                <c:pt idx="1">
                  <c:v>41.2</c:v>
                </c:pt>
                <c:pt idx="2">
                  <c:v>35.9</c:v>
                </c:pt>
                <c:pt idx="3">
                  <c:v>47.6</c:v>
                </c:pt>
                <c:pt idx="4">
                  <c:v>52.5</c:v>
                </c:pt>
                <c:pt idx="5">
                  <c:v>43.2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配套车型数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宁德时代</c:v>
                </c:pt>
                <c:pt idx="1">
                  <c:v>弗迪</c:v>
                </c:pt>
                <c:pt idx="2">
                  <c:v>国轩高科</c:v>
                </c:pt>
                <c:pt idx="3">
                  <c:v>蜂巢能源</c:v>
                </c:pt>
                <c:pt idx="4">
                  <c:v>中创新航</c:v>
                </c:pt>
                <c:pt idx="5">
                  <c:v>欣旺达</c:v>
                </c:pt>
                <c:pt idx="6">
                  <c:v>比亚迪</c:v>
                </c:pt>
                <c:pt idx="7">
                  <c:v>宁德时代(四川时代)</c:v>
                </c:pt>
                <c:pt idx="8">
                  <c:v>宁德时代(江苏时代)</c:v>
                </c:pt>
                <c:pt idx="9">
                  <c:v>亿纬动力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389</c:v>
                </c:pt>
                <c:pt idx="1">
                  <c:v>368</c:v>
                </c:pt>
                <c:pt idx="2">
                  <c:v>125</c:v>
                </c:pt>
                <c:pt idx="3">
                  <c:v>71</c:v>
                </c:pt>
                <c:pt idx="4">
                  <c:v>61</c:v>
                </c:pt>
                <c:pt idx="5">
                  <c:v>60</c:v>
                </c:pt>
                <c:pt idx="6">
                  <c:v>54</c:v>
                </c:pt>
                <c:pt idx="7">
                  <c:v>46</c:v>
                </c:pt>
                <c:pt idx="8">
                  <c:v>33</c:v>
                </c:pt>
                <c:pt idx="9">
                  <c:v>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配套车型数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长沙市比亚迪汽车有限公司</c:v>
                </c:pt>
                <c:pt idx="1">
                  <c:v>重庆青山工业有限责任公司</c:v>
                </c:pt>
                <c:pt idx="2">
                  <c:v>奇瑞汽车</c:v>
                </c:pt>
                <c:pt idx="3">
                  <c:v>苏州汇川联合动力系统股份有限公司</c:v>
                </c:pt>
                <c:pt idx="4">
                  <c:v>华为数字能源技术有限公司</c:v>
                </c:pt>
                <c:pt idx="5">
                  <c:v>联合汽车电子有限公司</c:v>
                </c:pt>
                <c:pt idx="6">
                  <c:v>柳州赛克科技发展有限公司</c:v>
                </c:pt>
                <c:pt idx="7">
                  <c:v>珠海英搏尔电气股份有限公司</c:v>
                </c:pt>
                <c:pt idx="8">
                  <c:v>金华凌昇动力科技有限公司</c:v>
                </c:pt>
                <c:pt idx="9">
                  <c:v>联合汽车电子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408</c:v>
                </c:pt>
                <c:pt idx="1">
                  <c:v>152</c:v>
                </c:pt>
                <c:pt idx="2">
                  <c:v>114</c:v>
                </c:pt>
                <c:pt idx="3">
                  <c:v>111</c:v>
                </c:pt>
                <c:pt idx="4">
                  <c:v>110</c:v>
                </c:pt>
                <c:pt idx="5">
                  <c:v>104</c:v>
                </c:pt>
                <c:pt idx="6">
                  <c:v>96</c:v>
                </c:pt>
                <c:pt idx="7">
                  <c:v>87</c:v>
                </c:pt>
                <c:pt idx="8">
                  <c:v>79</c:v>
                </c:pt>
                <c:pt idx="9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525.5</c:v>
                </c:pt>
                <c:pt idx="1">
                  <c:v>530.5</c:v>
                </c:pt>
                <c:pt idx="2">
                  <c:v>516.3</c:v>
                </c:pt>
                <c:pt idx="3">
                  <c:v>630.4</c:v>
                </c:pt>
                <c:pt idx="4">
                  <c:v>359.7</c:v>
                </c:pt>
                <c:pt idx="5">
                  <c:v>261.0</c:v>
                </c:pt>
                <c:pt idx="6">
                  <c:v>601.5</c:v>
                </c:pt>
                <c:pt idx="7">
                  <c:v>441.5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540.1</c:v>
                </c:pt>
                <c:pt idx="1">
                  <c:v>618.0</c:v>
                </c:pt>
                <c:pt idx="2">
                  <c:v>515.2</c:v>
                </c:pt>
                <c:pt idx="3">
                  <c:v>648.3</c:v>
                </c:pt>
                <c:pt idx="4">
                  <c:v>368.3</c:v>
                </c:pt>
                <c:pt idx="5">
                  <c:v>252.7</c:v>
                </c:pt>
                <c:pt idx="6">
                  <c:v>513.5</c:v>
                </c:pt>
                <c:pt idx="7">
                  <c:v>416.9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68.3</c:v>
                </c:pt>
                <c:pt idx="1">
                  <c:v>79.0</c:v>
                </c:pt>
                <c:pt idx="2">
                  <c:v>60.5</c:v>
                </c:pt>
                <c:pt idx="3">
                  <c:v>80.3</c:v>
                </c:pt>
                <c:pt idx="4">
                  <c:v>41.0</c:v>
                </c:pt>
                <c:pt idx="5">
                  <c:v>24.5</c:v>
                </c:pt>
                <c:pt idx="6">
                  <c:v>98.3</c:v>
                </c:pt>
                <c:pt idx="7">
                  <c:v>50.9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Car-B</c:v>
                </c:pt>
                <c:pt idx="5">
                  <c:v>Car-A</c:v>
                </c:pt>
                <c:pt idx="6">
                  <c:v>MPV-D</c:v>
                </c:pt>
                <c:pt idx="7">
                  <c:v>SUV-B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65.3</c:v>
                </c:pt>
                <c:pt idx="1">
                  <c:v>84.2</c:v>
                </c:pt>
                <c:pt idx="2">
                  <c:v>54.8</c:v>
                </c:pt>
                <c:pt idx="3">
                  <c:v>77.7</c:v>
                </c:pt>
                <c:pt idx="4">
                  <c:v>36.4</c:v>
                </c:pt>
                <c:pt idx="5">
                  <c:v>23.0</c:v>
                </c:pt>
                <c:pt idx="6">
                  <c:v>81.7</c:v>
                </c:pt>
                <c:pt idx="7">
                  <c:v>44.1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MPV-D</c:v>
                </c:pt>
                <c:pt idx="5">
                  <c:v>SUV-E</c:v>
                </c:pt>
                <c:pt idx="6">
                  <c:v>Car-A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103.6</c:v>
                </c:pt>
                <c:pt idx="1">
                  <c:v>149.2</c:v>
                </c:pt>
                <c:pt idx="2">
                  <c:v>96.9</c:v>
                </c:pt>
                <c:pt idx="3">
                  <c:v>130.9</c:v>
                </c:pt>
                <c:pt idx="4">
                  <c:v>129.0</c:v>
                </c:pt>
                <c:pt idx="5">
                  <c:v>171.0</c:v>
                </c:pt>
                <c:pt idx="6">
                  <c:v>115.0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MPV-D</c:v>
                </c:pt>
                <c:pt idx="5">
                  <c:v>SUV-E</c:v>
                </c:pt>
                <c:pt idx="6">
                  <c:v>Car-A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125.9</c:v>
                </c:pt>
                <c:pt idx="1">
                  <c:v>186.6</c:v>
                </c:pt>
                <c:pt idx="2">
                  <c:v>110.1</c:v>
                </c:pt>
                <c:pt idx="3">
                  <c:v>188.6</c:v>
                </c:pt>
                <c:pt idx="4">
                  <c:v>187.2</c:v>
                </c:pt>
                <c:pt idx="5">
                  <c:v>194.1</c:v>
                </c:pt>
                <c:pt idx="6">
                  <c:v>159.0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平均整备(kg)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Lux Car-5</c:v>
                </c:pt>
                <c:pt idx="1">
                  <c:v>Lux Car</c:v>
                </c:pt>
                <c:pt idx="2">
                  <c:v>Lux SUV</c:v>
                </c:pt>
                <c:pt idx="3">
                  <c:v>MPV-D</c:v>
                </c:pt>
                <c:pt idx="4">
                  <c:v>Car-E</c:v>
                </c:pt>
                <c:pt idx="5">
                  <c:v>Lux SUV-4</c:v>
                </c:pt>
                <c:pt idx="6">
                  <c:v>MPV-B</c:v>
                </c:pt>
                <c:pt idx="7">
                  <c:v>Lux Car-4</c:v>
                </c:pt>
                <c:pt idx="8">
                  <c:v>SUV-E</c:v>
                </c:pt>
                <c:pt idx="9">
                  <c:v>Lux SUV-3</c:v>
                </c:pt>
                <c:pt idx="10">
                  <c:v>SUV-D</c:v>
                </c:pt>
                <c:pt idx="11">
                  <c:v>SUV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2888.1</c:v>
                </c:pt>
                <c:pt idx="1">
                  <c:v>2629.9</c:v>
                </c:pt>
                <c:pt idx="2">
                  <c:v>2606.5</c:v>
                </c:pt>
                <c:pt idx="3">
                  <c:v>2591.1</c:v>
                </c:pt>
                <c:pt idx="4">
                  <c:v>2530.2</c:v>
                </c:pt>
                <c:pt idx="5">
                  <c:v>2529.0</c:v>
                </c:pt>
                <c:pt idx="6">
                  <c:v>2525.8</c:v>
                </c:pt>
                <c:pt idx="7">
                  <c:v>2349.6</c:v>
                </c:pt>
                <c:pt idx="8">
                  <c:v>2328.8</c:v>
                </c:pt>
                <c:pt idx="9">
                  <c:v>2324.0</c:v>
                </c:pt>
                <c:pt idx="10">
                  <c:v>2323.6</c:v>
                </c:pt>
                <c:pt idx="11">
                  <c:v>2196.0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</c:v>
                </c:pt>
                <c:pt idx="1">
                  <c:v>9.9</c:v>
                </c:pt>
                <c:pt idx="2">
                  <c:v>6.3</c:v>
                </c:pt>
                <c:pt idx="3">
                  <c:v>-1.6</c:v>
                </c:pt>
                <c:pt idx="4">
                  <c:v>18.5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平均容量(kWh)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11.1</c:v>
                </c:pt>
                <c:pt idx="1">
                  <c:v>7.6</c:v>
                </c:pt>
                <c:pt idx="2">
                  <c:v>7.3</c:v>
                </c:pt>
                <c:pt idx="3">
                  <c:v>-6.7</c:v>
                </c:pt>
                <c:pt idx="4">
                  <c:v>14.2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平均功率(kW)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24.1</c:v>
                </c:pt>
                <c:pt idx="1">
                  <c:v>6.7</c:v>
                </c:pt>
                <c:pt idx="2">
                  <c:v>2.2</c:v>
                </c:pt>
                <c:pt idx="3">
                  <c:v>-9.0</c:v>
                </c:pt>
                <c:pt idx="4">
                  <c:v>33.6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平均整备质量(kg)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9.6</c:v>
                </c:pt>
                <c:pt idx="1">
                  <c:v>9.5</c:v>
                </c:pt>
                <c:pt idx="2">
                  <c:v>5.1</c:v>
                </c:pt>
                <c:pt idx="3">
                  <c:v>-3.4</c:v>
                </c:pt>
                <c:pt idx="4">
                  <c:v>5.7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平均能量密度(Wh/kg)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2.0</c:v>
                </c:pt>
                <c:pt idx="1">
                  <c:v>2.9</c:v>
                </c:pt>
                <c:pt idx="2">
                  <c:v>-7.2</c:v>
                </c:pt>
                <c:pt idx="3">
                  <c:v>3.0</c:v>
                </c:pt>
                <c:pt idx="4">
                  <c:v>8.3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公告数量(款)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-34.9</c:v>
                </c:pt>
                <c:pt idx="1">
                  <c:v>21.7</c:v>
                </c:pt>
                <c:pt idx="2">
                  <c:v>23.6</c:v>
                </c:pt>
                <c:pt idx="3">
                  <c:v>21.6</c:v>
                </c:pt>
                <c:pt idx="4">
                  <c:v>-35.2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32.5</c:v>
                </c:pt>
                <c:pt idx="1">
                  <c:v>2.1</c:v>
                </c:pt>
                <c:pt idx="2">
                  <c:v>11.0</c:v>
                </c:pt>
                <c:pt idx="3">
                  <c:v>24.1</c:v>
                </c:pt>
                <c:pt idx="4">
                  <c:v>53.3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平均容量(kWh)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-5.9</c:v>
                </c:pt>
                <c:pt idx="1">
                  <c:v>0.4</c:v>
                </c:pt>
                <c:pt idx="2">
                  <c:v>5.7</c:v>
                </c:pt>
                <c:pt idx="3">
                  <c:v>20.9</c:v>
                </c:pt>
                <c:pt idx="4">
                  <c:v>42.2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平均功率(kW)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31.6</c:v>
                </c:pt>
                <c:pt idx="1">
                  <c:v>1.1</c:v>
                </c:pt>
                <c:pt idx="2">
                  <c:v>3.6</c:v>
                </c:pt>
                <c:pt idx="3">
                  <c:v>-7.0</c:v>
                </c:pt>
                <c:pt idx="4">
                  <c:v>20.2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平均整备质量(kg)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3.3</c:v>
                </c:pt>
                <c:pt idx="1">
                  <c:v>1.7</c:v>
                </c:pt>
                <c:pt idx="2">
                  <c:v>-0.4</c:v>
                </c:pt>
                <c:pt idx="3">
                  <c:v>7.4</c:v>
                </c:pt>
                <c:pt idx="4">
                  <c:v>7.2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平均能量密度(Wh/kg)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7.2</c:v>
                </c:pt>
                <c:pt idx="1">
                  <c:v>0.3</c:v>
                </c:pt>
                <c:pt idx="2">
                  <c:v>-3.5</c:v>
                </c:pt>
                <c:pt idx="3">
                  <c:v>11.2</c:v>
                </c:pt>
                <c:pt idx="4">
                  <c:v>5.4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公告数量(款)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-34.9</c:v>
                </c:pt>
                <c:pt idx="1">
                  <c:v>21.7</c:v>
                </c:pt>
                <c:pt idx="2">
                  <c:v>23.6</c:v>
                </c:pt>
                <c:pt idx="3">
                  <c:v>21.6</c:v>
                </c:pt>
                <c:pt idx="4">
                  <c:v>-35.2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新能源榜｜按细分市场（已锚定车系 Top12）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车系级销量（辆）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Sheet1!$A$2:$A$13</c:f>
              <c:strCache>
                <c:ptCount val="12"/>
                <c:pt idx="0">
                  <c:v>SUV-D</c:v>
                </c:pt>
                <c:pt idx="1">
                  <c:v>SUV-C</c:v>
                </c:pt>
                <c:pt idx="2">
                  <c:v>Car-C</c:v>
                </c:pt>
                <c:pt idx="3">
                  <c:v>Car-B</c:v>
                </c:pt>
                <c:pt idx="4">
                  <c:v>Car-D</c:v>
                </c:pt>
                <c:pt idx="5">
                  <c:v>Lux SUV-3</c:v>
                </c:pt>
                <c:pt idx="6">
                  <c:v>SUV-B</c:v>
                </c:pt>
                <c:pt idx="7">
                  <c:v>Car-A</c:v>
                </c:pt>
                <c:pt idx="8">
                  <c:v>MPV-D</c:v>
                </c:pt>
                <c:pt idx="9">
                  <c:v>SUV</c:v>
                </c:pt>
                <c:pt idx="10">
                  <c:v>Lux Car-3</c:v>
                </c:pt>
                <c:pt idx="11">
                  <c:v>SUV-E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164936.0</c:v>
                </c:pt>
                <c:pt idx="1">
                  <c:v>149065.0</c:v>
                </c:pt>
                <c:pt idx="2">
                  <c:v>110419.0</c:v>
                </c:pt>
                <c:pt idx="3">
                  <c:v>72128.0</c:v>
                </c:pt>
                <c:pt idx="4">
                  <c:v>66112.0</c:v>
                </c:pt>
                <c:pt idx="5">
                  <c:v>54979.0</c:v>
                </c:pt>
                <c:pt idx="6">
                  <c:v>47275.0</c:v>
                </c:pt>
                <c:pt idx="7">
                  <c:v>30587.0</c:v>
                </c:pt>
                <c:pt idx="8">
                  <c:v>30083.0</c:v>
                </c:pt>
                <c:pt idx="9">
                  <c:v>20702.0</c:v>
                </c:pt>
                <c:pt idx="10">
                  <c:v>14949.0</c:v>
                </c:pt>
                <c:pt idx="11">
                  <c:v>10891.0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新能源榜｜BEV / PHEV / EREV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车系级销量（辆）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BEV</c:v>
                </c:pt>
                <c:pt idx="1">
                  <c:v>PHEV</c:v>
                </c:pt>
                <c:pt idx="2">
                  <c:v>EREV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523457.0</c:v>
                </c:pt>
                <c:pt idx="1">
                  <c:v>231121.0</c:v>
                </c:pt>
                <c:pt idx="2">
                  <c:v>43123.0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新能源榜｜按价格带（6 箱）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全榜车系级销量（辆）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Sheet1!$A$2:$A$7</c:f>
              <c:strCache>
                <c:ptCount val="6"/>
                <c:pt idx="0">
                  <c:v>≤10万</c:v>
                </c:pt>
                <c:pt idx="1">
                  <c:v>10-15万</c:v>
                </c:pt>
                <c:pt idx="2">
                  <c:v>15-20万</c:v>
                </c:pt>
                <c:pt idx="3">
                  <c:v>20-30万</c:v>
                </c:pt>
                <c:pt idx="4">
                  <c:v>30-40万</c:v>
                </c:pt>
                <c:pt idx="5">
                  <c:v>40万+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245911.0</c:v>
                </c:pt>
                <c:pt idx="1">
                  <c:v>315222.0</c:v>
                </c:pt>
                <c:pt idx="2">
                  <c:v>134419.0</c:v>
                </c:pt>
                <c:pt idx="3">
                  <c:v>211655.0</c:v>
                </c:pt>
                <c:pt idx="4">
                  <c:v>116382.0</c:v>
                </c:pt>
                <c:pt idx="5">
                  <c:v>67669.0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已锚定车系销量（辆）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Sheet1!$A$2:$A$7</c:f>
              <c:strCache>
                <c:ptCount val="6"/>
                <c:pt idx="0">
                  <c:v>≤10万</c:v>
                </c:pt>
                <c:pt idx="1">
                  <c:v>10-15万</c:v>
                </c:pt>
                <c:pt idx="2">
                  <c:v>15-20万</c:v>
                </c:pt>
                <c:pt idx="3">
                  <c:v>20-30万</c:v>
                </c:pt>
                <c:pt idx="4">
                  <c:v>30-40万</c:v>
                </c:pt>
                <c:pt idx="5">
                  <c:v>40万+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152899.0</c:v>
                </c:pt>
                <c:pt idx="1">
                  <c:v>196371.0</c:v>
                </c:pt>
                <c:pt idx="2">
                  <c:v>99698.0</c:v>
                </c:pt>
                <c:pt idx="3">
                  <c:v>182169.0</c:v>
                </c:pt>
                <c:pt idx="4">
                  <c:v>109144.0</c:v>
                </c:pt>
                <c:pt idx="5">
                  <c:v>56614.0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新能源榜｜2026-09 vs 2026-03 价格带占比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2026-09 占比%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≤10万</c:v>
                </c:pt>
                <c:pt idx="1">
                  <c:v>10-15万</c:v>
                </c:pt>
                <c:pt idx="2">
                  <c:v>15-20万</c:v>
                </c:pt>
                <c:pt idx="3">
                  <c:v>20-30万</c:v>
                </c:pt>
                <c:pt idx="4">
                  <c:v>30-40万</c:v>
                </c:pt>
                <c:pt idx="5">
                  <c:v>40万+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22.53</c:v>
                </c:pt>
                <c:pt idx="1">
                  <c:v>28.89</c:v>
                </c:pt>
                <c:pt idx="2">
                  <c:v>12.32</c:v>
                </c:pt>
                <c:pt idx="3">
                  <c:v>19.4</c:v>
                </c:pt>
                <c:pt idx="4">
                  <c:v>10.66</c:v>
                </c:pt>
                <c:pt idx="5">
                  <c:v>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2026-03 基期%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≤10万</c:v>
                </c:pt>
                <c:pt idx="1">
                  <c:v>10-15万</c:v>
                </c:pt>
                <c:pt idx="2">
                  <c:v>15-20万</c:v>
                </c:pt>
                <c:pt idx="3">
                  <c:v>20-30万</c:v>
                </c:pt>
                <c:pt idx="4">
                  <c:v>30-40万</c:v>
                </c:pt>
                <c:pt idx="5">
                  <c:v>40万+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21.02</c:v>
                </c:pt>
                <c:pt idx="1">
                  <c:v>29.56</c:v>
                </c:pt>
                <c:pt idx="2">
                  <c:v>12.8</c:v>
                </c:pt>
                <c:pt idx="3">
                  <c:v>16.91</c:v>
                </c:pt>
                <c:pt idx="4">
                  <c:v>12.87</c:v>
                </c:pt>
                <c:pt idx="5">
                  <c:v>6.84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新能源榜｜销量加权 vs 公告等权（各 282 车系）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销量加权均值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Sheet1!$A$2:$A$7</c:f>
              <c:strCache>
                <c:ptCount val="6"/>
                <c:pt idx="0">
                  <c:v>续航(km)</c:v>
                </c:pt>
                <c:pt idx="1">
                  <c:v>容量(kWh)</c:v>
                </c:pt>
                <c:pt idx="2">
                  <c:v>电耗(kWh/100km)</c:v>
                </c:pt>
                <c:pt idx="3">
                  <c:v>整备(kg)</c:v>
                </c:pt>
                <c:pt idx="4">
                  <c:v>功率(kW)</c:v>
                </c:pt>
                <c:pt idx="5">
                  <c:v>能量密度(Wh/kg)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417.529</c:v>
                </c:pt>
                <c:pt idx="1">
                  <c:v>54.322</c:v>
                </c:pt>
                <c:pt idx="2">
                  <c:v>14.885</c:v>
                </c:pt>
                <c:pt idx="3">
                  <c:v>1965.804</c:v>
                </c:pt>
                <c:pt idx="4">
                  <c:v>216.431</c:v>
                </c:pt>
                <c:pt idx="5">
                  <c:v>146.659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公告等权均值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Sheet1!$A$2:$A$7</c:f>
              <c:strCache>
                <c:ptCount val="6"/>
                <c:pt idx="0">
                  <c:v>续航(km)</c:v>
                </c:pt>
                <c:pt idx="1">
                  <c:v>容量(kWh)</c:v>
                </c:pt>
                <c:pt idx="2">
                  <c:v>电耗(kWh/100km)</c:v>
                </c:pt>
                <c:pt idx="3">
                  <c:v>整备(kg)</c:v>
                </c:pt>
                <c:pt idx="4">
                  <c:v>功率(kW)</c:v>
                </c:pt>
                <c:pt idx="5">
                  <c:v>能量密度(Wh/kg)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395.069</c:v>
                </c:pt>
                <c:pt idx="1">
                  <c:v>56.668</c:v>
                </c:pt>
                <c:pt idx="2">
                  <c:v>16.136</c:v>
                </c:pt>
                <c:pt idx="3">
                  <c:v>2111.141</c:v>
                </c:pt>
                <c:pt idx="4">
                  <c:v>216.703</c:v>
                </c:pt>
                <c:pt idx="5">
                  <c:v>147.364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新能源榜｜续航分箱销量占比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销量占比%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&lt;300km</c:v>
                </c:pt>
                <c:pt idx="1">
                  <c:v>300-400km</c:v>
                </c:pt>
                <c:pt idx="2">
                  <c:v>400-500km</c:v>
                </c:pt>
                <c:pt idx="3">
                  <c:v>500-600km</c:v>
                </c:pt>
                <c:pt idx="4">
                  <c:v>600-700km</c:v>
                </c:pt>
                <c:pt idx="5">
                  <c:v>≥700km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33.0163</c:v>
                </c:pt>
                <c:pt idx="1">
                  <c:v>6.4505</c:v>
                </c:pt>
                <c:pt idx="2">
                  <c:v>16.873</c:v>
                </c:pt>
                <c:pt idx="3">
                  <c:v>21.2883</c:v>
                </c:pt>
                <c:pt idx="4">
                  <c:v>13.5116</c:v>
                </c:pt>
                <c:pt idx="5">
                  <c:v>8.8603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新能源榜｜分动力类型技术均值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Sheet1!$A$2:$A$7</c:f>
              <c:strCache>
                <c:ptCount val="6"/>
                <c:pt idx="0">
                  <c:v>续航(km)</c:v>
                </c:pt>
                <c:pt idx="1">
                  <c:v>容量(kWh)</c:v>
                </c:pt>
                <c:pt idx="2">
                  <c:v>电耗(kWh/100km)</c:v>
                </c:pt>
                <c:pt idx="3">
                  <c:v>整备(kg/10)</c:v>
                </c:pt>
                <c:pt idx="4">
                  <c:v>功率(kW)</c:v>
                </c:pt>
                <c:pt idx="5">
                  <c:v>密度(Wh/kg)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530.161</c:v>
                </c:pt>
                <c:pt idx="1">
                  <c:v>62.23</c:v>
                </c:pt>
                <c:pt idx="2">
                  <c:v>12.992</c:v>
                </c:pt>
                <c:pt idx="3">
                  <c:v>1833.234</c:v>
                </c:pt>
                <c:pt idx="4">
                  <c:v>223.838</c:v>
                </c:pt>
                <c:pt idx="5">
                  <c:v>151.241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Sheet1!$A$2:$A$7</c:f>
              <c:strCache>
                <c:ptCount val="6"/>
                <c:pt idx="0">
                  <c:v>续航(km)</c:v>
                </c:pt>
                <c:pt idx="1">
                  <c:v>容量(kWh)</c:v>
                </c:pt>
                <c:pt idx="2">
                  <c:v>电耗(kWh/100km)</c:v>
                </c:pt>
                <c:pt idx="3">
                  <c:v>整备(kg/10)</c:v>
                </c:pt>
                <c:pt idx="4">
                  <c:v>功率(kW)</c:v>
                </c:pt>
                <c:pt idx="5">
                  <c:v>密度(Wh/kg)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195.712</c:v>
                </c:pt>
                <c:pt idx="1">
                  <c:v>37.19</c:v>
                </c:pt>
                <c:pt idx="2">
                  <c:v>18.036</c:v>
                </c:pt>
                <c:pt idx="3">
                  <c:v>2169.397</c:v>
                </c:pt>
                <c:pt idx="4">
                  <c:v>187.168</c:v>
                </c:pt>
                <c:pt idx="5">
                  <c:v>136.098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EREV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cat>
            <c:strRef>
              <c:f>Sheet1!$A$2:$A$7</c:f>
              <c:strCache>
                <c:ptCount val="6"/>
                <c:pt idx="0">
                  <c:v>续航(km)</c:v>
                </c:pt>
                <c:pt idx="1">
                  <c:v>容量(kWh)</c:v>
                </c:pt>
                <c:pt idx="2">
                  <c:v>电耗(kWh/100km)</c:v>
                </c:pt>
                <c:pt idx="3">
                  <c:v>整备(kg/10)</c:v>
                </c:pt>
                <c:pt idx="4">
                  <c:v>功率(kW)</c:v>
                </c:pt>
                <c:pt idx="5">
                  <c:v>密度(Wh/kg)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239.162</c:v>
                </c:pt>
                <c:pt idx="1">
                  <c:v>50.158</c:v>
                </c:pt>
                <c:pt idx="2">
                  <c:v>20.978</c:v>
                </c:pt>
                <c:pt idx="3">
                  <c:v>2483.557</c:v>
                </c:pt>
                <c:pt idx="4">
                  <c:v>285.554</c:v>
                </c:pt>
                <c:pt idx="5">
                  <c:v>144.247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新能源榜｜CR3/CR5/CR10（%）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CR3%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车系（全榜）</c:v>
                </c:pt>
                <c:pt idx="1">
                  <c:v>车系（已锚定）</c:v>
                </c:pt>
                <c:pt idx="2">
                  <c:v>品牌</c:v>
                </c:pt>
                <c:pt idx="3">
                  <c:v>企业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11.1878</c:v>
                </c:pt>
                <c:pt idx="1">
                  <c:v>15.3163</c:v>
                </c:pt>
                <c:pt idx="2">
                  <c:v>39.1145</c:v>
                </c:pt>
                <c:pt idx="3">
                  <c:v>44.3551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CR5%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车系（全榜）</c:v>
                </c:pt>
                <c:pt idx="1">
                  <c:v>车系（已锚定）</c:v>
                </c:pt>
                <c:pt idx="2">
                  <c:v>品牌</c:v>
                </c:pt>
                <c:pt idx="3">
                  <c:v>企业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15.2662</c:v>
                </c:pt>
                <c:pt idx="1">
                  <c:v>20.8997</c:v>
                </c:pt>
                <c:pt idx="2">
                  <c:v>52.2588</c:v>
                </c:pt>
                <c:pt idx="3">
                  <c:v>58.3834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CR10%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cat>
            <c:strRef>
              <c:f>Sheet1!$A$2:$A$5</c:f>
              <c:strCache>
                <c:ptCount val="4"/>
                <c:pt idx="0">
                  <c:v>车系（全榜）</c:v>
                </c:pt>
                <c:pt idx="1">
                  <c:v>车系（已锚定）</c:v>
                </c:pt>
                <c:pt idx="2">
                  <c:v>品牌</c:v>
                </c:pt>
                <c:pt idx="3">
                  <c:v>企业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22.8207</c:v>
                </c:pt>
                <c:pt idx="1">
                  <c:v>30.8074</c:v>
                </c:pt>
                <c:pt idx="2">
                  <c:v>71.0819</c:v>
                </c:pt>
                <c:pt idx="3">
                  <c:v>79.4245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HHI（0-10000）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车系（全榜）</c:v>
                </c:pt>
                <c:pt idx="1">
                  <c:v>车系（已锚定）</c:v>
                </c:pt>
                <c:pt idx="2">
                  <c:v>品牌</c:v>
                </c:pt>
                <c:pt idx="3">
                  <c:v>企业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112.71</c:v>
                </c:pt>
                <c:pt idx="1">
                  <c:v>175.06</c:v>
                </c:pt>
                <c:pt idx="2">
                  <c:v>802.89</c:v>
                </c:pt>
                <c:pt idx="3">
                  <c:v>1051.33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新能源榜｜Top20 企业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销量（辆）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Sheet1!$A$2:$A$21</c:f>
              <c:strCache>
                <c:ptCount val="20"/>
                <c:pt idx="0">
                  <c:v>蔚来汽车科技（安徽）有限公司</c:v>
                </c:pt>
                <c:pt idx="1">
                  <c:v>广汽乘用车有限公司</c:v>
                </c:pt>
                <c:pt idx="2">
                  <c:v>浙江极氪智能科技有限公司</c:v>
                </c:pt>
                <c:pt idx="3">
                  <c:v>东风汽车有限公司</c:v>
                </c:pt>
                <c:pt idx="4">
                  <c:v>上汽大众汽车有限公司</c:v>
                </c:pt>
                <c:pt idx="5">
                  <c:v>广州小鹏汽车科技有限公司</c:v>
                </c:pt>
                <c:pt idx="6">
                  <c:v>奇瑞汽车股份有限公司</c:v>
                </c:pt>
                <c:pt idx="7">
                  <c:v>安徽江淮汽车集团股份有限公司</c:v>
                </c:pt>
                <c:pt idx="8">
                  <c:v>长城汽车股份有限公司</c:v>
                </c:pt>
                <c:pt idx="9">
                  <c:v>赛力斯汽车有限公司</c:v>
                </c:pt>
                <c:pt idx="10">
                  <c:v>中国第一汽车集团有限公司</c:v>
                </c:pt>
                <c:pt idx="11">
                  <c:v>上汽通用五菱汽车股份有限公司</c:v>
                </c:pt>
                <c:pt idx="12">
                  <c:v>北京理想汽车有限公司</c:v>
                </c:pt>
                <c:pt idx="13">
                  <c:v>小米汽车科技有限公司</c:v>
                </c:pt>
                <c:pt idx="14">
                  <c:v>(未定)</c:v>
                </c:pt>
                <c:pt idx="15">
                  <c:v>上海汽车集团股份有限公司</c:v>
                </c:pt>
                <c:pt idx="16">
                  <c:v>特斯拉(上海)有限公司</c:v>
                </c:pt>
                <c:pt idx="17">
                  <c:v>零跑汽车有限公司</c:v>
                </c:pt>
                <c:pt idx="18">
                  <c:v>浙江吉利汽车有限公司</c:v>
                </c:pt>
                <c:pt idx="19">
                  <c:v>比亚迪汽车工业有限公司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5839.0</c:v>
                </c:pt>
                <c:pt idx="1">
                  <c:v>6356.0</c:v>
                </c:pt>
                <c:pt idx="2">
                  <c:v>8000.0</c:v>
                </c:pt>
                <c:pt idx="3">
                  <c:v>8083.0</c:v>
                </c:pt>
                <c:pt idx="4">
                  <c:v>8759.0</c:v>
                </c:pt>
                <c:pt idx="5">
                  <c:v>10229.0</c:v>
                </c:pt>
                <c:pt idx="6">
                  <c:v>11706.0</c:v>
                </c:pt>
                <c:pt idx="7">
                  <c:v>14813.0</c:v>
                </c:pt>
                <c:pt idx="8">
                  <c:v>18674.0</c:v>
                </c:pt>
                <c:pt idx="9">
                  <c:v>22612.0</c:v>
                </c:pt>
                <c:pt idx="10">
                  <c:v>23306.0</c:v>
                </c:pt>
                <c:pt idx="11">
                  <c:v>31165.0</c:v>
                </c:pt>
                <c:pt idx="12">
                  <c:v>31817.0</c:v>
                </c:pt>
                <c:pt idx="13">
                  <c:v>40015.0</c:v>
                </c:pt>
                <c:pt idx="14">
                  <c:v>41542.0</c:v>
                </c:pt>
                <c:pt idx="15">
                  <c:v>47067.0</c:v>
                </c:pt>
                <c:pt idx="16">
                  <c:v>64837.0</c:v>
                </c:pt>
                <c:pt idx="17">
                  <c:v>66257.0</c:v>
                </c:pt>
                <c:pt idx="18">
                  <c:v>84222.0</c:v>
                </c:pt>
                <c:pt idx="19">
                  <c:v>203342.0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新能源榜｜Top20 品牌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销量（辆）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Sheet1!$A$2:$A$21</c:f>
              <c:strCache>
                <c:ptCount val="20"/>
                <c:pt idx="0">
                  <c:v>大众(VOLKSWAGEN)</c:v>
                </c:pt>
                <c:pt idx="1">
                  <c:v>长城</c:v>
                </c:pt>
                <c:pt idx="2">
                  <c:v>岚图</c:v>
                </c:pt>
                <c:pt idx="3">
                  <c:v>蔚来</c:v>
                </c:pt>
                <c:pt idx="4">
                  <c:v>领克</c:v>
                </c:pt>
                <c:pt idx="5">
                  <c:v>小鹏</c:v>
                </c:pt>
                <c:pt idx="6">
                  <c:v>赛力斯</c:v>
                </c:pt>
                <c:pt idx="7">
                  <c:v>腾势</c:v>
                </c:pt>
                <c:pt idx="8">
                  <c:v>一汽</c:v>
                </c:pt>
                <c:pt idx="9">
                  <c:v>极氪</c:v>
                </c:pt>
                <c:pt idx="10">
                  <c:v>奇瑞</c:v>
                </c:pt>
                <c:pt idx="11">
                  <c:v>五菱</c:v>
                </c:pt>
                <c:pt idx="12">
                  <c:v>名爵</c:v>
                </c:pt>
                <c:pt idx="13">
                  <c:v>理想</c:v>
                </c:pt>
                <c:pt idx="14">
                  <c:v>方程豹</c:v>
                </c:pt>
                <c:pt idx="15">
                  <c:v>小米</c:v>
                </c:pt>
                <c:pt idx="16">
                  <c:v>特斯拉</c:v>
                </c:pt>
                <c:pt idx="17">
                  <c:v>零跑</c:v>
                </c:pt>
                <c:pt idx="18">
                  <c:v>吉利</c:v>
                </c:pt>
                <c:pt idx="19">
                  <c:v>比亚迪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8922.0</c:v>
                </c:pt>
                <c:pt idx="1">
                  <c:v>9127.0</c:v>
                </c:pt>
                <c:pt idx="2">
                  <c:v>10045.0</c:v>
                </c:pt>
                <c:pt idx="3">
                  <c:v>12046.0</c:v>
                </c:pt>
                <c:pt idx="4">
                  <c:v>12257.0</c:v>
                </c:pt>
                <c:pt idx="5">
                  <c:v>13046.0</c:v>
                </c:pt>
                <c:pt idx="6">
                  <c:v>13961.0</c:v>
                </c:pt>
                <c:pt idx="7">
                  <c:v>14324.0</c:v>
                </c:pt>
                <c:pt idx="8">
                  <c:v>15481.0</c:v>
                </c:pt>
                <c:pt idx="9">
                  <c:v>17210.0</c:v>
                </c:pt>
                <c:pt idx="10">
                  <c:v>18918.0</c:v>
                </c:pt>
                <c:pt idx="11">
                  <c:v>30825.0</c:v>
                </c:pt>
                <c:pt idx="12">
                  <c:v>31548.0</c:v>
                </c:pt>
                <c:pt idx="13">
                  <c:v>31817.0</c:v>
                </c:pt>
                <c:pt idx="14">
                  <c:v>37044.0</c:v>
                </c:pt>
                <c:pt idx="15">
                  <c:v>40015.0</c:v>
                </c:pt>
                <c:pt idx="16">
                  <c:v>64837.0</c:v>
                </c:pt>
                <c:pt idx="17">
                  <c:v>66257.0</c:v>
                </c:pt>
                <c:pt idx="18">
                  <c:v>79002.0</c:v>
                </c:pt>
                <c:pt idx="19">
                  <c:v>166758.0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新能源榜｜已锚定车系口径月度演化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BEV（辆）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613974.0</c:v>
                </c:pt>
                <c:pt idx="1">
                  <c:v>275978.0</c:v>
                </c:pt>
                <c:pt idx="2">
                  <c:v>232640.0</c:v>
                </c:pt>
                <c:pt idx="3">
                  <c:v>435037.0</c:v>
                </c:pt>
                <c:pt idx="4">
                  <c:v>418780.0</c:v>
                </c:pt>
                <c:pt idx="5">
                  <c:v>471228.0</c:v>
                </c:pt>
                <c:pt idx="6">
                  <c:v>498616.0</c:v>
                </c:pt>
                <c:pt idx="7">
                  <c:v>447625.0</c:v>
                </c:pt>
                <c:pt idx="8">
                  <c:v>486799.0</c:v>
                </c:pt>
                <c:pt idx="9">
                  <c:v>523457.0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PHEV（辆）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390952.0</c:v>
                </c:pt>
                <c:pt idx="1">
                  <c:v>158069.0</c:v>
                </c:pt>
                <c:pt idx="2">
                  <c:v>119752.0</c:v>
                </c:pt>
                <c:pt idx="3">
                  <c:v>191600.0</c:v>
                </c:pt>
                <c:pt idx="4">
                  <c:v>181425.0</c:v>
                </c:pt>
                <c:pt idx="5">
                  <c:v>205626.0</c:v>
                </c:pt>
                <c:pt idx="6">
                  <c:v>217005.0</c:v>
                </c:pt>
                <c:pt idx="7">
                  <c:v>208811.0</c:v>
                </c:pt>
                <c:pt idx="8">
                  <c:v>210742.0</c:v>
                </c:pt>
                <c:pt idx="9">
                  <c:v>231121.0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EREV（辆）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76280.0</c:v>
                </c:pt>
                <c:pt idx="1">
                  <c:v>46802.0</c:v>
                </c:pt>
                <c:pt idx="2">
                  <c:v>26839.0</c:v>
                </c:pt>
                <c:pt idx="3">
                  <c:v>34715.0</c:v>
                </c:pt>
                <c:pt idx="4">
                  <c:v>33920.0</c:v>
                </c:pt>
                <c:pt idx="5">
                  <c:v>31811.0</c:v>
                </c:pt>
                <c:pt idx="6">
                  <c:v>25294.0</c:v>
                </c:pt>
                <c:pt idx="7">
                  <c:v>34714.0</c:v>
                </c:pt>
                <c:pt idx="8">
                  <c:v>36614.0</c:v>
                </c:pt>
                <c:pt idx="9">
                  <c:v>43123.0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新能源榜｜全榜新能源月度总量（对照）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全榜新能源（辆）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1344760.0</c:v>
                </c:pt>
                <c:pt idx="1">
                  <c:v>596349.0</c:v>
                </c:pt>
                <c:pt idx="2">
                  <c:v>466097.0</c:v>
                </c:pt>
                <c:pt idx="3">
                  <c:v>858304.0</c:v>
                </c:pt>
                <c:pt idx="4">
                  <c:v>846379.0</c:v>
                </c:pt>
                <c:pt idx="5">
                  <c:v>960354.0</c:v>
                </c:pt>
                <c:pt idx="6">
                  <c:v>1017165.0</c:v>
                </c:pt>
                <c:pt idx="7">
                  <c:v>951901.0</c:v>
                </c:pt>
                <c:pt idx="8">
                  <c:v>1013107.0</c:v>
                </c:pt>
                <c:pt idx="9">
                  <c:v>1092064.0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新能源榜｜全榜口径月度价格带销量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≤10万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228817.0</c:v>
                </c:pt>
                <c:pt idx="1">
                  <c:v>94733.0</c:v>
                </c:pt>
                <c:pt idx="2">
                  <c:v>76808.0</c:v>
                </c:pt>
                <c:pt idx="3">
                  <c:v>180405.0</c:v>
                </c:pt>
                <c:pt idx="4">
                  <c:v>180910.0</c:v>
                </c:pt>
                <c:pt idx="5">
                  <c:v>205753.0</c:v>
                </c:pt>
                <c:pt idx="6">
                  <c:v>208320.0</c:v>
                </c:pt>
                <c:pt idx="7">
                  <c:v>202794.0</c:v>
                </c:pt>
                <c:pt idx="8">
                  <c:v>232433.0</c:v>
                </c:pt>
                <c:pt idx="9">
                  <c:v>245911.0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10-15万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362572.0</c:v>
                </c:pt>
                <c:pt idx="1">
                  <c:v>136793.0</c:v>
                </c:pt>
                <c:pt idx="2">
                  <c:v>111344.0</c:v>
                </c:pt>
                <c:pt idx="3">
                  <c:v>253685.0</c:v>
                </c:pt>
                <c:pt idx="4">
                  <c:v>238136.0</c:v>
                </c:pt>
                <c:pt idx="5">
                  <c:v>249653.0</c:v>
                </c:pt>
                <c:pt idx="6">
                  <c:v>284816.0</c:v>
                </c:pt>
                <c:pt idx="7">
                  <c:v>271138.0</c:v>
                </c:pt>
                <c:pt idx="8">
                  <c:v>275357.0</c:v>
                </c:pt>
                <c:pt idx="9">
                  <c:v>315222.0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15-20万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183234.0</c:v>
                </c:pt>
                <c:pt idx="1">
                  <c:v>74137.0</c:v>
                </c:pt>
                <c:pt idx="2">
                  <c:v>57203.0</c:v>
                </c:pt>
                <c:pt idx="3">
                  <c:v>109854.0</c:v>
                </c:pt>
                <c:pt idx="4">
                  <c:v>133751.0</c:v>
                </c:pt>
                <c:pt idx="5">
                  <c:v>151121.0</c:v>
                </c:pt>
                <c:pt idx="6">
                  <c:v>143555.0</c:v>
                </c:pt>
                <c:pt idx="7">
                  <c:v>130502.0</c:v>
                </c:pt>
                <c:pt idx="8">
                  <c:v>127911.0</c:v>
                </c:pt>
                <c:pt idx="9">
                  <c:v>134419.0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20-30万</c:v>
                </c:pt>
              </c:strCache>
            </c:strRef>
          </c:tx>
          <c:spPr>
            <a:solidFill>
              <a:srgbClr val="BDD7EE"/>
            </a:solidFill>
            <a:ln>
              <a:solidFill>
                <a:srgbClr val="BDD7EE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235028.0</c:v>
                </c:pt>
                <c:pt idx="1">
                  <c:v>106651.0</c:v>
                </c:pt>
                <c:pt idx="2">
                  <c:v>89341.0</c:v>
                </c:pt>
                <c:pt idx="3">
                  <c:v>145174.0</c:v>
                </c:pt>
                <c:pt idx="4">
                  <c:v>142201.0</c:v>
                </c:pt>
                <c:pt idx="5">
                  <c:v>188434.0</c:v>
                </c:pt>
                <c:pt idx="6">
                  <c:v>182639.0</c:v>
                </c:pt>
                <c:pt idx="7">
                  <c:v>172348.0</c:v>
                </c:pt>
                <c:pt idx="8">
                  <c:v>209956.0</c:v>
                </c:pt>
                <c:pt idx="9">
                  <c:v>211655.0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30-40万</c:v>
                </c:pt>
              </c:strCache>
            </c:strRef>
          </c:tx>
          <c:spPr>
            <a:solidFill>
              <a:srgbClr val="595959"/>
            </a:solidFill>
            <a:ln>
              <a:solidFill>
                <a:srgbClr val="595959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232295.0</c:v>
                </c:pt>
                <c:pt idx="1">
                  <c:v>126703.0</c:v>
                </c:pt>
                <c:pt idx="2">
                  <c:v>92072.0</c:v>
                </c:pt>
                <c:pt idx="3">
                  <c:v>110473.0</c:v>
                </c:pt>
                <c:pt idx="4">
                  <c:v>92677.0</c:v>
                </c:pt>
                <c:pt idx="5">
                  <c:v>99668.0</c:v>
                </c:pt>
                <c:pt idx="6">
                  <c:v>117098.0</c:v>
                </c:pt>
                <c:pt idx="7">
                  <c:v>98426.0</c:v>
                </c:pt>
                <c:pt idx="8">
                  <c:v>97774.0</c:v>
                </c:pt>
                <c:pt idx="9">
                  <c:v>116382.0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40万+</c:v>
                </c:pt>
              </c:strCache>
            </c:strRef>
          </c:tx>
          <c:spPr>
            <a:solidFill>
              <a:srgbClr val="44546A"/>
            </a:solidFill>
            <a:ln>
              <a:solidFill>
                <a:srgbClr val="44546A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102756.0</c:v>
                </c:pt>
                <c:pt idx="1">
                  <c:v>57332.0</c:v>
                </c:pt>
                <c:pt idx="2">
                  <c:v>39329.0</c:v>
                </c:pt>
                <c:pt idx="3">
                  <c:v>58713.0</c:v>
                </c:pt>
                <c:pt idx="4">
                  <c:v>58704.0</c:v>
                </c:pt>
                <c:pt idx="5">
                  <c:v>65725.0</c:v>
                </c:pt>
                <c:pt idx="6">
                  <c:v>80737.0</c:v>
                </c:pt>
                <c:pt idx="7">
                  <c:v>76693.0</c:v>
                </c:pt>
                <c:pt idx="8">
                  <c:v>69674.0</c:v>
                </c:pt>
                <c:pt idx="9">
                  <c:v>67669.0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新能源榜｜全榜口径月度细分市场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SUV-D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267880.0</c:v>
                </c:pt>
                <c:pt idx="1">
                  <c:v>169912.0</c:v>
                </c:pt>
                <c:pt idx="2">
                  <c:v>113516.0</c:v>
                </c:pt>
                <c:pt idx="3">
                  <c:v>146575.0</c:v>
                </c:pt>
                <c:pt idx="4">
                  <c:v>148927.0</c:v>
                </c:pt>
                <c:pt idx="5">
                  <c:v>162464.0</c:v>
                </c:pt>
                <c:pt idx="6">
                  <c:v>166120.0</c:v>
                </c:pt>
                <c:pt idx="7">
                  <c:v>168990.0</c:v>
                </c:pt>
                <c:pt idx="8">
                  <c:v>168978.0</c:v>
                </c:pt>
                <c:pt idx="9">
                  <c:v>164936.0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SUV-C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164646.0</c:v>
                </c:pt>
                <c:pt idx="1">
                  <c:v>67418.0</c:v>
                </c:pt>
                <c:pt idx="2">
                  <c:v>53768.0</c:v>
                </c:pt>
                <c:pt idx="3">
                  <c:v>124455.0</c:v>
                </c:pt>
                <c:pt idx="4">
                  <c:v>119379.0</c:v>
                </c:pt>
                <c:pt idx="5">
                  <c:v>141376.0</c:v>
                </c:pt>
                <c:pt idx="6">
                  <c:v>151618.0</c:v>
                </c:pt>
                <c:pt idx="7">
                  <c:v>140462.0</c:v>
                </c:pt>
                <c:pt idx="8">
                  <c:v>140040.0</c:v>
                </c:pt>
                <c:pt idx="9">
                  <c:v>149065.0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Car-C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170360.0</c:v>
                </c:pt>
                <c:pt idx="1">
                  <c:v>50509.0</c:v>
                </c:pt>
                <c:pt idx="2">
                  <c:v>35176.0</c:v>
                </c:pt>
                <c:pt idx="3">
                  <c:v>82838.0</c:v>
                </c:pt>
                <c:pt idx="4">
                  <c:v>80071.0</c:v>
                </c:pt>
                <c:pt idx="5">
                  <c:v>84521.0</c:v>
                </c:pt>
                <c:pt idx="6">
                  <c:v>87194.0</c:v>
                </c:pt>
                <c:pt idx="7">
                  <c:v>84181.0</c:v>
                </c:pt>
                <c:pt idx="8">
                  <c:v>84141.0</c:v>
                </c:pt>
                <c:pt idx="9">
                  <c:v>110419.0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Car-B</c:v>
                </c:pt>
              </c:strCache>
            </c:strRef>
          </c:tx>
          <c:spPr>
            <a:solidFill>
              <a:srgbClr val="BDD7EE"/>
            </a:solidFill>
            <a:ln>
              <a:solidFill>
                <a:srgbClr val="BDD7EE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75516.0</c:v>
                </c:pt>
                <c:pt idx="1">
                  <c:v>40983.0</c:v>
                </c:pt>
                <c:pt idx="2">
                  <c:v>41483.0</c:v>
                </c:pt>
                <c:pt idx="3">
                  <c:v>64549.0</c:v>
                </c:pt>
                <c:pt idx="4">
                  <c:v>60175.0</c:v>
                </c:pt>
                <c:pt idx="5">
                  <c:v>64157.0</c:v>
                </c:pt>
                <c:pt idx="6">
                  <c:v>58666.0</c:v>
                </c:pt>
                <c:pt idx="7">
                  <c:v>56880.0</c:v>
                </c:pt>
                <c:pt idx="8">
                  <c:v>68162.0</c:v>
                </c:pt>
                <c:pt idx="9">
                  <c:v>72128.0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Car-D</c:v>
                </c:pt>
              </c:strCache>
            </c:strRef>
          </c:tx>
          <c:spPr>
            <a:solidFill>
              <a:srgbClr val="595959"/>
            </a:solidFill>
            <a:ln>
              <a:solidFill>
                <a:srgbClr val="595959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79380.0</c:v>
                </c:pt>
                <c:pt idx="1">
                  <c:v>29401.0</c:v>
                </c:pt>
                <c:pt idx="2">
                  <c:v>23274.0</c:v>
                </c:pt>
                <c:pt idx="3">
                  <c:v>41936.0</c:v>
                </c:pt>
                <c:pt idx="4">
                  <c:v>57680.0</c:v>
                </c:pt>
                <c:pt idx="5">
                  <c:v>57225.0</c:v>
                </c:pt>
                <c:pt idx="6">
                  <c:v>63187.0</c:v>
                </c:pt>
                <c:pt idx="7">
                  <c:v>60624.0</c:v>
                </c:pt>
                <c:pt idx="8">
                  <c:v>60010.0</c:v>
                </c:pt>
                <c:pt idx="9">
                  <c:v>66112.0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Lux SUV-3</c:v>
                </c:pt>
              </c:strCache>
            </c:strRef>
          </c:tx>
          <c:spPr>
            <a:solidFill>
              <a:srgbClr val="44546A"/>
            </a:solidFill>
            <a:ln>
              <a:solidFill>
                <a:srgbClr val="44546A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76839.0</c:v>
                </c:pt>
                <c:pt idx="1">
                  <c:v>20416.0</c:v>
                </c:pt>
                <c:pt idx="2">
                  <c:v>28526.0</c:v>
                </c:pt>
                <c:pt idx="3">
                  <c:v>46149.0</c:v>
                </c:pt>
                <c:pt idx="4">
                  <c:v>28770.0</c:v>
                </c:pt>
                <c:pt idx="5">
                  <c:v>34584.0</c:v>
                </c:pt>
                <c:pt idx="6">
                  <c:v>44112.0</c:v>
                </c:pt>
                <c:pt idx="7">
                  <c:v>29815.0</c:v>
                </c:pt>
                <c:pt idx="8">
                  <c:v>34125.0</c:v>
                </c:pt>
                <c:pt idx="9">
                  <c:v>54979.0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SUV-B</c:v>
                </c:pt>
              </c:strCache>
            </c:strRef>
          </c:tx>
          <c:spPr>
            <a:solidFill>
              <a:srgbClr val="2E75B6"/>
            </a:solidFill>
            <a:ln>
              <a:solidFill>
                <a:srgbClr val="2E75B6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26476.0</c:v>
                </c:pt>
                <c:pt idx="1">
                  <c:v>7017.0</c:v>
                </c:pt>
                <c:pt idx="2">
                  <c:v>6354.0</c:v>
                </c:pt>
                <c:pt idx="3">
                  <c:v>29664.0</c:v>
                </c:pt>
                <c:pt idx="4">
                  <c:v>31810.0</c:v>
                </c:pt>
                <c:pt idx="5">
                  <c:v>43074.0</c:v>
                </c:pt>
                <c:pt idx="6">
                  <c:v>45866.0</c:v>
                </c:pt>
                <c:pt idx="7">
                  <c:v>49540.0</c:v>
                </c:pt>
                <c:pt idx="8">
                  <c:v>56070.0</c:v>
                </c:pt>
                <c:pt idx="9">
                  <c:v>47275.0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MPV-D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rgbClr val="C0504D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Sheet1!$I$2:$I$11</c:f>
              <c:numCache>
                <c:formatCode>General</c:formatCode>
                <c:ptCount val="10"/>
                <c:pt idx="0">
                  <c:v>42654.0</c:v>
                </c:pt>
                <c:pt idx="1">
                  <c:v>22022.0</c:v>
                </c:pt>
                <c:pt idx="2">
                  <c:v>18439.0</c:v>
                </c:pt>
                <c:pt idx="3">
                  <c:v>24879.0</c:v>
                </c:pt>
                <c:pt idx="4">
                  <c:v>26087.0</c:v>
                </c:pt>
                <c:pt idx="5">
                  <c:v>26214.0</c:v>
                </c:pt>
                <c:pt idx="6">
                  <c:v>35211.0</c:v>
                </c:pt>
                <c:pt idx="7">
                  <c:v>36825.0</c:v>
                </c:pt>
                <c:pt idx="8">
                  <c:v>37358.0</c:v>
                </c:pt>
                <c:pt idx="9">
                  <c:v>30083.0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9E480A"/>
            </a:solidFill>
            <a:ln>
              <a:solidFill>
                <a:srgbClr val="9E480A"/>
              </a:solidFill>
            </a:ln>
          </c:spPr>
          <c:cat>
            <c:strRef>
              <c:f>Sheet1!$A$2:$A$11</c:f>
              <c:strCache>
                <c:ptCount val="10"/>
                <c:pt idx="0">
                  <c:v>2025-12</c:v>
                </c:pt>
                <c:pt idx="1">
                  <c:v>2026-01</c:v>
                </c:pt>
                <c:pt idx="2">
                  <c:v>2026-02</c:v>
                </c:pt>
                <c:pt idx="3">
                  <c:v>2026-03</c:v>
                </c:pt>
                <c:pt idx="4">
                  <c:v>2026-04</c:v>
                </c:pt>
                <c:pt idx="5">
                  <c:v>2026-05</c:v>
                </c:pt>
                <c:pt idx="6">
                  <c:v>2026-06</c:v>
                </c:pt>
                <c:pt idx="7">
                  <c:v>2026-07</c:v>
                </c:pt>
                <c:pt idx="8">
                  <c:v>2026-08</c:v>
                </c:pt>
                <c:pt idx="9">
                  <c:v>2026-09</c:v>
                </c:pt>
              </c:strCache>
            </c:strRef>
          </c:cat>
          <c:val>
            <c:numRef>
              <c:f>Sheet1!$J$2:$J$11</c:f>
              <c:numCache>
                <c:formatCode>General</c:formatCode>
                <c:ptCount val="10"/>
                <c:pt idx="0">
                  <c:v>177455.0</c:v>
                </c:pt>
                <c:pt idx="1">
                  <c:v>73171.0</c:v>
                </c:pt>
                <c:pt idx="2">
                  <c:v>58695.0</c:v>
                </c:pt>
                <c:pt idx="3">
                  <c:v>100307.0</c:v>
                </c:pt>
                <c:pt idx="4">
                  <c:v>81226.0</c:v>
                </c:pt>
                <c:pt idx="5">
                  <c:v>95050.0</c:v>
                </c:pt>
                <c:pt idx="6">
                  <c:v>88941.0</c:v>
                </c:pt>
                <c:pt idx="7">
                  <c:v>63833.0</c:v>
                </c:pt>
                <c:pt idx="8">
                  <c:v>85271.0</c:v>
                </c:pt>
                <c:pt idx="9">
                  <c:v>102704.0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新能源榜｜车系位次变动分布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车系数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≤-50</c:v>
                </c:pt>
                <c:pt idx="1">
                  <c:v>-49~-10</c:v>
                </c:pt>
                <c:pt idx="2">
                  <c:v>-9~-1</c:v>
                </c:pt>
                <c:pt idx="3">
                  <c:v>0</c:v>
                </c:pt>
                <c:pt idx="4">
                  <c:v>+1~+9</c:v>
                </c:pt>
                <c:pt idx="5">
                  <c:v>+10~+49</c:v>
                </c:pt>
                <c:pt idx="6">
                  <c:v>≥+50</c:v>
                </c:pt>
                <c:pt idx="7">
                  <c:v>缺失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29.0</c:v>
                </c:pt>
                <c:pt idx="1">
                  <c:v>155.0</c:v>
                </c:pt>
                <c:pt idx="2">
                  <c:v>79.0</c:v>
                </c:pt>
                <c:pt idx="3">
                  <c:v>39.0</c:v>
                </c:pt>
                <c:pt idx="4">
                  <c:v>46.0</c:v>
                </c:pt>
                <c:pt idx="5">
                  <c:v>49.0</c:v>
                </c:pt>
                <c:pt idx="6">
                  <c:v>14.0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新能源榜｜341~412 批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公告车型数（条）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Sheet1!$A$2:$A$73</c:f>
              <c:strCache>
                <c:ptCount val="72"/>
                <c:pt idx="0">
                  <c:v>341</c:v>
                </c:pt>
                <c:pt idx="1">
                  <c:v>342</c:v>
                </c:pt>
                <c:pt idx="2">
                  <c:v>343</c:v>
                </c:pt>
                <c:pt idx="3">
                  <c:v>344</c:v>
                </c:pt>
                <c:pt idx="4">
                  <c:v>345</c:v>
                </c:pt>
                <c:pt idx="5">
                  <c:v>346</c:v>
                </c:pt>
                <c:pt idx="6">
                  <c:v>347</c:v>
                </c:pt>
                <c:pt idx="7">
                  <c:v>348</c:v>
                </c:pt>
                <c:pt idx="8">
                  <c:v>349</c:v>
                </c:pt>
                <c:pt idx="9">
                  <c:v>350</c:v>
                </c:pt>
                <c:pt idx="10">
                  <c:v>351</c:v>
                </c:pt>
                <c:pt idx="11">
                  <c:v>352</c:v>
                </c:pt>
                <c:pt idx="12">
                  <c:v>353</c:v>
                </c:pt>
                <c:pt idx="13">
                  <c:v>354</c:v>
                </c:pt>
                <c:pt idx="14">
                  <c:v>355</c:v>
                </c:pt>
                <c:pt idx="15">
                  <c:v>356</c:v>
                </c:pt>
                <c:pt idx="16">
                  <c:v>357</c:v>
                </c:pt>
                <c:pt idx="17">
                  <c:v>358</c:v>
                </c:pt>
                <c:pt idx="18">
                  <c:v>359</c:v>
                </c:pt>
                <c:pt idx="19">
                  <c:v>360</c:v>
                </c:pt>
                <c:pt idx="20">
                  <c:v>361</c:v>
                </c:pt>
                <c:pt idx="21">
                  <c:v>362</c:v>
                </c:pt>
                <c:pt idx="22">
                  <c:v>363</c:v>
                </c:pt>
                <c:pt idx="23">
                  <c:v>364</c:v>
                </c:pt>
                <c:pt idx="24">
                  <c:v>365</c:v>
                </c:pt>
                <c:pt idx="25">
                  <c:v>366</c:v>
                </c:pt>
                <c:pt idx="26">
                  <c:v>367</c:v>
                </c:pt>
                <c:pt idx="27">
                  <c:v>368</c:v>
                </c:pt>
                <c:pt idx="28">
                  <c:v>369</c:v>
                </c:pt>
                <c:pt idx="29">
                  <c:v>370</c:v>
                </c:pt>
                <c:pt idx="30">
                  <c:v>371</c:v>
                </c:pt>
                <c:pt idx="31">
                  <c:v>372</c:v>
                </c:pt>
                <c:pt idx="32">
                  <c:v>373</c:v>
                </c:pt>
                <c:pt idx="33">
                  <c:v>374</c:v>
                </c:pt>
                <c:pt idx="34">
                  <c:v>375</c:v>
                </c:pt>
                <c:pt idx="35">
                  <c:v>376</c:v>
                </c:pt>
                <c:pt idx="36">
                  <c:v>377</c:v>
                </c:pt>
                <c:pt idx="37">
                  <c:v>378</c:v>
                </c:pt>
                <c:pt idx="38">
                  <c:v>379</c:v>
                </c:pt>
                <c:pt idx="39">
                  <c:v>380</c:v>
                </c:pt>
                <c:pt idx="40">
                  <c:v>381</c:v>
                </c:pt>
                <c:pt idx="41">
                  <c:v>382</c:v>
                </c:pt>
                <c:pt idx="42">
                  <c:v>383</c:v>
                </c:pt>
                <c:pt idx="43">
                  <c:v>384</c:v>
                </c:pt>
                <c:pt idx="44">
                  <c:v>385</c:v>
                </c:pt>
                <c:pt idx="45">
                  <c:v>386</c:v>
                </c:pt>
                <c:pt idx="46">
                  <c:v>387</c:v>
                </c:pt>
                <c:pt idx="47">
                  <c:v>388</c:v>
                </c:pt>
                <c:pt idx="48">
                  <c:v>389</c:v>
                </c:pt>
                <c:pt idx="49">
                  <c:v>390</c:v>
                </c:pt>
                <c:pt idx="50">
                  <c:v>391</c:v>
                </c:pt>
                <c:pt idx="51">
                  <c:v>392</c:v>
                </c:pt>
                <c:pt idx="52">
                  <c:v>393</c:v>
                </c:pt>
                <c:pt idx="53">
                  <c:v>394</c:v>
                </c:pt>
                <c:pt idx="54">
                  <c:v>395</c:v>
                </c:pt>
                <c:pt idx="55">
                  <c:v>396</c:v>
                </c:pt>
                <c:pt idx="56">
                  <c:v>397</c:v>
                </c:pt>
                <c:pt idx="57">
                  <c:v>398</c:v>
                </c:pt>
                <c:pt idx="58">
                  <c:v>399</c:v>
                </c:pt>
                <c:pt idx="59">
                  <c:v>400</c:v>
                </c:pt>
                <c:pt idx="60">
                  <c:v>401</c:v>
                </c:pt>
                <c:pt idx="61">
                  <c:v>402</c:v>
                </c:pt>
                <c:pt idx="62">
                  <c:v>403</c:v>
                </c:pt>
                <c:pt idx="63">
                  <c:v>404</c:v>
                </c:pt>
                <c:pt idx="64">
                  <c:v>405</c:v>
                </c:pt>
                <c:pt idx="65">
                  <c:v>406</c:v>
                </c:pt>
                <c:pt idx="66">
                  <c:v>407</c:v>
                </c:pt>
                <c:pt idx="67">
                  <c:v>408</c:v>
                </c:pt>
                <c:pt idx="68">
                  <c:v>409</c:v>
                </c:pt>
                <c:pt idx="69">
                  <c:v>410</c:v>
                </c:pt>
                <c:pt idx="70">
                  <c:v>411</c:v>
                </c:pt>
                <c:pt idx="71">
                  <c:v>412</c:v>
                </c:pt>
              </c:strCache>
            </c:strRef>
          </c:cat>
          <c:val>
            <c:numRef>
              <c:f>Sheet1!$B$2:$B$73</c:f>
              <c:numCache>
                <c:formatCode>General</c:formatCode>
                <c:ptCount val="72"/>
                <c:pt idx="0">
                  <c:v>144.0</c:v>
                </c:pt>
                <c:pt idx="1">
                  <c:v>88.0</c:v>
                </c:pt>
                <c:pt idx="2">
                  <c:v>128.0</c:v>
                </c:pt>
                <c:pt idx="3">
                  <c:v>83.0</c:v>
                </c:pt>
                <c:pt idx="4">
                  <c:v>101.0</c:v>
                </c:pt>
                <c:pt idx="5">
                  <c:v>74.0</c:v>
                </c:pt>
                <c:pt idx="6">
                  <c:v>72.0</c:v>
                </c:pt>
                <c:pt idx="7">
                  <c:v>88.0</c:v>
                </c:pt>
                <c:pt idx="8">
                  <c:v>61.0</c:v>
                </c:pt>
                <c:pt idx="9">
                  <c:v>62.0</c:v>
                </c:pt>
                <c:pt idx="10">
                  <c:v>105.0</c:v>
                </c:pt>
                <c:pt idx="11">
                  <c:v>54.0</c:v>
                </c:pt>
                <c:pt idx="12">
                  <c:v>25.0</c:v>
                </c:pt>
                <c:pt idx="13">
                  <c:v>44.0</c:v>
                </c:pt>
                <c:pt idx="14">
                  <c:v>65.0</c:v>
                </c:pt>
                <c:pt idx="15">
                  <c:v>46.0</c:v>
                </c:pt>
                <c:pt idx="16">
                  <c:v>71.0</c:v>
                </c:pt>
                <c:pt idx="17">
                  <c:v>2.0</c:v>
                </c:pt>
                <c:pt idx="18">
                  <c:v>52.0</c:v>
                </c:pt>
                <c:pt idx="19">
                  <c:v>42.0</c:v>
                </c:pt>
                <c:pt idx="20">
                  <c:v>16.0</c:v>
                </c:pt>
                <c:pt idx="21">
                  <c:v>59.0</c:v>
                </c:pt>
                <c:pt idx="22">
                  <c:v>40.0</c:v>
                </c:pt>
                <c:pt idx="23">
                  <c:v>7.0</c:v>
                </c:pt>
                <c:pt idx="24">
                  <c:v>81.0</c:v>
                </c:pt>
                <c:pt idx="25">
                  <c:v>51.0</c:v>
                </c:pt>
                <c:pt idx="26">
                  <c:v>64.0</c:v>
                </c:pt>
                <c:pt idx="27">
                  <c:v>44.0</c:v>
                </c:pt>
                <c:pt idx="28">
                  <c:v>66.0</c:v>
                </c:pt>
                <c:pt idx="29">
                  <c:v>60.0</c:v>
                </c:pt>
                <c:pt idx="30">
                  <c:v>54.0</c:v>
                </c:pt>
                <c:pt idx="31">
                  <c:v>69.0</c:v>
                </c:pt>
                <c:pt idx="32">
                  <c:v>79.0</c:v>
                </c:pt>
                <c:pt idx="33">
                  <c:v>96.0</c:v>
                </c:pt>
                <c:pt idx="34">
                  <c:v>64.0</c:v>
                </c:pt>
                <c:pt idx="35">
                  <c:v>56.0</c:v>
                </c:pt>
                <c:pt idx="36">
                  <c:v>67.0</c:v>
                </c:pt>
                <c:pt idx="37">
                  <c:v>78.0</c:v>
                </c:pt>
                <c:pt idx="38">
                  <c:v>84.0</c:v>
                </c:pt>
                <c:pt idx="39">
                  <c:v>100.0</c:v>
                </c:pt>
                <c:pt idx="40">
                  <c:v>52.0</c:v>
                </c:pt>
                <c:pt idx="41">
                  <c:v>94.0</c:v>
                </c:pt>
                <c:pt idx="42">
                  <c:v>89.0</c:v>
                </c:pt>
                <c:pt idx="43">
                  <c:v>121.0</c:v>
                </c:pt>
                <c:pt idx="44">
                  <c:v>76.0</c:v>
                </c:pt>
                <c:pt idx="45">
                  <c:v>68.0</c:v>
                </c:pt>
                <c:pt idx="46">
                  <c:v>52.0</c:v>
                </c:pt>
                <c:pt idx="47">
                  <c:v>63.0</c:v>
                </c:pt>
                <c:pt idx="48">
                  <c:v>56.0</c:v>
                </c:pt>
                <c:pt idx="49">
                  <c:v>130.0</c:v>
                </c:pt>
                <c:pt idx="50">
                  <c:v>86.0</c:v>
                </c:pt>
                <c:pt idx="51">
                  <c:v>71.0</c:v>
                </c:pt>
                <c:pt idx="52">
                  <c:v>64.0</c:v>
                </c:pt>
                <c:pt idx="53">
                  <c:v>48.0</c:v>
                </c:pt>
                <c:pt idx="54">
                  <c:v>98.0</c:v>
                </c:pt>
                <c:pt idx="55">
                  <c:v>78.0</c:v>
                </c:pt>
                <c:pt idx="56">
                  <c:v>129.0</c:v>
                </c:pt>
                <c:pt idx="57">
                  <c:v>112.0</c:v>
                </c:pt>
                <c:pt idx="58">
                  <c:v>99.0</c:v>
                </c:pt>
                <c:pt idx="59">
                  <c:v>99.0</c:v>
                </c:pt>
                <c:pt idx="60">
                  <c:v>137.0</c:v>
                </c:pt>
                <c:pt idx="61">
                  <c:v>177.0</c:v>
                </c:pt>
                <c:pt idx="62">
                  <c:v>84.0</c:v>
                </c:pt>
                <c:pt idx="63">
                  <c:v>92.0</c:v>
                </c:pt>
                <c:pt idx="64">
                  <c:v>68.0</c:v>
                </c:pt>
                <c:pt idx="65">
                  <c:v>85.0</c:v>
                </c:pt>
                <c:pt idx="66">
                  <c:v>112.0</c:v>
                </c:pt>
                <c:pt idx="67">
                  <c:v>108.0</c:v>
                </c:pt>
                <c:pt idx="68">
                  <c:v>111.0</c:v>
                </c:pt>
                <c:pt idx="69">
                  <c:v>70.0</c:v>
                </c:pt>
                <c:pt idx="70">
                  <c:v>46.0</c:v>
                </c:pt>
                <c:pt idx="71">
                  <c:v>58.0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统一 2026-09 快照销量（辆）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Sheet1!$A$2:$A$73</c:f>
              <c:strCache>
                <c:ptCount val="72"/>
                <c:pt idx="0">
                  <c:v>341</c:v>
                </c:pt>
                <c:pt idx="1">
                  <c:v>342</c:v>
                </c:pt>
                <c:pt idx="2">
                  <c:v>343</c:v>
                </c:pt>
                <c:pt idx="3">
                  <c:v>344</c:v>
                </c:pt>
                <c:pt idx="4">
                  <c:v>345</c:v>
                </c:pt>
                <c:pt idx="5">
                  <c:v>346</c:v>
                </c:pt>
                <c:pt idx="6">
                  <c:v>347</c:v>
                </c:pt>
                <c:pt idx="7">
                  <c:v>348</c:v>
                </c:pt>
                <c:pt idx="8">
                  <c:v>349</c:v>
                </c:pt>
                <c:pt idx="9">
                  <c:v>350</c:v>
                </c:pt>
                <c:pt idx="10">
                  <c:v>351</c:v>
                </c:pt>
                <c:pt idx="11">
                  <c:v>352</c:v>
                </c:pt>
                <c:pt idx="12">
                  <c:v>353</c:v>
                </c:pt>
                <c:pt idx="13">
                  <c:v>354</c:v>
                </c:pt>
                <c:pt idx="14">
                  <c:v>355</c:v>
                </c:pt>
                <c:pt idx="15">
                  <c:v>356</c:v>
                </c:pt>
                <c:pt idx="16">
                  <c:v>357</c:v>
                </c:pt>
                <c:pt idx="17">
                  <c:v>358</c:v>
                </c:pt>
                <c:pt idx="18">
                  <c:v>359</c:v>
                </c:pt>
                <c:pt idx="19">
                  <c:v>360</c:v>
                </c:pt>
                <c:pt idx="20">
                  <c:v>361</c:v>
                </c:pt>
                <c:pt idx="21">
                  <c:v>362</c:v>
                </c:pt>
                <c:pt idx="22">
                  <c:v>363</c:v>
                </c:pt>
                <c:pt idx="23">
                  <c:v>364</c:v>
                </c:pt>
                <c:pt idx="24">
                  <c:v>365</c:v>
                </c:pt>
                <c:pt idx="25">
                  <c:v>366</c:v>
                </c:pt>
                <c:pt idx="26">
                  <c:v>367</c:v>
                </c:pt>
                <c:pt idx="27">
                  <c:v>368</c:v>
                </c:pt>
                <c:pt idx="28">
                  <c:v>369</c:v>
                </c:pt>
                <c:pt idx="29">
                  <c:v>370</c:v>
                </c:pt>
                <c:pt idx="30">
                  <c:v>371</c:v>
                </c:pt>
                <c:pt idx="31">
                  <c:v>372</c:v>
                </c:pt>
                <c:pt idx="32">
                  <c:v>373</c:v>
                </c:pt>
                <c:pt idx="33">
                  <c:v>374</c:v>
                </c:pt>
                <c:pt idx="34">
                  <c:v>375</c:v>
                </c:pt>
                <c:pt idx="35">
                  <c:v>376</c:v>
                </c:pt>
                <c:pt idx="36">
                  <c:v>377</c:v>
                </c:pt>
                <c:pt idx="37">
                  <c:v>378</c:v>
                </c:pt>
                <c:pt idx="38">
                  <c:v>379</c:v>
                </c:pt>
                <c:pt idx="39">
                  <c:v>380</c:v>
                </c:pt>
                <c:pt idx="40">
                  <c:v>381</c:v>
                </c:pt>
                <c:pt idx="41">
                  <c:v>382</c:v>
                </c:pt>
                <c:pt idx="42">
                  <c:v>383</c:v>
                </c:pt>
                <c:pt idx="43">
                  <c:v>384</c:v>
                </c:pt>
                <c:pt idx="44">
                  <c:v>385</c:v>
                </c:pt>
                <c:pt idx="45">
                  <c:v>386</c:v>
                </c:pt>
                <c:pt idx="46">
                  <c:v>387</c:v>
                </c:pt>
                <c:pt idx="47">
                  <c:v>388</c:v>
                </c:pt>
                <c:pt idx="48">
                  <c:v>389</c:v>
                </c:pt>
                <c:pt idx="49">
                  <c:v>390</c:v>
                </c:pt>
                <c:pt idx="50">
                  <c:v>391</c:v>
                </c:pt>
                <c:pt idx="51">
                  <c:v>392</c:v>
                </c:pt>
                <c:pt idx="52">
                  <c:v>393</c:v>
                </c:pt>
                <c:pt idx="53">
                  <c:v>394</c:v>
                </c:pt>
                <c:pt idx="54">
                  <c:v>395</c:v>
                </c:pt>
                <c:pt idx="55">
                  <c:v>396</c:v>
                </c:pt>
                <c:pt idx="56">
                  <c:v>397</c:v>
                </c:pt>
                <c:pt idx="57">
                  <c:v>398</c:v>
                </c:pt>
                <c:pt idx="58">
                  <c:v>399</c:v>
                </c:pt>
                <c:pt idx="59">
                  <c:v>400</c:v>
                </c:pt>
                <c:pt idx="60">
                  <c:v>401</c:v>
                </c:pt>
                <c:pt idx="61">
                  <c:v>402</c:v>
                </c:pt>
                <c:pt idx="62">
                  <c:v>403</c:v>
                </c:pt>
                <c:pt idx="63">
                  <c:v>404</c:v>
                </c:pt>
                <c:pt idx="64">
                  <c:v>405</c:v>
                </c:pt>
                <c:pt idx="65">
                  <c:v>406</c:v>
                </c:pt>
                <c:pt idx="66">
                  <c:v>407</c:v>
                </c:pt>
                <c:pt idx="67">
                  <c:v>408</c:v>
                </c:pt>
                <c:pt idx="68">
                  <c:v>409</c:v>
                </c:pt>
                <c:pt idx="69">
                  <c:v>410</c:v>
                </c:pt>
                <c:pt idx="70">
                  <c:v>411</c:v>
                </c:pt>
                <c:pt idx="71">
                  <c:v>412</c:v>
                </c:pt>
              </c:strCache>
            </c:strRef>
          </c:cat>
          <c:val>
            <c:numRef>
              <c:f>Sheet1!$C$2:$C$73</c:f>
              <c:numCache>
                <c:formatCode>General</c:formatCode>
                <c:ptCount val="72"/>
                <c:pt idx="0">
                  <c:v>49472.0</c:v>
                </c:pt>
                <c:pt idx="1">
                  <c:v>82751.0</c:v>
                </c:pt>
                <c:pt idx="2">
                  <c:v>19518.0</c:v>
                </c:pt>
                <c:pt idx="3">
                  <c:v>16273.0</c:v>
                </c:pt>
                <c:pt idx="4">
                  <c:v>46294.0</c:v>
                </c:pt>
                <c:pt idx="5">
                  <c:v>108134.0</c:v>
                </c:pt>
                <c:pt idx="6">
                  <c:v>48467.0</c:v>
                </c:pt>
                <c:pt idx="7">
                  <c:v>80512.0</c:v>
                </c:pt>
                <c:pt idx="8">
                  <c:v>38205.0</c:v>
                </c:pt>
                <c:pt idx="9">
                  <c:v>20437.0</c:v>
                </c:pt>
                <c:pt idx="10">
                  <c:v>96323.0</c:v>
                </c:pt>
                <c:pt idx="11">
                  <c:v>10811.0</c:v>
                </c:pt>
                <c:pt idx="12">
                  <c:v>17694.0</c:v>
                </c:pt>
                <c:pt idx="13">
                  <c:v>17292.0</c:v>
                </c:pt>
                <c:pt idx="14">
                  <c:v>27197.0</c:v>
                </c:pt>
                <c:pt idx="15">
                  <c:v>1478.0</c:v>
                </c:pt>
                <c:pt idx="16">
                  <c:v>49495.0</c:v>
                </c:pt>
                <c:pt idx="17">
                  <c:v>0.0</c:v>
                </c:pt>
                <c:pt idx="18">
                  <c:v>19368.0</c:v>
                </c:pt>
                <c:pt idx="19">
                  <c:v>19356.0</c:v>
                </c:pt>
                <c:pt idx="20">
                  <c:v>60.0</c:v>
                </c:pt>
                <c:pt idx="21">
                  <c:v>35801.0</c:v>
                </c:pt>
                <c:pt idx="22">
                  <c:v>9154.0</c:v>
                </c:pt>
                <c:pt idx="23">
                  <c:v>2465.0</c:v>
                </c:pt>
                <c:pt idx="24">
                  <c:v>31223.0</c:v>
                </c:pt>
                <c:pt idx="25">
                  <c:v>25949.0</c:v>
                </c:pt>
                <c:pt idx="26">
                  <c:v>38878.0</c:v>
                </c:pt>
                <c:pt idx="27">
                  <c:v>26999.0</c:v>
                </c:pt>
                <c:pt idx="28">
                  <c:v>4646.0</c:v>
                </c:pt>
                <c:pt idx="29">
                  <c:v>30138.0</c:v>
                </c:pt>
                <c:pt idx="30">
                  <c:v>22708.0</c:v>
                </c:pt>
                <c:pt idx="31">
                  <c:v>23248.0</c:v>
                </c:pt>
                <c:pt idx="32">
                  <c:v>38639.0</c:v>
                </c:pt>
                <c:pt idx="33">
                  <c:v>51490.0</c:v>
                </c:pt>
                <c:pt idx="34">
                  <c:v>54286.0</c:v>
                </c:pt>
                <c:pt idx="35">
                  <c:v>80137.0</c:v>
                </c:pt>
                <c:pt idx="36">
                  <c:v>74965.0</c:v>
                </c:pt>
                <c:pt idx="37">
                  <c:v>58505.0</c:v>
                </c:pt>
                <c:pt idx="38">
                  <c:v>56060.0</c:v>
                </c:pt>
                <c:pt idx="39">
                  <c:v>50200.0</c:v>
                </c:pt>
                <c:pt idx="40">
                  <c:v>51607.0</c:v>
                </c:pt>
                <c:pt idx="41">
                  <c:v>64937.0</c:v>
                </c:pt>
                <c:pt idx="42">
                  <c:v>83870.0</c:v>
                </c:pt>
                <c:pt idx="43">
                  <c:v>34892.0</c:v>
                </c:pt>
                <c:pt idx="44">
                  <c:v>109907.0</c:v>
                </c:pt>
                <c:pt idx="45">
                  <c:v>25067.0</c:v>
                </c:pt>
                <c:pt idx="46">
                  <c:v>40971.0</c:v>
                </c:pt>
                <c:pt idx="47">
                  <c:v>25997.0</c:v>
                </c:pt>
                <c:pt idx="48">
                  <c:v>99058.0</c:v>
                </c:pt>
                <c:pt idx="49">
                  <c:v>91398.0</c:v>
                </c:pt>
                <c:pt idx="50">
                  <c:v>138137.0</c:v>
                </c:pt>
                <c:pt idx="51">
                  <c:v>64163.0</c:v>
                </c:pt>
                <c:pt idx="52">
                  <c:v>42773.0</c:v>
                </c:pt>
                <c:pt idx="53">
                  <c:v>70160.0</c:v>
                </c:pt>
                <c:pt idx="54">
                  <c:v>84442.0</c:v>
                </c:pt>
                <c:pt idx="55">
                  <c:v>92994.0</c:v>
                </c:pt>
                <c:pt idx="56">
                  <c:v>151339.0</c:v>
                </c:pt>
                <c:pt idx="57">
                  <c:v>142242.0</c:v>
                </c:pt>
                <c:pt idx="58">
                  <c:v>125510.0</c:v>
                </c:pt>
                <c:pt idx="59">
                  <c:v>97344.0</c:v>
                </c:pt>
                <c:pt idx="60">
                  <c:v>111945.0</c:v>
                </c:pt>
                <c:pt idx="61">
                  <c:v>133233.0</c:v>
                </c:pt>
                <c:pt idx="62">
                  <c:v>148321.0</c:v>
                </c:pt>
                <c:pt idx="63">
                  <c:v>105274.0</c:v>
                </c:pt>
                <c:pt idx="64">
                  <c:v>197611.0</c:v>
                </c:pt>
                <c:pt idx="65">
                  <c:v>172647.0</c:v>
                </c:pt>
                <c:pt idx="66">
                  <c:v>234639.0</c:v>
                </c:pt>
                <c:pt idx="67">
                  <c:v>105721.0</c:v>
                </c:pt>
                <c:pt idx="68">
                  <c:v>207675.0</c:v>
                </c:pt>
                <c:pt idx="69">
                  <c:v>32247.0</c:v>
                </c:pt>
                <c:pt idx="70">
                  <c:v>36818.0</c:v>
                </c:pt>
                <c:pt idx="71">
                  <c:v>9501.0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3864"/>
                </a:solidFill>
                <a:latin typeface="微软雅黑"/>
              </a:rPr>
              <a:t>2026-09 车系级月销 · 新能源榜｜Top18 品牌：公告数 vs 销量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公告车型数（条）</c:v>
                </c:pt>
              </c:strCache>
            </c:strRef>
          </c:tx>
          <c:spPr>
            <a:solidFill>
              <a:srgbClr val="1F3864"/>
            </a:solidFill>
            <a:ln>
              <a:solidFill>
                <a:srgbClr val="1F3864"/>
              </a:solidFill>
            </a:ln>
          </c:spPr>
          <c:cat>
            <c:strRef>
              <c:f>Sheet1!$A$2:$A$19</c:f>
              <c:strCache>
                <c:ptCount val="18"/>
                <c:pt idx="0">
                  <c:v>比亚迪</c:v>
                </c:pt>
                <c:pt idx="1">
                  <c:v>吉利</c:v>
                </c:pt>
                <c:pt idx="2">
                  <c:v>零跑</c:v>
                </c:pt>
                <c:pt idx="3">
                  <c:v>特斯拉</c:v>
                </c:pt>
                <c:pt idx="4">
                  <c:v>小米</c:v>
                </c:pt>
                <c:pt idx="5">
                  <c:v>方程豹</c:v>
                </c:pt>
                <c:pt idx="6">
                  <c:v>(未定)</c:v>
                </c:pt>
                <c:pt idx="7">
                  <c:v>理想</c:v>
                </c:pt>
                <c:pt idx="8">
                  <c:v>名爵</c:v>
                </c:pt>
                <c:pt idx="9">
                  <c:v>五菱</c:v>
                </c:pt>
                <c:pt idx="10">
                  <c:v>问界</c:v>
                </c:pt>
                <c:pt idx="11">
                  <c:v>奇瑞</c:v>
                </c:pt>
                <c:pt idx="12">
                  <c:v>极氪</c:v>
                </c:pt>
                <c:pt idx="13">
                  <c:v>一汽</c:v>
                </c:pt>
                <c:pt idx="14">
                  <c:v>MG</c:v>
                </c:pt>
                <c:pt idx="15">
                  <c:v>腾势</c:v>
                </c:pt>
                <c:pt idx="16">
                  <c:v>赛力斯</c:v>
                </c:pt>
                <c:pt idx="17">
                  <c:v>小鹏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478.0</c:v>
                </c:pt>
                <c:pt idx="1">
                  <c:v>151.0</c:v>
                </c:pt>
                <c:pt idx="2">
                  <c:v>148.0</c:v>
                </c:pt>
                <c:pt idx="3">
                  <c:v>32.0</c:v>
                </c:pt>
                <c:pt idx="4">
                  <c:v>28.0</c:v>
                </c:pt>
                <c:pt idx="5">
                  <c:v>44.0</c:v>
                </c:pt>
                <c:pt idx="6">
                  <c:v>295.0</c:v>
                </c:pt>
                <c:pt idx="7">
                  <c:v>89.0</c:v>
                </c:pt>
                <c:pt idx="8">
                  <c:v>23.0</c:v>
                </c:pt>
                <c:pt idx="9">
                  <c:v>179.0</c:v>
                </c:pt>
                <c:pt idx="10">
                  <c:v>29.0</c:v>
                </c:pt>
                <c:pt idx="11">
                  <c:v>186.0</c:v>
                </c:pt>
                <c:pt idx="12">
                  <c:v>96.0</c:v>
                </c:pt>
                <c:pt idx="13">
                  <c:v>39.0</c:v>
                </c:pt>
                <c:pt idx="14">
                  <c:v>1.0</c:v>
                </c:pt>
                <c:pt idx="15">
                  <c:v>62.0</c:v>
                </c:pt>
                <c:pt idx="16">
                  <c:v>66.0</c:v>
                </c:pt>
                <c:pt idx="17">
                  <c:v>110.0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车系级销量（辆）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Sheet1!$A$2:$A$19</c:f>
              <c:strCache>
                <c:ptCount val="18"/>
                <c:pt idx="0">
                  <c:v>比亚迪</c:v>
                </c:pt>
                <c:pt idx="1">
                  <c:v>吉利</c:v>
                </c:pt>
                <c:pt idx="2">
                  <c:v>零跑</c:v>
                </c:pt>
                <c:pt idx="3">
                  <c:v>特斯拉</c:v>
                </c:pt>
                <c:pt idx="4">
                  <c:v>小米</c:v>
                </c:pt>
                <c:pt idx="5">
                  <c:v>方程豹</c:v>
                </c:pt>
                <c:pt idx="6">
                  <c:v>(未定)</c:v>
                </c:pt>
                <c:pt idx="7">
                  <c:v>理想</c:v>
                </c:pt>
                <c:pt idx="8">
                  <c:v>名爵</c:v>
                </c:pt>
                <c:pt idx="9">
                  <c:v>五菱</c:v>
                </c:pt>
                <c:pt idx="10">
                  <c:v>问界</c:v>
                </c:pt>
                <c:pt idx="11">
                  <c:v>奇瑞</c:v>
                </c:pt>
                <c:pt idx="12">
                  <c:v>极氪</c:v>
                </c:pt>
                <c:pt idx="13">
                  <c:v>一汽</c:v>
                </c:pt>
                <c:pt idx="14">
                  <c:v>MG</c:v>
                </c:pt>
                <c:pt idx="15">
                  <c:v>腾势</c:v>
                </c:pt>
                <c:pt idx="16">
                  <c:v>赛力斯</c:v>
                </c:pt>
                <c:pt idx="17">
                  <c:v>小鹏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166758.0</c:v>
                </c:pt>
                <c:pt idx="1">
                  <c:v>79002.0</c:v>
                </c:pt>
                <c:pt idx="2">
                  <c:v>66257.0</c:v>
                </c:pt>
                <c:pt idx="3">
                  <c:v>64837.0</c:v>
                </c:pt>
                <c:pt idx="4">
                  <c:v>40015.0</c:v>
                </c:pt>
                <c:pt idx="5">
                  <c:v>37044.0</c:v>
                </c:pt>
                <c:pt idx="6">
                  <c:v>34014.0</c:v>
                </c:pt>
                <c:pt idx="7">
                  <c:v>31817.0</c:v>
                </c:pt>
                <c:pt idx="8">
                  <c:v>31548.0</c:v>
                </c:pt>
                <c:pt idx="9">
                  <c:v>30825.0</c:v>
                </c:pt>
                <c:pt idx="10">
                  <c:v>22529.0</c:v>
                </c:pt>
                <c:pt idx="11">
                  <c:v>18918.0</c:v>
                </c:pt>
                <c:pt idx="12">
                  <c:v>17210.0</c:v>
                </c:pt>
                <c:pt idx="13">
                  <c:v>15481.0</c:v>
                </c:pt>
                <c:pt idx="14">
                  <c:v>14577.0</c:v>
                </c:pt>
                <c:pt idx="15">
                  <c:v>14324.0</c:v>
                </c:pt>
                <c:pt idx="16">
                  <c:v>13961.0</c:v>
                </c:pt>
                <c:pt idx="17">
                  <c:v>13046.0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微软雅黑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9.xml"/><Relationship Id="rId3" Type="http://schemas.openxmlformats.org/officeDocument/2006/relationships/chart" Target="../charts/chart5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3.xml"/><Relationship Id="rId3" Type="http://schemas.openxmlformats.org/officeDocument/2006/relationships/chart" Target="../charts/chart5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47088"/>
            <a:ext cx="1463040" cy="822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NEV公告车型 | 行业分析报告</a:t>
            </a:r>
          </a:p>
          <a:p>
            <a:pPr algn="l"/>
            <a:r>
              <a:rPr sz="1700" b="0">
                <a:solidFill>
                  <a:srgbClr val="BDD7EE"/>
                </a:solidFill>
                <a:latin typeface="Arial"/>
                <a:ea typeface="微软雅黑"/>
              </a:rPr>
              <a:t>2021–2026年新能源汽车公告车型深度分析（纯乘用车口径）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7D31"/>
                </a:solidFill>
                <a:latin typeface="Arial"/>
                <a:ea typeface="微软雅黑"/>
              </a:rPr>
              <a:t>基于 5,475 条公告/公示记录 · 涵盖 BEV 与 PHEV · 7大维度67页分析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ADC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 · 生成日期 2026-09-27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执行摘要 | NEV公告车型市场核心发现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样本 5,475 条公告/公示记录（BEV 3,762 / PHEV 1,713）· 第341~412批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公告车型总量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5,475 条公告/公示记录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纯乘用车口径（5,475 条公告/公示记录 × 41 列；其中 58 条为 412 批公示记录）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BEV 平均续航 2025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540.8 km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较2021年 +30.9%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PHEV 平均纯电续航 2025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159.24 km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插混长途化、大电池化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5984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2025 年 PHEV 占比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39.2%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插混/增程持续放量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00400"/>
          <a:ext cx="1127455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691182"/>
                <a:gridCol w="1973046"/>
                <a:gridCol w="1973046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BEV(条)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PHEV(条)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合计(条)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PHEV占比%（公告口径）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BEV均值续航(km)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BEV均值容量(kWh)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54.0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445.8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673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985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521.1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69.2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64.6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465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776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608.1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73.8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目录 |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本册共 82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市场全景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7218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总览、动力类型分布、年度趋势、细分市场结构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756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动力电池分析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3055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续航、容量、类型、能量密度、分布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340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驱动与能效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88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功率、重量效率、整车能量密度、油耗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924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924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供应商格局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4728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HHI、CR趋势、Top供应商、品牌映射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079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5079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细分市场深度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105655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细分对比、续航容量、整备质量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相关性与增长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764023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相关矩阵、同比增长率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675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67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42239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关键发现、年度汇总、核心结论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市场全景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总览、动力类型分布、年度趋势、细分市场结构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E2F0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公告车型总量 5,475 条公告/公示记录（BEV 3,702 / PHEV 1,690）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2026 年公告 730 款（BEV 442 / PHEV 288）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2025 年 PHEV 占比 46.0%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BEV与PHEV公告车型数量对比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按年度统计的纯电动(BEV)与插电混动(PHEV)公告车型数量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总量自1006 条增长至1198 条（2025年）；PHEV份额升至46.0%，插混成为公告结构变量 ｜ 2021→2026 BEV 836.0→465.0（-47.1%）；2026年 PHEV=311.0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836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584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673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312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647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551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442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288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PHEV占比变化趋势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PHEV在当年公告车型总量中的占比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PHEV占比由16.9%（2021）升至46.0%（2025），增程/插混大电池车型为主要增量 ｜ 2021→2026 PHEV占比% 16.9→40.1（+137.3%）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PHEV占比%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31.7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39.5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BEV公告车型按细分市场分布 (Top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BEV以 SUV-C 为主力（529款，占Top8的21%），级别分化明显 ｜ 前三（SUV-C、Car-A、SUV-D）合计 54.9%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97280" y="1417320"/>
          <a:ext cx="10058400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34440" y="4116628"/>
          <a:ext cx="9784080" cy="1200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  <a:gridCol w="2446020"/>
                <a:gridCol w="2446020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390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Car-A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Car-B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171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456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SUV-B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127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416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PHEV细分市场分布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PHEV公告车型按细分市场分布 (Top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PHEV以 SUV-C 为主力（566款，占Top8的36%），级别分化明显 ｜ 前三（SUV-C、SUV-D、Car-D）合计 76.0%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97280" y="1417320"/>
          <a:ext cx="10058400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34440" y="4116628"/>
          <a:ext cx="9784080" cy="1200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  <a:gridCol w="2446020"/>
                <a:gridCol w="2446020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566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MPV-D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83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414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66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SUV-E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年度详细数据明细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BEV、PHEV及总量的逐年统计与PHEV占比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2026年为410批公示占位的早期统计，全年数据待正式公告发布后更新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7455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83"/>
                <a:gridCol w="2168183"/>
                <a:gridCol w="2168183"/>
                <a:gridCol w="2168183"/>
                <a:gridCol w="2601819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BEV(条)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PHEV(条)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合计(条)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PHEV占比%（公告口径）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16.9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26.7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673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985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46.0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465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776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公告车型总量年度趋势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BEV与PHEV合计公告车型数量年度变化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年度公告车型合计维持582~1117 条区间，供给充沛 ｜ 2021→2026 合计公告车型 1,006.0→730.0（-27.4%）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合计公告车型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1006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655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797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985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1198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730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动力电池分析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续航里程、电池容量、电池类型、能量密度、分布分析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E2F0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BEV 2026 平均续航 608.8 km · 平均容量 73.8 kWh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LFP 占比持续走高（2025 年 BEV 约八成）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BEV 平均能量密度 163.6 Wh/kg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BEV平均续航里程趋势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BEV车型年度平均纯电续航里程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BEV平均续航由407.18km（2021）提升至513.0km（2025），累计提升26.0% ｜ 2021→2026 平均续航(km) 407.2→608.1（+49.3%）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平均续航(km)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407.2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445.8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489.5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521.1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513.0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608.8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PHEV平均续航里程趋势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PHEV车型年度平均纯电续航里程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PHEV纯电续航由86.30km升至160.80km，大电池插混/增程驱动 ｜ 2021→2026 平均纯电续航(km) 86.3→246.4（+185.6%）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平均纯电续航(km)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86.3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114.3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116.7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129.6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160.8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246.3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BEV与PHEV续航里程对比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BEV与PHEV年度平均纯电续航里程对比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两者差距由311.5km收窄至381.6km，插混电动化属性增强 ｜ 2021→2026 BEV 407.2→608.1（+49.3%）；2026年 PHEV=246.4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407.2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86.3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445.8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114.3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489.5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116.7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521.1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129.6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513.0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160.8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608.8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246.3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BEV平均电池容量趋势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BEV车型年度平均电池容量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BEV平均容量达64.58kWh（2025），较2021年提升19.7% ｜ 2021→2026 BEV平均容量(kWh) 54.0→73.8（+36.6%）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BEV平均容量(kWh)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54.0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64.5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69.2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64.6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73.8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PHEV平均电池容量趋势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PHEV车型年度平均电池容量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PHEV平均容量升至33.71kWh，增程车型大电池配置是主因 ｜ 2021→2026 PHEV平均容量(kWh) 27.9→47.9（+71.7%）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PHEV平均容量(kWh)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27.9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26.4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27.9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47.5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BEV与PHEV电池容量对比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BEV与PHEV年度平均电池容量对比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PHEV与BEV容量差持续收窄，插混车型带电量向30kWh+迁移 ｜ 2021→2026 BEV 54.0→73.8（+36.6%）；2026年 PHEV=47.9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54.0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27.9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64.5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26.4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69.2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27.9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64.6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73.8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47.5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BEV电池类型占比趋势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BEV车型磷酸铁锂(LFP)、三元锂(NCM)及其他电池类型占比变化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LFP占比由2021年的51.9%变为2026年的79.7%，成本驱动下磷酸铁锂成为绝对主流 ｜ 2021→2026 LFP% 51.9→79.7（+53.6%）；2026年 NCM%=18.7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LFP%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NCM%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其他%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51.9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44.2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51.5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55.6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41.8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66.8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31.9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80.4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1.7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PHEV电池类型占比趋势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PHEV车型磷酸铁锂(LFP)、三元锂(NCM)及其他电池类型占比变化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LFP占比由2021年的53.5%变为2026年的70.7%，成本驱动下磷酸铁锂成为绝对主流 ｜ 2021→2026 LFP% 53.5→70.7（+32.1%）；2026年 NCM%=26.0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LFP%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NCM%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其他%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53.5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36.4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50.8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49.5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74.6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81.6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72.5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3.6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BEV电池能量密度趋势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BEV车型年度平均电池能量密度 (Wh/kg)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平均能量密度151.10Wh/kg（2025），结构上LFP占比提升拉低均值、NCM冲高 ｜ 2021→2026 BEV平均能量密度 150.7→163.6（+8.6%）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BEV平均能量密度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150.7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153.8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158.2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146.7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151.1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163.6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BEV续航里程分布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BEV车型按续航里程区间的分布数量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BEV主力区间为 300-400 段，尾部区间（≥700）逐年放大 ｜ 2021→2026 400-500 274.0→58.0（-80.3%）；2026年 600-700=111.0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029"/>
                <a:gridCol w="1375029"/>
                <a:gridCol w="1375029"/>
                <a:gridCol w="1375029"/>
                <a:gridCol w="1375029"/>
                <a:gridCol w="1375029"/>
                <a:gridCol w="1375029"/>
                <a:gridCol w="1375029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400-500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600-700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300-400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500-600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&lt;200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200-300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≥700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274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136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PHEV续航里程分布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PHEV车型按续航里程区间的分布数量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PHEV主力区间为 50--32 段，尾部区间（≥200）逐年放大 ｜ 2021→2026 125-150 23.0→22.0（-8.7%）；2026年 150-200=85.0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461"/>
                <a:gridCol w="1571461"/>
                <a:gridCol w="1571461"/>
                <a:gridCol w="1571461"/>
                <a:gridCol w="1571461"/>
                <a:gridCol w="1571461"/>
                <a:gridCol w="157146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125-150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150-200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50-100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100-125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&lt;50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≥200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158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BEV电池容量分布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BEV车型按电池容量区间的分布数量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50-60kWh 与 60-70kWh 区间为绝对主力，80kWh+ 长续航车型占比逐年提升 ｜ 2021→2026 60-70 92.0→84.0（-15.0%）；2026年 70-80=53.0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248"/>
                <a:gridCol w="1222248"/>
                <a:gridCol w="1222248"/>
                <a:gridCol w="1222248"/>
                <a:gridCol w="1222248"/>
                <a:gridCol w="1222248"/>
                <a:gridCol w="1222248"/>
                <a:gridCol w="1222248"/>
                <a:gridCol w="122224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60-70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70-80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40-50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20-30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30-40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&lt;20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50-60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≥80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158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PHEV电池容量分布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PHEV车型按电池容量区间的分布数量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PHEV容量重心上移至30kWh+，纯电续航200km级插混成为新品主流配置 ｜ 2021→2026 30-40 30.0→73.0（+143.3%）；2026年 20-30=47.0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46"/>
                <a:gridCol w="2200046"/>
                <a:gridCol w="2200046"/>
                <a:gridCol w="2200046"/>
                <a:gridCol w="220004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30-40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20-30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10-20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&lt;10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技术路线矩阵 (2x2象限)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BEV按续航-电池容量中位数划分的象限分布（分界：520km / 65.0kWh）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高续航高容量象限 1295 条为技术主力，占比 43%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45920" y="1645920"/>
          <a:ext cx="8869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/>
                <a:gridCol w="2217420"/>
                <a:gridCol w="221742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象限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占比%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高续航高容量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43.1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高续航低容量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低续航高容量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7.0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低续航低容量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1362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BEV电池类型年度数量明细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BEV各电池类型年度公告车型数量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LFP在数量维度全面超越NCM，且差距仍在扩大 ｜ 2021→2026 磷酸铁锂(LFP) 391.0→341.0（-16.1%）；2026年 三元锂(NCM)=80.0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磷酸铁锂(LFP)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三元锂(NCM)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其他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391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307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410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481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328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驱动与能效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电机功率、重量效率、整车能量密度、PHEV油耗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E2F0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BEV 平均功率 254.0 kW · 整备 1996.2 kg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BEV 平均电耗 13.2 kWh/100km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PHEV 平均纯电续航 246.3 km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BEV电机功率趋势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BEV车型年度平均电机总功率 (kW)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BEV平均功率升至190.25kW（2025），性能与快充需求双驱动 ｜ 2021→2026 BEV平均峰值功率 154.6→254.2（+64.4%）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BEV平均峰值功率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154.6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191.9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204.7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209.1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190.2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254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PHEV电机功率趋势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PHEV车型年度平均电机总功率 (kW)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PHEV平均功率183.88kW，电驱占比提升 ｜ 2021→2026 PHEV平均峰值功率 143.4→221.0（+54.1%）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PHEV平均峰值功率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143.4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188.8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190.8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197.6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183.9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218.3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整备质量趋势对比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BEV与PHEV车型年度平均整备质量 (kg)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两动力类型整备质量同步上行，大电池与配置升级是主因 ｜ 2021→2026 BEV 1,551.5→1,996.2（+28.7%）；2026年 PHEV=2,362.0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1,551.5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1,960.3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1,700.9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2,025.8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1,862.6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2,059.9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1,956.5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2,052.1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1,889.7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2,204.3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1,996.2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2,336.1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功率质量比趋势对比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BEV与PHEV车型年度平均功率质量比 (kW/kg×1000)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功率质量比稳中有升，电驱系统效率与性能同步改善 ｜ 2021→2026 BEV 101.2→123.9（+22.4%）；2026年 PHEV=92.5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101.2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77.3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107.6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91.7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105.7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91.6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110.6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95.6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96.5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82.2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124.1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91.9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整车能量密度趋势对比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BEV与PHEV年度平均整车能量密度 (Wh/kg)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BEV整车能量密度持续提升，成组效率与电池包集成技术贡献显著 ｜ 2021→2026 BEV 32.1→35.8（+11.5%）；2026年 PHEV=19.8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PHEV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32.1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12.5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34.6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35.9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19.8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BEV百公里电耗趋势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BEV车型年度平均百公里电耗 (kWh/100km)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平均电耗13.74kWh/100km（2025），车型大型化下能效仍维持稳定 ｜ 2021→2026 BEV平均电耗 13.3→13.2（-0.8%）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BEV平均电耗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13.2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不同电池类型能效对比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磷酸铁锂(LFP)与三元锂(NCM)的百公里电耗对比 (kWh/100km)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LFP与NCM电耗差距有限，能效差异更多来自车型结构与热管理 ｜ 2021→2026 LFP 12.6→12.8（+1.7%）；2026年 NCM=15.1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LFP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NCM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15.1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PHEV油耗与纯电续航趋势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综合油耗(L/100km)与纯电续航(km, 数值除以30便于同轴展示)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纯电续航大幅上行、馈电油耗同步改善，插混"可电可油"属性强化 ｜ 2021→2026 综合油耗(L) 3.2→5.4（+69.1%）；2026年 纯电续航/30(km)=8.2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综合油耗(L)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纯电续航/30(km)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8.2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 B状态油耗趋势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PHEV车型B状态(馈电)油耗年度趋势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B状态油耗降至5.65L/100km（2025），混动专用发动机普及见效 ｜ 2021→2026 B状态油耗(L) 5.3→5.6（+5.5%）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B状态油耗(L)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5.7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PHEV综合油耗按排量区间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PHEV不同排量区间的综合油耗均值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1.5L及以下排量主导新品，小排量+高功率电混架构成为主流 ｜ 前三（1.0-1.5L、1.5-2.0L、&lt;1.0L）合计 100.0%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200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综合油耗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&lt;1.0L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1.0-1.5L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5.4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1.5-2.0L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5.1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≥2.0L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 B状态油耗按排量区间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PHEV不同排量区间的B状态(馈电)油耗均值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馈电油耗随排量增大而抬升，1.0-1.5L区间能效表现最优 ｜ 前三（1.5-2.0L、1.0-1.5L、&lt;1.0L）合计 100.0%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200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16"/>
                <a:gridCol w="5500116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B状态油耗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&lt;1.0L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1.0-1.5L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5.4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1.5-2.0L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6.4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≥2.0L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供应商格局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HHI、CR趋势、Top供应商、品牌映射、交叉分析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E2F0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电芯 CR3 / 电机 CR3 保持竞合格局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Top10 供应商位次重排（详见排名页）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HHI 按有值子集计算，覆盖逐年改善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供应商HHI指数趋势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电池供应商与电机供应商年度HHI集中度指数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电池供应商HHI由1808.8降至1313.8（2025），集中度回落、二供三供普及 ｜ 2021→2026 电池供应商HHI 1,808.8→652.5（-62.1%）；2026年 电机供应商HHI=273.0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电池供应商HHI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电机供应商HHI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1,808.8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1,546.3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261.4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1,529.7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222.2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2,197.3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355.1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1,313.8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429.3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684.9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285.7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电池供应商CR集中度趋势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电池供应商CR3/CR5/CR10年度变化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CR10稳步抬升，头部规模效应与长尾出清并存 ｜ 2021→2026 CR3 66.2→36.7（-43.2%）；2026年 CR5=47.5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CR3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CR5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CR10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66.2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80.4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95.1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58.4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68.5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85.9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56.1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86.5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70.5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81.4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92.2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56.5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66.2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84.3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37.6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48.7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63.5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电机供应商CR集中度趋势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电机供应商CR3/CR5/CR10年度变化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电机供应格局较电池更分散，主机厂自供体系占比高 ｜ 2021→2026 CR3 19.7→18.4（-2.0%）；2026年 CR5=27.6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CR3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CR5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CR10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29.1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41.2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35.9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34.3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47.6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25.3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35.2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52.5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44.2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10电池供应商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电池供应商公告车型数量排名 (横向条形图)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口径说明：基于电芯供应商有值样本 1361 款（覆盖率29.5%），头部效应显著 ｜ 前三（宁德时代、弗迪、国轩高科）合计 71.5%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438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配套车型数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配套车型数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宁德时代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389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欣旺达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60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弗迪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368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比亚迪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54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国轩高科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宁德时代(四川时代)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蜂巢能源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宁德时代(江苏时代)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中创新航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亿纬动力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10电机供应商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电机供应商公告车型数量排名 (横向条形图)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电机供应商以主机厂关联企业为主，第三方头部份额稳定 ｜ 前三（长沙市比亚迪汽车有限公司、重庆青山工业有限责任公司、奇瑞汽车）合计 51.3%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438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配套车型数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配套车型数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长沙市比亚迪汽车有限公司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408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联合汽车电子有限公司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99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重庆青山工业有限责任公司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柳州赛克科技发展有限公司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95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奇瑞汽车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珠海英搏尔电气股份有限公司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86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苏州汇川联合动力系统股份有限公司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金华凌昇动力科技有限公司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79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华为数字能源技术有限公司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联合汽车电子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65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10电池-电机供应商组合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电池供应商与电机供应商组合的公告车型数量排名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头部电池+头部电驱组合绑定加深，平台化车型带动组合复用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89"/>
                <a:gridCol w="7379368"/>
                <a:gridCol w="184484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排名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电池供应商 + 电机供应商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长沙市比亚迪汽车有限公司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 + 长沙市比亚迪汽车有限公司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联合汽车电子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南京市比亚迪汽车有限公司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重庆青山工业有限责任公司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联合电子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联合汽车电子有限公司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耀宁新能源 + 威睿电动技术有限公司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长沙市比亚迪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中创新航 + 重庆青山工业有限责任公司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品牌-电池供应商映射矩阵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Top 8品牌 × Top 5电池供应商的公告车型数量交叉表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头部品牌与头部电芯绑定集中，弗迪/中创新航/宁德时代覆盖面最广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77"/>
                <a:gridCol w="1696064"/>
                <a:gridCol w="1696064"/>
                <a:gridCol w="1696064"/>
                <a:gridCol w="1696064"/>
                <a:gridCol w="1696064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品牌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宁德时代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弗迪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国轩高科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蜂巢能源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中创新航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长安牌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埃安(AION)牌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奇瑞牌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五菱牌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东风牌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吉利牌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零跑牌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品牌-电机供应商映射矩阵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Top 10品牌 × Top 5电机供应商的公告车型数量交叉表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自研自供（比亚迪/弗迪动力等）与外采双轨并行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77"/>
                <a:gridCol w="1696064"/>
                <a:gridCol w="1696064"/>
                <a:gridCol w="1696064"/>
                <a:gridCol w="1696064"/>
                <a:gridCol w="169606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品牌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长沙市比亚迪汽车有限公司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重庆青山工业有限责任公司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奇瑞汽车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苏州汇川联合动力系统股份有限公司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华为数字能源技术有限公司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长安牌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埃安(AION)牌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奇瑞牌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五菱牌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东风牌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吉利牌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零跑牌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哪吒牌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欧拉牌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电池供应商HHI年度明细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电池供应商HHI指数、供应商数量及记录数年度变化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供应商数量扩张与HHI回落同步，竞争生态趋于多元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电池供应商HHI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电池CR3(%)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1808.8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66.2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1546.3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56.1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2197.3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56.5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652.5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36.7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电机供应商CR集中度年度明细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电机供应商CR3/CR5/CR10及供应商数量年度变化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CR3波动平稳，尾部供应商随新批次持续进入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电机CR3(%)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电机CR5(%)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电机CR10(%)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38.0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41.2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35.9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34.3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47.6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52.5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43.2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细分市场深度分析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细分对比、续航容量、整备质量、详细统计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E2F0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细分市场统计基于 28 个细分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2025 年 SUV-C / Car-D 为 BEV 主力细分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细分均值对比 2023 vs 2025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BEV细分市场续航对比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8细分市场平均续航里程对比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各细分市场续航普遍上台阶，Car-A/B级涨幅最大 ｜ 峰值 2023=630.4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79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18327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523.5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540.1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530.5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618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516.3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515.2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630.4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648.3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Car-B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359.7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368.3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Car-A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261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252.7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MPV-D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601.5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513.5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SUV-B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437.7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416.9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BEV细分市场电池容量对比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8细分市场平均电池容量对比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容量升级幅度普遍在10kWh+，与续航提升互为因果 ｜ 峰值 2023=98.3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79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18327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68.3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65.3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84.2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60.5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54.8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80.3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77.7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Car-B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36.4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Car-A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24.5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MPV-D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98.3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81.7</a:t>
                      </a:r>
                    </a:p>
                  </a:txBody>
                  <a:tcPr marT="9144" marB="9144" marL="36576" marR="36576"/>
                </a:tc>
              </a:tr>
              <a:tr h="17454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SUV-B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50.9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44.1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PHEV细分市场续航对比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 Top 8细分市场平均纯电续航里程对比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插混各细分市场纯电续航全面迈入53km+时代 ｜ 峰值 2023=171.0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0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744"/>
                <a:gridCol w="3666744"/>
                <a:gridCol w="3666744"/>
              </a:tblGrid>
              <a:tr h="20618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</a:tr>
              <a:tr h="19636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103.6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125.9</a:t>
                      </a:r>
                    </a:p>
                  </a:txBody>
                  <a:tcPr marT="9144" marB="9144" marL="36576" marR="36576"/>
                </a:tc>
              </a:tr>
              <a:tr h="19636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149.2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186.6</a:t>
                      </a:r>
                    </a:p>
                  </a:txBody>
                  <a:tcPr marT="9144" marB="9144" marL="36576" marR="36576"/>
                </a:tc>
              </a:tr>
              <a:tr h="19636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Car-C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96.9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110.1</a:t>
                      </a:r>
                    </a:p>
                  </a:txBody>
                  <a:tcPr marT="9144" marB="9144" marL="36576" marR="36576"/>
                </a:tc>
              </a:tr>
              <a:tr h="19636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130.9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188.6</a:t>
                      </a:r>
                    </a:p>
                  </a:txBody>
                  <a:tcPr marT="9144" marB="9144" marL="36576" marR="36576"/>
                </a:tc>
              </a:tr>
              <a:tr h="19636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MPV-D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187.2</a:t>
                      </a:r>
                    </a:p>
                  </a:txBody>
                  <a:tcPr marT="9144" marB="9144" marL="36576" marR="36576"/>
                </a:tc>
              </a:tr>
              <a:tr h="19636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SUV-E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194.1</a:t>
                      </a:r>
                    </a:p>
                  </a:txBody>
                  <a:tcPr marT="9144" marB="9144" marL="36576" marR="36576"/>
                </a:tc>
              </a:tr>
              <a:tr h="19636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Car-A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159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BEV细分市场详细统计 (2025年)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10细分市场2025年平均续航、容量、功率、质量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SUV-C/D 与 Car-C/D 构成公告基本盘，高级别车型参数全面占优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1450848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细分市场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平均整备(kg)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1849.4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618.0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84.2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252.2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2252.8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1651.0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648.3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77.7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292.5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2051.2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1968.8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Car-B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368.3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36.4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104.3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1268.8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911.8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MPV-D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513.5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222.4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2421.4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1918.6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SUV-B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416.9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1432.8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细分市场整备质量对比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各细分市场平均整备质量排名 (kg, Top 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MPV-D与大型SUV质量领先，与电池容量、性能需求正相关 ｜ 前三（Lux Car-5、Lux Car、Lux SUV）合计 27.2%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582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58"/>
                <a:gridCol w="2750058"/>
                <a:gridCol w="2750058"/>
                <a:gridCol w="2750058"/>
              </a:tblGrid>
              <a:tr h="2356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平均整备(kg)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类目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平均整备(kg)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Lux Car-5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2,888.1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MPV-B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2,525.8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Lux Car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2,629.9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Lux Car-4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2,349.6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Lux SUV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2,606.5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SUV-E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2,328.8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MPV-D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2,591.1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Lux SUV-3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2324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Car-E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2,530.2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2,323.3</a:t>
                      </a:r>
                    </a:p>
                  </a:txBody>
                  <a:tcPr marT="9144" marB="9144" marL="36576" marR="36576"/>
                </a:tc>
              </a:tr>
              <a:tr h="2244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Lux SUV-4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2529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SUV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2196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相关性与增长分析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相关矩阵、同比增长率、增长详情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E2F0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续航-容量相关性最强（Pearson 见矩阵）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同比增长率 2022→2026 六指标全景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关键指标汇总含均值/中位数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BEV关键指标相关性矩阵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BEV核心指标间的Pearson相关系数矩阵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续航-容量高度正相关；电耗与质量正相关，反映车型大型化的能效代价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177"/>
                <a:gridCol w="1481070"/>
                <a:gridCol w="1481070"/>
                <a:gridCol w="1481070"/>
                <a:gridCol w="1481070"/>
                <a:gridCol w="1481070"/>
                <a:gridCol w="148107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PHEV关键指标相关性矩阵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PHEV核心指标间的Pearson相关系数矩阵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续航-容量高度正相关；电耗与质量正相关，反映车型大型化的能效代价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44"/>
                <a:gridCol w="1298222"/>
                <a:gridCol w="1298222"/>
                <a:gridCol w="1298222"/>
                <a:gridCol w="1298222"/>
                <a:gridCol w="1298222"/>
                <a:gridCol w="1298222"/>
                <a:gridCol w="1298222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油耗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油耗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BEV同比增长率 (按指标)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BEV核心指标的年度同比增长率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公告量增速放缓、单车参数指标保持正增长，行业由量转质；2026 为 410 批公示占位早期数据，其同比仅供参考 ｜ 2026 年 BEV 同比转正：平均续航(km) +18.5%、平均容量(kWh) +14.2%、平均功率(kW) +33.6%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438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461"/>
                <a:gridCol w="1571461"/>
                <a:gridCol w="1571461"/>
                <a:gridCol w="1571461"/>
                <a:gridCol w="1571461"/>
                <a:gridCol w="1571461"/>
                <a:gridCol w="1571466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平均续航(km)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平均容量(kWh)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平均功率(kW)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平均整备质量(kg)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平均能量密度(Wh/kg)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公告数量(款)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-34.9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21.7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-7.2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23.6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-1.6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-6.7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-3.4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21.6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-39.1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PHEV同比增长率 (按指标)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PHEV核心指标的年度同比增长率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050" b="0">
                <a:solidFill>
                  <a:srgbClr val="1F3864"/>
                </a:solidFill>
                <a:latin typeface="Arial"/>
                <a:ea typeface="微软雅黑"/>
              </a:rPr>
              <a:t>洞察  公告量增速放缓、单车参数指标保持正增长，行业由量转质；2026 为 410 批公示占位早期数据，其同比仅供参考 ｜ 2026 年 PHEV 同比转正：平均续航(km) +53.3%、平均容量(kWh) +42.2%、平均功率(kW) +20.2%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26078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116628"/>
          <a:ext cx="11000232" cy="1438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461"/>
                <a:gridCol w="1571461"/>
                <a:gridCol w="1571461"/>
                <a:gridCol w="1571461"/>
                <a:gridCol w="1571461"/>
                <a:gridCol w="1571461"/>
                <a:gridCol w="1571466"/>
              </a:tblGrid>
              <a:tr h="24963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平均续航(km)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平均容量(kWh)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平均功率(kW)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平均整备质量(kg)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平均能量密度(Wh/kg)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3864"/>
                          </a:solidFill>
                          <a:latin typeface="微软雅黑"/>
                        </a:rPr>
                        <a:t>公告数量(款)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32.5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-5.9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31.6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-34.9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21.7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-0.4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-3.5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23.6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2025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20.8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7.4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21.6</a:t>
                      </a:r>
                    </a:p>
                  </a:txBody>
                  <a:tcPr marT="9144" marB="9144" marL="36576" marR="36576"/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53.2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41.1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18.7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5.2</a:t>
                      </a:r>
                    </a:p>
                  </a:txBody>
                  <a:tcPr marT="9144" marB="9144" marL="36576" marR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-39.1</a:t>
                      </a:r>
                    </a:p>
                  </a:txBody>
                  <a:tcPr marT="9144" marB="9144" marL="36576" marR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BEV同比增长率明细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5项核心指标的年度同比增长率详情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以续航为代表的单车技术指标增速仍维持正值，量减质增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565"/>
                <a:gridCol w="1352005"/>
                <a:gridCol w="1352005"/>
                <a:gridCol w="1352005"/>
                <a:gridCol w="1352005"/>
                <a:gridCol w="1352005"/>
                <a:gridCol w="135200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18.5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-6.7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平均整备质量(kg)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-3.4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平均能量密度(Wh/kg)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PHEV同比增长率明细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 5项核心指标的年度同比增长率详情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以续航为代表的单车技术指标增速仍维持正值，量减质增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565"/>
                <a:gridCol w="1352005"/>
                <a:gridCol w="1352005"/>
                <a:gridCol w="1352005"/>
                <a:gridCol w="1352005"/>
                <a:gridCol w="1352005"/>
                <a:gridCol w="135200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53.3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-5.9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42.2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平均整备质量(kg)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-0.4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平均能量密度(Wh/kg)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关键发现、年度汇总、核心结论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E2F0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六大核心发现 + 年度指标汇总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关键对比 2021 vs 2025（完整年口径）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D8E2F0"/>
                </a:solidFill>
                <a:latin typeface="微软雅黑"/>
              </a:rPr>
              <a:t>· 数据同源：v4.9.50 口径 45 表底表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BEV年度指标汇总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BEV各年度平均续航、容量、功率、质量、能量密度（全周期描述统计）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BEV五项核心指标均较2021年改善，公告车型技术水位系统性抬升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/>
                <a:gridCol w="2503714"/>
                <a:gridCol w="2503714"/>
                <a:gridCol w="2002971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中位数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单位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kWh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1829.4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1860.0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Wh/kg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PHEV年度指标汇总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PHEV各年度平均续航、容量、功率、质量、能量密度（全周期描述统计）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PHEV五项核心指标均较2021年改善，公告车型技术水位系统性抬升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/>
                <a:gridCol w="2503714"/>
                <a:gridCol w="2503714"/>
                <a:gridCol w="2002971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中位数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单位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kWh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2154.9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2075.0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Wh/kg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关键发现总结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BEV与PHEV核心指标 2021 vs 2025 对比及变化幅度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电动化纵深推进：续航/容量/功率三线上行，LFP主导、插混大电池化、供应商多元化为三大结构特征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变化%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23.0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PHEV平均纯电续航(km)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86.3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86.3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PHEV平均容量(kWh)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谢谢 | THANK YOU</a:t>
            </a:r>
          </a:p>
          <a:p>
            <a:pPr algn="l"/>
            <a:r>
              <a:rPr sz="1100" b="0">
                <a:solidFill>
                  <a:srgbClr val="8FAADC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数据来源：工信部《道路机动车辆生产企业及产品公告》第341~412批（2021–2026）· 权威底表 v4.9.50 · 共 5,475 条公告/公示记录（全部指标为均值口径）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工信部公告 × 汽车之家销量 · 首次同源贯通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NEV 公告车型行业分析报告 2021–2026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48840"/>
            <a:ext cx="11057839" cy="274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1057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4546A"/>
                </a:solidFill>
                <a:latin typeface="微软雅黑"/>
              </a:rPr>
              <a:t>公告口径（341~412 批）与市场销量（2026-09 快照）同源贯通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71800"/>
            <a:ext cx="2654731" cy="13258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71800"/>
            <a:ext cx="50292" cy="13258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99816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5,475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2325547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底表公告记录（条）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963" y="2971800"/>
            <a:ext cx="2654731" cy="13258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7963" y="2971800"/>
            <a:ext cx="50292" cy="1325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2555" y="3099816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411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2555" y="3611880"/>
            <a:ext cx="2325547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2026-09 在榜车系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8999" y="2971800"/>
            <a:ext cx="2654731" cy="13258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2971800"/>
            <a:ext cx="50292" cy="1325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3591" y="3099816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73.05%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3611880"/>
            <a:ext cx="2325547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已锚定车系销售额覆盖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035" y="2971800"/>
            <a:ext cx="2654731" cy="13258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035" y="2971800"/>
            <a:ext cx="50292" cy="1325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627" y="3099816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864"/>
                </a:solidFill>
                <a:latin typeface="Aria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627" y="3611880"/>
            <a:ext cx="2325547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月度快照数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617720"/>
            <a:ext cx="110578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数据源：汽车之家 · 行业综合销量（车系级月零售）；参照宇宙：全车型总榜 typeid=1（仅参照） + 易车202608快照 + 懂车帝微型车榜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快照月 2026-09 · 抓取日 2026-10-19 · 交付物版本 v4.9.50 · 生成日 2026-10-19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纯乘用车口径（5,475 条公告/公示记录 × 41 列；其中 58 条为 412 批公示记录）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口径：车系级（seriesid 唯一）；底表行级值仅供单行参考，禁止加总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执行摘要 · 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五条金字塔尖结论（1/2）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50292" cy="10972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1,092,064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2026-09 新能源零售（辆）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2555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1,344,760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2025-12 低点前值（辆）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CR3 15.3 / CR10 30.8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车系集中度（%）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035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627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HHI 1,051 / 175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企业 / 车系 HHI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60320"/>
            <a:ext cx="1105783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1 总量与渗透率｜2026-09 新能源零售 1,092,064 辆、在榜车系 411 个，为 10 个月区间最高；区间经历一次政策换挡深坑（2025-12 → 次月骤降），9 个月完成修复并创新高。动力份额（销量口径，同分母）：BEV 56.79% → 65.62%（+8.83pp），2026-06 触及区间峰值 67.30% 后小幅回落——替代已进入高位平台期而非单向陡升；镜像项 PHEV 36.16% → 28.97%（-7.19pp）、EREV 7.06% → 5.41%（-1.65pp），两项合计正好对冲 BEV 增幅。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2 技术路线｜市场用钱投票的方向是"更长续航、更轻、更省电"，而不是"更大电池、更高能量密度"——销量加权 vs 公告等权的系统性偏差见 P42。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3 竞争格局｜企业（54 家）CR3 44.4、CR10 79.4、HHI 1,051；车系（282 个）CR10 仅 30.8、HHI 175——企业端高度集中、产品端极度发散。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4 公告→市场｜底表 5,475 条公告记录中 2,200 条（40.18%）在 2026-09 有对应车系销量；已锚定车系贡献 797,701 辆 = 全榜 73.05%——公告投放数量与市场份额不成正比。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5 价格带迁移｜迁移方向与幅度见 P19（同时给 2026-03 与 2025-12 双基期，避免以抢装月为唯一基期）。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07024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微软雅黑"/>
              </a:rPr>
              <a:t>每页数字均来自 audit-output/sales_linkage_analytics_20261019.json，禁止手写；结论编号可追溯《核心论断与建议纲要》v1.0 结论 1–5。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执行摘要 · 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结论（2/2）与四条建议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50292" cy="10972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799.9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2026 年转化效率（辆/公告记录）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2555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146.0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2021 年转化效率（辆/公告记录）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32,418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单车型产出最高（特斯拉，辆）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035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627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864"/>
                </a:solidFill>
                <a:latin typeface="Arial"/>
              </a:rPr>
              <a:t>188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纳入转化率评估的品牌数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60320"/>
            <a:ext cx="1105783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1F3864"/>
                </a:solidFill>
                <a:latin typeface="微软雅黑"/>
              </a:rPr>
              <a:t>4 公告→市场｜转化效率随时间单调上升：2021 年 146.0 → 2022 年 162.2 → 2023 年 352.9 → 2024 年 371.8 → 2025 年 436.4 → 2026 年 799.9（2026 年为 2021 年的 5.5 倍）。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F3864"/>
                </a:solidFill>
                <a:latin typeface="微软雅黑"/>
              </a:rPr>
              <a:t>5 价格带迁移｜2026-09 全榜价格结构见 P18；20–30 万为唯一显著扩容区间、30–40 万明显收缩（双基期对照见 P19）。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F3864"/>
                </a:solidFill>
                <a:latin typeface="微软雅黑"/>
              </a:rPr>
              <a:t>R1 把"公告→市场"转化作为产品投放常态化考核指标，并把车系名锚定表作为长期数据资产立项。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F3864"/>
                </a:solidFill>
                <a:latin typeface="微软雅黑"/>
              </a:rPr>
              <a:t>R2 产品定义评审改用"销量加权技术画像"作基准，而非公告池等权均值。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F3864"/>
                </a:solidFill>
                <a:latin typeface="微软雅黑"/>
              </a:rPr>
              <a:t>R3 投放向 20–30 万集中，审慎评估 30–40 万新增投放；≤10 万代客市场容量仍在。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F3864"/>
                </a:solidFill>
                <a:latin typeface="微软雅黑"/>
              </a:rPr>
              <a:t>R4 建立"公告 + 销量"月度同频刷新机制，把口径与最新更新日期固化在交付物上。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07024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微软雅黑"/>
              </a:rPr>
              <a:t>覆盖率与未覆盖分桶的完整解释见 P6；四条建议的观测指标见 P78 结论页。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可信度 2/3 · 交叉校验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交叉校验 · 双第三方源逐值对撞（unexplained = 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50292" cy="10058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660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懂车帝 2026-09 榜单条数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335024"/>
            <a:ext cx="50292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2555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323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与主源配对成功 · 配对率 48.94%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1335024"/>
            <a:ext cx="50292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278 / 282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新能源口径可比条数中 1% 内逐值一致 · 平均相对差 0.62%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035" y="1335024"/>
            <a:ext cx="50292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627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超 10% 偏差中无法解释者 · 超差总数 18 已全部定性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2487168"/>
          <a:ext cx="11057839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621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超差定性分类（超差总数 18）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项数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性质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口径差-动力版本拆分方式（已锚定）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两源拆分粒度差，主源值逐值等于对方兄弟行或其子集之和</a:t>
                      </a:r>
                    </a:p>
                  </a:txBody>
                  <a:tcPr marL="45720" marR="45720" marT="9144" marB="9144"/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口径差-DCD含燃油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对方榜单含燃油，主源仅新能源</a:t>
                      </a:r>
                    </a:p>
                  </a:txBody>
                  <a:tcPr marL="45720" marR="45720" marT="9144" marB="9144"/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口径差-命名粒度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同一车系两源原始命名粒度不同</a:t>
                      </a:r>
                    </a:p>
                  </a:txBody>
                  <a:tcPr marL="45720" marR="45720" marT="9144" marB="9144"/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小计（已全部证据化定性）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无法解释 0 项</a:t>
                      </a:r>
                    </a:p>
                  </a:txBody>
                  <a:tcPr marL="45720" marR="45720" marT="9144" marB="9144"/>
                </a:tc>
              </a:tr>
              <a:tr h="2621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另：同形重复认领冲突（单独登记，不计入超差）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命名粒度差，不构成数值错误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4151376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微软雅黑"/>
              </a:rPr>
              <a:t>逐值锚定示例（主源合并值 == 对方兄弟行之和，算术相等，非"近似"）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66928" y="4462272"/>
          <a:ext cx="11057839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2103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车系（主源口径）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主源值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对方兄弟行拆解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核对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领克10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4,228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领克10 2,756 ＋ 领克10 EM-P 1,472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逐值相等</a:t>
                      </a:r>
                    </a:p>
                  </a:txBody>
                  <a:tcPr marL="45720" marR="45720" marT="9144" marB="9144"/>
                </a:tc>
              </a:tr>
              <a:tr h="2103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星光730新能源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2,875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星光730 EV 2,149 ＋ 星光730 PHEV 726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逐值相等</a:t>
                      </a:r>
                    </a:p>
                  </a:txBody>
                  <a:tcPr marL="45720" marR="45720" marT="9144" marB="9144"/>
                </a:tc>
              </a:tr>
              <a:tr h="2103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五菱宏光新能源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2,339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五菱宏光纯电版 1,893 ＋ 五菱宏光增程版 446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逐值相等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66928" y="5449824"/>
            <a:ext cx="110578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参照源先行校验：易车 可比 483 条中 479 条落在 1% 内（平均相对差 0.09%）。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两家第三方源逐值对撞 + 超差项全部给出算术相等的拆解证据 + 无法解释项为 0 —— 这是本报告数字可信度的主要依据。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主源与参照源同属"行业综合销量"口径族，换源只改变覆盖率、不改变口径定义。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口径披露 1/4 · 数据源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数据来源与快照声明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1105783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6860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项目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内容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数据源（唯一主源）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汽车之家 · 行业综合销量（车系级月零售）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口径类别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新能源榜（与本项目仅 NEV 乘用车口径同宇宙）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统计粒度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车系级月零售量（seriesid 唯一）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快照月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2026-09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快照月数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10 个月：2025-12 起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抓取日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2026-10-19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官方更新节奏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数据源于行业综合销量，每月10日左右更新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API 模板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https://car-web-api.autohome.com.cn/car/rank/getList?...&amp;typeid=9&amp;subranktypei…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参照宇宙（只校验不入库）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全车型总榜 typeid=1（仅参照） + 易车202608快照 + 懂车帝微型车榜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价格分箱依据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priceinfo 指导价区间取中值后分箱：≤10万 / 10-15万 / 15-20万 / 20-30万 / 30-40万 / 40万+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底表路径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NEV公告参数汇总表_合并版（341~410批）.xlsx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底表行数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5,475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已匹配行数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2,200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底表批次范围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341~412 批（共 72 批）</a:t>
                      </a:r>
                    </a:p>
                  </a:txBody>
                  <a:tcPr marL="45720" marR="45720" marT="9144" marB="9144"/>
                </a:tc>
              </a:tr>
              <a:tr h="268605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批次口径构成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412 批为</a:t>
                      </a:r>
                      <a:r>
                        <a:rPr sz="950" b="1">
                          <a:solidFill>
                            <a:srgbClr val="44546A"/>
                          </a:solidFill>
                          <a:latin typeface="微软雅黑"/>
                        </a:rPr>
                        <a:t>公示口径</a:t>
                      </a:r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（无正式发文字号）；411 批及以前为正式公告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705856"/>
            <a:ext cx="110578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行数构成（唯一表述）：</a:t>
            </a:r>
            <a:r>
              <a:rPr sz="900" b="1">
                <a:solidFill>
                  <a:srgbClr val="595959"/>
                </a:solidFill>
                <a:latin typeface="微软雅黑"/>
              </a:rPr>
              <a:t>5,475 条 = 5,417 条正式公告 + 58 条公示批次记录（公示批次 412，公示日期 2026-10-17）</a:t>
            </a:r>
            <a:r>
              <a:rPr sz="900">
                <a:solidFill>
                  <a:srgbClr val="595959"/>
                </a:solidFill>
                <a:latin typeface="微软雅黑"/>
              </a:rPr>
              <a:t>；年度口径只取正式公告（各年合计 5,417 条），公示批单列不并入。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参照宇宙（全车型总榜 typeid=1（仅参照） + 易车202608快照 + 懂车帝微型车榜）仅用于交叉校验，不并入本底表统计。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批次口径说明：底表范围 </a:t>
            </a:r>
            <a:r>
              <a:rPr sz="900" b="1">
                <a:solidFill>
                  <a:srgbClr val="595959"/>
                </a:solidFill>
                <a:latin typeface="微软雅黑"/>
              </a:rPr>
              <a:t>341~412</a:t>
            </a:r>
            <a:r>
              <a:rPr sz="900">
                <a:solidFill>
                  <a:srgbClr val="595959"/>
                </a:solidFill>
                <a:latin typeface="微软雅黑"/>
              </a:rPr>
              <a:t>，其中 412 批为</a:t>
            </a:r>
            <a:r>
              <a:rPr sz="900" b="1">
                <a:solidFill>
                  <a:srgbClr val="595959"/>
                </a:solidFill>
                <a:latin typeface="微软雅黑"/>
              </a:rPr>
              <a:t>公示口径</a:t>
            </a:r>
            <a:r>
              <a:rPr sz="900">
                <a:solidFill>
                  <a:srgbClr val="595959"/>
                </a:solidFill>
                <a:latin typeface="微软雅黑"/>
              </a:rPr>
              <a:t>（公示日期 2026-10-17，尚无正式公告文号），故单列披露且</a:t>
            </a:r>
            <a:r>
              <a:rPr sz="900" b="1">
                <a:solidFill>
                  <a:srgbClr val="595959"/>
                </a:solidFill>
                <a:latin typeface="微软雅黑"/>
              </a:rPr>
              <a:t>不计入正式公告年度口径</a:t>
            </a:r>
            <a:r>
              <a:rPr sz="900">
                <a:solidFill>
                  <a:srgbClr val="595959"/>
                </a:solidFill>
                <a:latin typeface="微软雅黑"/>
              </a:rPr>
              <a:t>；411 批及以前为正式公告。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可信度 3/3 · 归类规则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动力类型归类规则（R1）与被否决方案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50292" cy="10058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65.62%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BEV 份额 · 523,457 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335024"/>
            <a:ext cx="50292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2555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28.97%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PHEV 份额 · 231,121 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1335024"/>
            <a:ext cx="50292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5.41%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EREV 份额 · 43,123 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335024"/>
            <a:ext cx="2654731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035" y="1335024"/>
            <a:ext cx="50292" cy="10058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627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1975104"/>
            <a:ext cx="2325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4546A"/>
                </a:solidFill>
                <a:latin typeface="微软雅黑"/>
              </a:rPr>
              <a:t>同车系多动力标签家族 74 个 · 占已锚定 32.36%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2487168"/>
          <a:ext cx="110578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347472">
                <a:tc>
                  <a:txBody>
                    <a:bodyPr/>
                    <a:lstStyle/>
                    <a:p/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R1（采纳 · canonical）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R2（否决）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规则定义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车系级动力标签 = 公告行级标签的众数（并列取字典序最小）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任一行为增程 → 整系归 EREV</a:t>
                      </a:r>
                    </a:p>
                  </a:txBody>
                  <a:tcPr marL="45720" marR="45720" marT="9144" marB="9144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与既有口径的关系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与 `dedup_rule`「分类型取众数」一致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是该规则的破例，自相矛盾</a:t>
                      </a:r>
                    </a:p>
                  </a:txBody>
                  <a:tcPr marL="45720" marR="45720" marT="9144" marB="9144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对 EREV 份额的影响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EREV 43,123 辆（5.41%）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整体搬入 16 个混合家族、50,639 辆（占已锚定 6.35%）</a:t>
                      </a:r>
                    </a:p>
                  </a:txBody>
                  <a:tcPr marL="45720" marR="45720" marT="9144" marB="9144"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结论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采纳 R1；份额口径与既有规则自洽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否决 —— 会把 BEV 家族整体计入 EREV，口径失真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4315968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微软雅黑"/>
              </a:rPr>
              <a:t>若误用 R2 将被整体改判的代表性混合家族（前 6）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66928" y="4626864"/>
          <a:ext cx="11057839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1854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车系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行级标签计数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8549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问界M9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10,262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BEV×5 / EREV×5 / PHEV×6</a:t>
                      </a:r>
                    </a:p>
                  </a:txBody>
                  <a:tcPr marL="45720" marR="45720" marT="9144" marB="9144"/>
                </a:tc>
              </a:tr>
              <a:tr h="18549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零跑C10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10,103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BEV×11 / EREV×4</a:t>
                      </a:r>
                    </a:p>
                  </a:txBody>
                  <a:tcPr marL="45720" marR="45720" marT="9144" marB="9144"/>
                </a:tc>
              </a:tr>
              <a:tr h="18549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问界M6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8,651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BEV×4 / EREV×3</a:t>
                      </a:r>
                    </a:p>
                  </a:txBody>
                  <a:tcPr marL="45720" marR="45720" marT="9144" marB="9144"/>
                </a:tc>
              </a:tr>
              <a:tr h="18549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零跑C16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6,146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BEV×11 / EREV×5 / PHEV×3</a:t>
                      </a:r>
                    </a:p>
                  </a:txBody>
                  <a:tcPr marL="45720" marR="45720" marT="9144" marB="9144"/>
                </a:tc>
              </a:tr>
              <a:tr h="18549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极氪7X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5,544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BEV×14 / EREV×2</a:t>
                      </a:r>
                    </a:p>
                  </a:txBody>
                  <a:tcPr marL="45720" marR="45720" marT="9144" marB="9144"/>
                </a:tc>
              </a:tr>
              <a:tr h="18549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零跑C11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4,341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BEV×21 / EREV×9 / PHEV×2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强制披露：同车系同时提供纯电与增程版本者，按公告行级众数归入其一。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规则依据：公告行级标签 = EREV 取真值，否则 BEV，否则 PHEV。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口径披露 2/4 · 覆盖率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覆盖率三口径与未覆盖分桶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1105783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7490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覆盖率口径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分子 / 分母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比例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含义与使用限制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① 行级（公告记录）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2,200 / 5,475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40.18%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已填销量的公告记录占比；不得当作"在售车型覆盖率"</a:t>
                      </a:r>
                    </a:p>
                  </a:txBody>
                  <a:tcPr marL="45720" marR="45720" marT="9144" marB="9144"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② 当期在榜车系级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282 / 411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68.61%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对外主张"在售覆盖"的唯一合法数字</a:t>
                      </a:r>
                    </a:p>
                  </a:txBody>
                  <a:tcPr marL="45720" marR="45720" marT="9144" marB="9144"/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   其中 销售额覆盖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797,701 / 1,092,064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73.05%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已锚定车系贡献的销量份额（辆口径）</a:t>
                      </a:r>
                    </a:p>
                  </a:txBody>
                  <a:tcPr marL="45720" marR="45720" marT="9144" marB="9144"/>
                </a:tc>
              </a:tr>
              <a:tr h="374907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③ 车系级（去重通用名称，剔无身份 12 个）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548 / 1,305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41.99%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公告侧可锚定比例；分母与分子均已剔除"无车系身份"格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346704"/>
            <a:ext cx="11057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864"/>
                </a:solidFill>
                <a:latin typeface="微软雅黑"/>
              </a:rPr>
              <a:t>未覆盖公告记录按成因四类分桶（合计 3,275 条）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657600"/>
          <a:ext cx="11057839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分桶（成因）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条数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解释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无车系身份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410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公告格未给出可锚定的车系身份</a:t>
                      </a:r>
                    </a:p>
                  </a:txBody>
                  <a:tcPr marL="45720" marR="45720" marT="9144" marB="9144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未匹配-已停产或未上量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2,749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历史批次车型，当期已无在售销量</a:t>
                      </a:r>
                    </a:p>
                  </a:txBody>
                  <a:tcPr marL="45720" marR="45720" marT="9144" marB="9144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未匹配-命名待锚定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116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有痕迹但命名未锚定，已主动 HOLD 而非硬猜</a:t>
                      </a:r>
                    </a:p>
                  </a:txBody>
                  <a:tcPr marL="45720" marR="45720" marT="9144" marB="9144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未匹配-无车系ID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公告侧无车系 ID 可对齐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138928"/>
            <a:ext cx="1105783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未覆盖 ≠ 零销量、≠ 质量缺陷：四类成因已分桶，属分析边界。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【设计使然 · 非缺数】「未匹配-已停产或未上量」2,749 行中，有 418 行</a:t>
            </a:r>
            <a:r>
              <a:rPr sz="900" b="1">
                <a:solidFill>
                  <a:srgbClr val="595959"/>
                </a:solidFill>
                <a:latin typeface="微软雅黑"/>
              </a:rPr>
              <a:t>已锚定车系ID</a:t>
            </a:r>
            <a:r>
              <a:rPr sz="900">
                <a:solidFill>
                  <a:srgbClr val="595959"/>
                </a:solidFill>
                <a:latin typeface="微软雅黑"/>
              </a:rPr>
              <a:t>（车系在 10 个月并集内、不在 2026-09 当月榜），故当期销量留空。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因此底表「车系ID」非空 2,618 ≠ 「月销量」非空 2,200 是设计使然，不是数据缺口。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在榜未关联车系与销售额份额见 P69（转化率与边界披露）。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口径披露 3/4 · 口径切换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口径统一决策与旧值处置（换源不改口径）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110578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345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决策项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处置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留痕 / 证据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底表原有月销量口径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全部为易车 2026-08 口径，与新主源月份/来源均不一致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统一决策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全列统一替换为 汽车之家 · 行业综合销量（车系级月零售） 2026-09 口径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口径一致优先于"只补空"</a:t>
                      </a:r>
                    </a:p>
                  </a:txBody>
                  <a:tcPr marL="45720" marR="45720" marT="9144" marB="9144"/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旧值留档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audit-output/sales_prior_yiche_202608_backup_20261019.json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可逐格回退比对</a:t>
                      </a:r>
                    </a:p>
                  </a:txBody>
                  <a:tcPr marL="45720" marR="45720" marT="9144" marB="9144"/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旧值处置明细（逐格）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共 806 格旧值 → 更替 757 / 清空 49 / 原样保留 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清空的 49 格：其车系不在 2026-09 当月榜，按"列 35 只写当期销量"留空；旧值已全部留档，</a:t>
                      </a:r>
                      <a:r>
                        <a:rPr sz="950" b="1">
                          <a:solidFill>
                            <a:srgbClr val="44546A"/>
                          </a:solidFill>
                          <a:latin typeface="微软雅黑"/>
                        </a:rPr>
                        <a:t>不得表述为数据丢失</a:t>
                      </a:r>
                    </a:p>
                  </a:txBody>
                  <a:tcPr marL="45720" marR="45720" marT="9144" marB="9144"/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变更留痕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逐格记入底表「变更记录」，注明"口径统一：易车202608 → 汽车之家202609"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底纹沿用销量填充色</a:t>
                      </a:r>
                    </a:p>
                  </a:txBody>
                  <a:tcPr marL="45720" marR="45720" marT="9144" marB="9144"/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回退路径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git 版本历史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交付物为跟踪文件</a:t>
                      </a:r>
                    </a:p>
                  </a:txBody>
                  <a:tcPr marL="45720" marR="45720" marT="9144" marB="9144"/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换源不改口径的证据 ①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主源与底表原易车源同属"行业综合销量"家族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独立交叉校验</a:t>
                      </a:r>
                    </a:p>
                  </a:txBody>
                  <a:tcPr marL="45720" marR="45720" marT="9144" marB="9144"/>
                </a:tc>
              </a:tr>
              <a:tr h="34544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换源不改口径的证据 ②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可比重叠格逐值比对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44546A"/>
                          </a:solidFill>
                          <a:latin typeface="微软雅黑"/>
                        </a:rPr>
                        <a:t>见 P5 交叉校验说明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626864"/>
            <a:ext cx="11057839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本页为公信力要件：口径切换必须显式披露，不得隐藏在"补空"表述之下。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主源：汽车之家 · 行业综合销量（车系级月零售）；参照宇宙：全车型总榜 typeid=1（仅参照） + 易车202608快照 + 懂车帝微型车榜。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口径披露 4/4 · 去重铁律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车系级去重口径（防重复计数）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2654731" cy="11430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50292" cy="1143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797,701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232554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车系级去重后合计（辆）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335024"/>
            <a:ext cx="2654731" cy="11430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335024"/>
            <a:ext cx="50292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2555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9,376,779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1975104"/>
            <a:ext cx="232554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底表行级直接加总（辆）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1335024"/>
            <a:ext cx="2654731" cy="11430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1335024"/>
            <a:ext cx="50292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×11.75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1975104"/>
            <a:ext cx="232554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虚高倍数（行级 ÷ 车系级）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335024"/>
            <a:ext cx="2654731" cy="11430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035" y="1335024"/>
            <a:ext cx="50292" cy="1143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627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282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1975104"/>
            <a:ext cx="232554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已锚定车系数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615184"/>
            <a:ext cx="110578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一行 = 一条公告车型记录，不是一款车；月销量是车系级指标，同车系多行共享同值。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任何汇总必须以车系（seriesid）为统计单元：底表行级直接加总会虚高 11.8 倍（9,376,779 vs 797,701）。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三重实证：①同一车系可有多个"通用名称"单元格而归属同一 seriesid；②部分「通用名称」单元格本身是多个车系的并列；③按行汇总会使单车系在 Top20 中占多席。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去重规则（契约 meta.dedup_rule）：车系级（seriesid 唯一）；底表行级值仅供单行参考，禁止加总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自检：见契约 dedup_assertions（全部通过）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66928" y="4718304"/>
          <a:ext cx="1105783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1920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去重自检项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结果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细分市场：24 个分箱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车系数合计 282 / 去重后 282 → 通过</a:t>
                      </a:r>
                    </a:p>
                  </a:txBody>
                  <a:tcPr marL="45720" marR="45720" marT="9144" marB="9144"/>
                </a:tc>
              </a:tr>
              <a:tr h="1920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动力类型：3 个分箱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车系数合计 282 / 去重后 282 → 通过</a:t>
                      </a:r>
                    </a:p>
                  </a:txBody>
                  <a:tcPr marL="45720" marR="45720" marT="9144" marB="9144"/>
                </a:tc>
              </a:tr>
              <a:tr h="1920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企业：54 个分箱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车系数合计 282 / 去重后 282 → 通过</a:t>
                      </a:r>
                    </a:p>
                  </a:txBody>
                  <a:tcPr marL="45720" marR="45720" marT="9144" marB="9144"/>
                </a:tc>
              </a:tr>
              <a:tr h="19202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品牌：76 个分箱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车系数合计 282 / 去重后 282 → 通过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每一张销量图表的脚注复用同一句去重声明，口径通篇一致。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02 市场全景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销量按细分市场结构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882896"/>
          <a:ext cx="1105783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1371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细分市场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164,936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20.68%</a:t>
                      </a:r>
                    </a:p>
                  </a:txBody>
                  <a:tcPr marL="45720" marR="45720" marT="9144" marB="9144"/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SUV-C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149,065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18.69%</a:t>
                      </a:r>
                    </a:p>
                  </a:txBody>
                  <a:tcPr marL="45720" marR="45720" marT="9144" marB="9144"/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Car-C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110,419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13.84%</a:t>
                      </a:r>
                    </a:p>
                  </a:txBody>
                  <a:tcPr marL="45720" marR="45720" marT="9144" marB="9144"/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Car-B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72,128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9.04%</a:t>
                      </a:r>
                    </a:p>
                  </a:txBody>
                  <a:tcPr marL="45720" marR="45720" marT="9144" marB="9144"/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Car-D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66,112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8.29%</a:t>
                      </a:r>
                    </a:p>
                  </a:txBody>
                  <a:tcPr marL="45720" marR="45720" marT="9144" marB="9144"/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Lux SUV-3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54,979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6.89%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已锚定车系口径（282 个车系）合计 797,701 辆。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02 市场全景 · 结论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销量按动力类型结构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53949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0488" y="1426464"/>
            <a:ext cx="543427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1F3864"/>
                </a:solidFill>
                <a:latin typeface="微软雅黑"/>
              </a:rPr>
              <a:t>已锚定车系口径合计 797,701 辆。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4546A"/>
                </a:solidFill>
                <a:latin typeface="微软雅黑"/>
              </a:rPr>
              <a:t>• BEV：523,457 辆（65.62%）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4546A"/>
                </a:solidFill>
                <a:latin typeface="微软雅黑"/>
              </a:rPr>
              <a:t>• PHEV：231,121 辆（28.97%）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4546A"/>
                </a:solidFill>
                <a:latin typeface="微软雅黑"/>
              </a:rPr>
              <a:t>• EREV：43,123 辆（5.41%）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4546A"/>
                </a:solidFill>
                <a:latin typeface="微软雅黑"/>
              </a:rPr>
              <a:t>• 增程（EREV）在底表标注中作为独立动力类型单列，其技术画像见 P44。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4546A"/>
                </a:solidFill>
                <a:latin typeface="微软雅黑"/>
              </a:rPr>
              <a:t>• 月度演化（含全榜口径）见 P59。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本页为公告侧底表标注口径（供 P59 全榜口径对照）。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02 市场全景 · 结论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销量按价格带结构（全榜口径）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837176"/>
          <a:ext cx="1105783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1672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价格带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全榜销量（辆）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全榜占比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已锚定（辆）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6720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≤10万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245,911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22.52%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152,899</a:t>
                      </a:r>
                    </a:p>
                  </a:txBody>
                  <a:tcPr marL="45720" marR="45720" marT="9144" marB="9144"/>
                </a:tc>
              </a:tr>
              <a:tr h="16720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10-15万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315,222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28.86%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196,371</a:t>
                      </a:r>
                    </a:p>
                  </a:txBody>
                  <a:tcPr marL="45720" marR="45720" marT="9144" marB="9144"/>
                </a:tc>
              </a:tr>
              <a:tr h="16720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15-20万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134,419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12.31%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99,698</a:t>
                      </a:r>
                    </a:p>
                  </a:txBody>
                  <a:tcPr marL="45720" marR="45720" marT="9144" marB="9144"/>
                </a:tc>
              </a:tr>
              <a:tr h="16720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20-30万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211,655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19.38%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182,169</a:t>
                      </a:r>
                    </a:p>
                  </a:txBody>
                  <a:tcPr marL="45720" marR="45720" marT="9144" marB="9144"/>
                </a:tc>
              </a:tr>
              <a:tr h="16720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30-40万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116,382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10.66%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109,144</a:t>
                      </a:r>
                    </a:p>
                  </a:txBody>
                  <a:tcPr marL="45720" marR="45720" marT="9144" marB="9144"/>
                </a:tc>
              </a:tr>
              <a:tr h="167208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40万+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67,669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6.20%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56,614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分箱边界见 P5（priceinfo 指导价区间取中值后分箱）。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02 市场全景 · 结论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价格带迁移（双基期对照，避免以抢装月为唯一基期）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110578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265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价格带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2026-09 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vs 2026-03 基期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vs 2025-12 基期（抢装月，仅参照）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≤10万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22.53%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+1.52pp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+5.52pp</a:t>
                      </a:r>
                    </a:p>
                  </a:txBody>
                  <a:tcPr marL="45720" marR="45720" marT="9144" marB="9144"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10-15万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28.89%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-0.67pp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+1.92pp</a:t>
                      </a:r>
                    </a:p>
                  </a:txBody>
                  <a:tcPr marL="45720" marR="45720" marT="9144" marB="9144"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15-20万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12.32%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-0.48pp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-1.31pp</a:t>
                      </a:r>
                    </a:p>
                  </a:txBody>
                  <a:tcPr marL="45720" marR="45720" marT="9144" marB="9144"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20-30万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19.40%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+2.48pp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+1.92pp</a:t>
                      </a:r>
                    </a:p>
                  </a:txBody>
                  <a:tcPr marL="45720" marR="45720" marT="9144" marB="9144"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30-40万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10.66%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-2.21pp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-6.61pp</a:t>
                      </a:r>
                    </a:p>
                  </a:txBody>
                  <a:tcPr marL="45720" marR="45720" marT="9144" marB="9144"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40万+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6.20%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-0.64pp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-1.44pp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3730752"/>
          <a:ext cx="1105783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基期选择：以政策后首个正常月 2026-03 为主基期；2025-12 为政策抢装月，仅作参照并列展示。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04 价格·技术·销量联动 · 结论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销量加权技术画像 vs 公告等权画像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P44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69494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53527" y="1335024"/>
          <a:ext cx="397123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247"/>
                <a:gridCol w="794247"/>
                <a:gridCol w="794247"/>
                <a:gridCol w="794247"/>
                <a:gridCol w="794251"/>
              </a:tblGrid>
              <a:tr h="30697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指标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加权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等权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差值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偏差%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续航(km)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417.5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395.1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+22.46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+5.7%</a:t>
                      </a:r>
                    </a:p>
                  </a:txBody>
                  <a:tcPr marL="45720" marR="45720" marT="9144" marB="9144"/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容量(kWh)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54.3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56.7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-2.35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-4.1%</a:t>
                      </a:r>
                    </a:p>
                  </a:txBody>
                  <a:tcPr marL="45720" marR="45720" marT="9144" marB="9144"/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电耗(kWh/100km)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14.9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16.1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-1.25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-7.8%</a:t>
                      </a:r>
                    </a:p>
                  </a:txBody>
                  <a:tcPr marL="45720" marR="45720" marT="9144" marB="9144"/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整备(kg)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1,965.8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2,111.1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-145.34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-6.9%</a:t>
                      </a:r>
                    </a:p>
                  </a:txBody>
                  <a:tcPr marL="45720" marR="45720" marT="9144" marB="9144"/>
                </a:tc>
              </a:tr>
              <a:tr h="306977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功率(kW)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216.4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216.7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-0.27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-0.1%</a:t>
                      </a:r>
                    </a:p>
                  </a:txBody>
                  <a:tcPr marL="45720" marR="45720" marT="9144" marB="9144"/>
                </a:tc>
              </a:tr>
              <a:tr h="30697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能量密度(Wh/kg)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146.7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147.4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-0.71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-0.5%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53527" y="3621024"/>
            <a:ext cx="39712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4546A"/>
                </a:solidFill>
                <a:latin typeface="微软雅黑"/>
              </a:rPr>
              <a:t>• 市场选择是"续航↑、整备↓、电耗↓，容量与能量密度不增"——效率优先于堆料。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4546A"/>
                </a:solidFill>
                <a:latin typeface="微软雅黑"/>
              </a:rPr>
              <a:t>• 样本：加权 282 / 等权 282 车系。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4546A"/>
                </a:solidFill>
                <a:latin typeface="微软雅黑"/>
              </a:rPr>
              <a:t>• 以公告池（供给面）均值代替市场（需求面）会得出相反的方向性误判。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权重=2026-09 车系销量（salecount）加权；指标取法=车系指标取该车系底表多行的中位数（数值）/众数（分类）。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04 价格·技术·销量联动 · 结论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续航分箱 × 销量分布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69494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53527" y="1335024"/>
          <a:ext cx="39712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746"/>
                <a:gridCol w="1323746"/>
                <a:gridCol w="1323747"/>
              </a:tblGrid>
              <a:tr h="34616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续航分箱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销量占比%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车系数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&lt;300km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33.0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113</a:t>
                      </a:r>
                    </a:p>
                  </a:txBody>
                  <a:tcPr marL="45720" marR="45720" marT="9144" marB="9144"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300-400km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45720" marR="45720" marT="9144" marB="9144"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400-500km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16.9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45720" marR="45720" marT="9144" marB="9144"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500-600km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21.3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marL="45720" marR="45720" marT="9144" marB="9144"/>
                </a:tc>
              </a:tr>
              <a:tr h="346165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600-700km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43</a:t>
                      </a:r>
                    </a:p>
                  </a:txBody>
                  <a:tcPr marL="45720" marR="45720" marT="9144" marB="9144"/>
                </a:tc>
              </a:tr>
              <a:tr h="34617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≥700km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8.9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53527" y="3895344"/>
            <a:ext cx="39712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4546A"/>
                </a:solidFill>
                <a:latin typeface="微软雅黑"/>
              </a:rPr>
              <a:t>• 分箱边界由契约 range_bins_def 唯一定义，消费方不得自行猜边界。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4546A"/>
                </a:solidFill>
                <a:latin typeface="微软雅黑"/>
              </a:rPr>
              <a:t>• 销量峰值所在续航段与公告供给峰值段不重合，是"效率竞争"的直接证据。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边界：&lt;300km / 300-400km / 400-500km / 500-600km / 600-700km / ≥700km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04 价格·技术·销量联动 · 结论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分动力技术画像（BEV / PHEV / EREV）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P46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700016"/>
          <a:ext cx="1105783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691"/>
                <a:gridCol w="1579691"/>
                <a:gridCol w="1579691"/>
                <a:gridCol w="1579691"/>
                <a:gridCol w="1579691"/>
                <a:gridCol w="1579691"/>
                <a:gridCol w="1579693"/>
              </a:tblGrid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动力类型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续航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容量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电耗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整备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功率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能量密度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BEV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530.2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62.2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13.0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1,833.2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223.8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151.2</a:t>
                      </a:r>
                    </a:p>
                  </a:txBody>
                  <a:tcPr marL="45720" marR="45720" marT="9144" marB="9144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PHEV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195.7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37.2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2,169.4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187.2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136.1</a:t>
                      </a:r>
                    </a:p>
                  </a:txBody>
                  <a:tcPr marL="45720" marR="45720" marT="9144" marB="9144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EREV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239.2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50.2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21.0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2,483.6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285.6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144.2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整备质量在图中按 1/10 缩放以便同轴对比，表中为原值。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04 价格·技术·销量联动 · 结论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价格带技术均值表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P47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110578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691"/>
                <a:gridCol w="1579691"/>
                <a:gridCol w="1579691"/>
                <a:gridCol w="1579691"/>
                <a:gridCol w="1579691"/>
                <a:gridCol w="1579691"/>
                <a:gridCol w="1579693"/>
              </a:tblGrid>
              <a:tr h="39188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价格带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加权续航(km)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加权容量(kWh)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加权功率(kW)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加权整备(kg)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销量(辆)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车系数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≤10万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368.8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37.2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83.9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1,265.5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152,899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10-15万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354.3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42.8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164.6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1,732.6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196,371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marL="45720" marR="45720" marT="9144" marB="9144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15-20万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410.0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55.1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213.2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2,009.1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99,698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60</a:t>
                      </a:r>
                    </a:p>
                  </a:txBody>
                  <a:tcPr marL="45720" marR="45720" marT="9144" marB="9144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20-30万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484.7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68.5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336.4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2,351.2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182,169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marL="45720" marR="45720" marT="9144" marB="9144"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30-40万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528.0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69.3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247.0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2,290.5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109,144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L="45720" marR="45720" marT="9144" marB="9144"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40万+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352.4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64.9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314.2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2,726.5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56,614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29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215383"/>
            <a:ext cx="110578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44546A"/>
                </a:solidFill>
                <a:latin typeface="微软雅黑"/>
              </a:rPr>
              <a:t>• 加权续航随价格带升高至 30–40 万后，在 40 万+ 回落——"贵"不等于"纯电续航长"。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44546A"/>
                </a:solidFill>
                <a:latin typeface="微软雅黑"/>
              </a:rPr>
              <a:t>• 高价带的卖点转向尺寸、功率与车身规格，故整备质量与功率随价格带单调抬升。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价格带取自当月榜单 priceinfo 中值；技术指标取车系底表多行中位数。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05 集中度与竞争格局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销量集中度：三口径 CR3 / CR5 / CR10 + HHI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P57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685800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62088" y="1335024"/>
          <a:ext cx="4062679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113"/>
                <a:gridCol w="677113"/>
                <a:gridCol w="677113"/>
                <a:gridCol w="677113"/>
                <a:gridCol w="677113"/>
                <a:gridCol w="677114"/>
              </a:tblGrid>
              <a:tr h="3566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口径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CR3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CR5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CR10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HHI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车系（全榜）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11.2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15.3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22.8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113</a:t>
                      </a:r>
                    </a:p>
                  </a:txBody>
                  <a:tcPr marL="45720" marR="45720" marT="9144" marB="9144"/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车系（已锚定）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282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15.3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20.9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30.8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marL="45720" marR="45720" marT="9144" marB="9144"/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品牌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39.1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52.3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71.1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803</a:t>
                      </a:r>
                    </a:p>
                  </a:txBody>
                  <a:tcPr marL="45720" marR="45720" marT="9144" marB="9144"/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企业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44.4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58.4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79.4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1,051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562088" y="3255264"/>
          <a:ext cx="4062679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038344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44546A"/>
                </a:solidFill>
                <a:latin typeface="微软雅黑"/>
              </a:rPr>
              <a:t>• 同一时点三种口径呈结构性落差：企业端高度集中（CR10 近八成），车系端极度分散（CR10 不足四分之一）。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44546A"/>
                </a:solidFill>
                <a:latin typeface="微软雅黑"/>
              </a:rPr>
              <a:t>• 头部集团的份额来自"多品牌 × 多车系"矩阵覆盖——竞争在集团层面收敛、在产品层面发散。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统计单元=车系；口径=已锚定车系（seriesid ∈ 2026-09 新能源榜且可锚定到底表）。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05 集中度与竞争格局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销量 Top 20 企业份额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P58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69494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53527" y="1335024"/>
          <a:ext cx="3971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809"/>
                <a:gridCol w="992809"/>
                <a:gridCol w="992809"/>
                <a:gridCol w="992812"/>
              </a:tblGrid>
              <a:tr h="249381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企业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份额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比亚迪汽车工业有限公司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203,342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25.49%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浙江吉利汽车有限公司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84,222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10.56%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零跑汽车有限公司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66,257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8.31%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特斯拉(上海)有限公司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64,837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8.13%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上海汽车集团股份有限公司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47,067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5.90%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(未定)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41,542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5.21%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小米汽车科技有限公司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40,015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5.02%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北京理想汽车有限公司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31,817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3.99%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上汽通用五菱汽车股份有限公司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31,165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3.91%</a:t>
                      </a:r>
                    </a:p>
                  </a:txBody>
                  <a:tcPr marL="45720" marR="45720" marT="9144" marB="9144"/>
                </a:tc>
              </a:tr>
              <a:tr h="2493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中国第一汽车集团有限公司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23,306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2.92%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53527" y="4215383"/>
            <a:ext cx="3971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44546A"/>
                </a:solidFill>
                <a:latin typeface="微软雅黑"/>
              </a:rPr>
              <a:t>• 企业归属按底表「企业名称」，未做集团合并。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横向条形图自下而上为第 1→20 名。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05 集中度与竞争格局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销量 Top 20 品牌份额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P59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69494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53527" y="1335024"/>
          <a:ext cx="3971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809"/>
                <a:gridCol w="992809"/>
                <a:gridCol w="992809"/>
                <a:gridCol w="992812"/>
              </a:tblGrid>
              <a:tr h="249381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品牌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份额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比亚迪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166,758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20.90%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吉利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79,002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9.90%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零跑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66,257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8.31%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特斯拉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64,837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8.13%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小米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40,015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5.02%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方程豹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37,044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4.64%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理想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31,817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3.99%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名爵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31,548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3.95%</a:t>
                      </a:r>
                    </a:p>
                  </a:txBody>
                  <a:tcPr marL="45720" marR="45720" marT="9144" marB="9144"/>
                </a:tc>
              </a:tr>
              <a:tr h="24938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五菱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30,825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3.86%</a:t>
                      </a:r>
                    </a:p>
                  </a:txBody>
                  <a:tcPr marL="45720" marR="45720" marT="9144" marB="9144"/>
                </a:tc>
              </a:tr>
              <a:tr h="24939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奇瑞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18,918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2.37%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53527" y="4215383"/>
            <a:ext cx="39712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44546A"/>
                </a:solidFill>
                <a:latin typeface="微软雅黑"/>
              </a:rPr>
              <a:t>• 品牌层面集中度低于企业层面，多品牌集团内部存在份额分散。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品牌取自底表「产品商标」。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06 趋势与迁移 · 结论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月度销量与动力类型演化（10 个月快照）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4078224"/>
          <a:ext cx="11057839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动力类型分解来自底表标注，故仅覆盖已锚定车系；全榜口径仅给总量。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2025-12 为政策换挡前的抢装月，2026-01 为深坑月，区间最低点后逐月修复。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06 趋势与迁移 · 结论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月度价格带结构演化（10 个月快照）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974336"/>
          <a:ext cx="1105783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914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月份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全榜合计（辆）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20–30 万占比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30–40 万占比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2025-12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1,344,702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17.48%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17.27%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596,349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17.88%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21.25%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466,097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19.17%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19.75%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858,304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16.91%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12.87%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846,379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16.80%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10.95%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960,354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19.62%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10.38%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1,017,165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17.96%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11.51%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951,901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18.11%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10.34%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1,013,105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20.72%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9.65%</a:t>
                      </a:r>
                    </a:p>
                  </a:txBody>
                  <a:tcPr marL="45720" marR="45720" marT="9144" marB="9144"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2026-09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1,091,258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19.40%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10.66%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价格带取自当月榜单 priceinfo 中值；分箱边界见 P5。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2025-12 为政策抢装月，月度迁移结论须同时对照 2026-03 基期（见 P19）。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06 趋势与迁移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月度细分市场结构演化（Top8 + 其他）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974336"/>
          <a:ext cx="1105783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143691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细分市场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10 个月合计（辆）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4369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SUV-D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1,678,298</a:t>
                      </a:r>
                    </a:p>
                  </a:txBody>
                  <a:tcPr marL="45720" marR="45720" marT="9144" marB="9144"/>
                </a:tc>
              </a:tr>
              <a:tr h="14369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SUV-C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1,252,227</a:t>
                      </a:r>
                    </a:p>
                  </a:txBody>
                  <a:tcPr marL="45720" marR="45720" marT="9144" marB="9144"/>
                </a:tc>
              </a:tr>
              <a:tr h="14369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Car-C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869,410</a:t>
                      </a:r>
                    </a:p>
                  </a:txBody>
                  <a:tcPr marL="45720" marR="45720" marT="9144" marB="9144"/>
                </a:tc>
              </a:tr>
              <a:tr h="14369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Car-B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602,699</a:t>
                      </a:r>
                    </a:p>
                  </a:txBody>
                  <a:tcPr marL="45720" marR="45720" marT="9144" marB="9144"/>
                </a:tc>
              </a:tr>
              <a:tr h="143691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Car-D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538,829</a:t>
                      </a:r>
                    </a:p>
                  </a:txBody>
                  <a:tcPr marL="45720" marR="45720" marT="9144" marB="9144"/>
                </a:tc>
              </a:tr>
              <a:tr h="143694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Lux SUV-3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398,315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细分市场分类取自当月榜单字段，仅显示合计前 8 类，余量并入「其他」。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06 趋势与迁移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月度 Top20 车型榜变动（位次对比）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57607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1981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末月位次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车系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末月销量（辆）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首月位次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位次变动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Model Y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50,359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+0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星愿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44,275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+2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钛7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27,544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+2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元UP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22,767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+7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零跑A10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21,772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长安启源Q05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18,043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宋Ultra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17,131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海豚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16,754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+12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小米SU7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15,751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海狮06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14,821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-1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MG 07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14,577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海豹06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14,479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+5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Model 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14,478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-5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缤果Pro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14,002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MG4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13,966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宏光MINIEV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13,630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-9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宋Pro新能源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13,472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-5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QQ3 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12,688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深蓝S05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12,648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奔腾小马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12,473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新入榜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64808" y="1335024"/>
          <a:ext cx="51599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989"/>
                <a:gridCol w="1289989"/>
                <a:gridCol w="1289989"/>
                <a:gridCol w="1289992"/>
              </a:tblGrid>
              <a:tr h="1981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首月位次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车系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首月销量（辆）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末月位次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Model Y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65,874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秦PLUS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46,837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小米YU7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39,089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星愿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36,147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钛7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34,086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问界M7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29,368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宏光MINIEV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29,365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Model 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27,969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海狮06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24,380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蔚来ES8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22,258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元UP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18,766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宋Pro新能源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18,373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海鸥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18,307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极狐贝塔T1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17,170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问界M8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17,123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海豹05 DM-i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16,484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海豹06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16,471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理想i6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15,994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秦L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15,750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海豚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15,602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本页为位次差（Top20 名册内）；新晋/掉榜的集合差见 P64（2025-12 vs 2026-09）。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榜单为车系级月零售量位次。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06 趋势与迁移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rankchange 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69494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53527" y="1335024"/>
          <a:ext cx="397123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746"/>
                <a:gridCol w="1323746"/>
                <a:gridCol w="1323747"/>
              </a:tblGrid>
              <a:tr h="2590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位次变动区间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车系数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≤-50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29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7.06%</a:t>
                      </a:r>
                    </a:p>
                  </a:txBody>
                  <a:tcPr marL="45720" marR="45720" marT="9144" marB="9144"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-49~-10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37.71%</a:t>
                      </a:r>
                    </a:p>
                  </a:txBody>
                  <a:tcPr marL="45720" marR="45720" marT="9144" marB="9144"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-9~-1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79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19.22%</a:t>
                      </a:r>
                    </a:p>
                  </a:txBody>
                  <a:tcPr marL="45720" marR="45720" marT="9144" marB="9144"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9.49%</a:t>
                      </a:r>
                    </a:p>
                  </a:txBody>
                  <a:tcPr marL="45720" marR="45720" marT="9144" marB="9144"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+1~+9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11.19%</a:t>
                      </a:r>
                    </a:p>
                  </a:txBody>
                  <a:tcPr marL="45720" marR="45720" marT="9144" marB="9144"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+10~+49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49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11.92%</a:t>
                      </a:r>
                    </a:p>
                  </a:txBody>
                  <a:tcPr marL="45720" marR="45720" marT="9144" marB="9144"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≥+50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3.41%</a:t>
                      </a:r>
                    </a:p>
                  </a:txBody>
                  <a:tcPr marL="45720" marR="45720" marT="9144" marB="9144"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缺失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44546A"/>
                          </a:solidFill>
                          <a:latin typeface="微软雅黑"/>
                        </a:rPr>
                        <a:t>0.00%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53527" y="3803904"/>
            <a:ext cx="39712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44546A"/>
                </a:solidFill>
                <a:latin typeface="微软雅黑"/>
              </a:rPr>
              <a:t>• 区间由契约 rankchange_bins 唯一定义；样本 411 个可比车系。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44546A"/>
                </a:solidFill>
                <a:latin typeface="微软雅黑"/>
              </a:rPr>
              <a:t>• 中段区间车系数最多，说明中段位次竞争最激烈。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仅统计两个可比月份均入榜的车系。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06 趋势与迁移 · 结论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新晋榜 / 掉榜车系（月度名册集合差）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50292" cy="10972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2026-09 新晋车系（个）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2555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48,550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55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新晋车系销量（辆）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2026-09 掉榜车系（个）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335024"/>
            <a:ext cx="2654731" cy="10972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035" y="1335024"/>
            <a:ext cx="50292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627" y="1463040"/>
            <a:ext cx="232554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864"/>
                </a:solidFill>
                <a:latin typeface="Arial"/>
              </a:rPr>
              <a:t>4,639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1975104"/>
            <a:ext cx="232554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4546A"/>
                </a:solidFill>
                <a:latin typeface="微软雅黑"/>
              </a:rPr>
              <a:t>掉榜车系上期销量（辆）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2560320"/>
          <a:ext cx="110578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2211567"/>
                <a:gridCol w="2211567"/>
                <a:gridCol w="2211567"/>
                <a:gridCol w="2211571"/>
              </a:tblGrid>
              <a:tr h="8606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新晋车系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掉榜车系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上期销量（辆）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MG 07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14,577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东风风神L7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1,879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小米澎程N70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7,147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QQ冰淇淋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1,304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风云T7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6,171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星海V6 PLUS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791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小米澎程N90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5,297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领克20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389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东风风神L8Y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3,541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深蓝S09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98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长安启源Q06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2,724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星海T5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78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理想i9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2,206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魏牌 摩卡新能源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凯迪拉克XT5 PHEV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1,819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五菱缤果PLUS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腾势Z9S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1,098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爱跑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海狮08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857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极狐 阿尔法T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纵横G700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奔驰EQB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方程S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663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奔驰EQA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智界RX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379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蔚来EC7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捷达M6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377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江淮QX PHEV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红旗G919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258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零跑C01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银河战舰700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239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大众ID.7 VIZZION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东风风神E80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宝骏KiWi 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ID.AURA T6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风行雷霆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极氪MIX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长安之星9EV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IONIQ(艾尼氪)V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红旗天工07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长安UNI-V 智电iDD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深蓝SL03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星途揽月C-DM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翼真L380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MG Cyberster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比亚迪e9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红旗E-HS9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英仕派新能源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逸动新能源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1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长安UNI-K 智电iDD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  <a:tr h="86067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雅阁新能源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  <a:tc>
                  <a:txBody>
                    <a:bodyPr/>
                    <a:lstStyle/>
                    <a:p/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口径：new_entries/drops = 月度榜单集合差（2026-09 vs 2026-08 新能源榜名册），非 Top20 位次差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完整名册共 33 个新晋 / 18 个掉榜（2025-12 vs 2026-09），本页全量列出、不截断。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06 趋势与迁移 · 结论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月度迁移明细表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110578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691"/>
                <a:gridCol w="1579691"/>
                <a:gridCol w="1579691"/>
                <a:gridCol w="1579691"/>
                <a:gridCol w="1579691"/>
                <a:gridCol w="1579691"/>
                <a:gridCol w="1579693"/>
              </a:tblGrid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月份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全榜新能源（辆）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BEV（辆）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PHEV（辆）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EREV（辆）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20-30万占比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30-40万占比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2025-12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1,344,760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613,974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390,952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76,280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17.48%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17.27%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596,349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275,978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158,069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46,802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17.88%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21.25%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466,097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232,640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119,752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26,839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19.17%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19.75%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858,304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435,037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191,600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34,715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16.91%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12.87%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846,379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418,780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181,425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33,920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16.80%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10.95%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960,354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471,228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205,626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31,811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19.62%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10.38%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1,017,165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498,616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217,005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25,294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17.96%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11.51%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951,901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447,625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208,811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34,714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18.11%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10.34%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1,013,107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486,799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210,742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36,614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20.72%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9.65%</a:t>
                      </a:r>
                    </a:p>
                  </a:txBody>
                  <a:tcPr marL="45720" marR="45720" marT="9144" marB="9144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2026-09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1,092,064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523,457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231,121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43,123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19.40%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10.66%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全榜列为全车型新能源榜口径；动力类型列为底表标注的已锚定车系口径；价格带占比为全榜口径。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07 公告-市场转化 · 结论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各批次公告车型数 vs 当期销量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P69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882896"/>
          <a:ext cx="110578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121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批次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公告年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公告车型数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快照销量（辆）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49,472</a:t>
                      </a:r>
                    </a:p>
                  </a:txBody>
                  <a:tcPr marL="45720" marR="45720" marT="9144" marB="914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82,751</a:t>
                      </a:r>
                    </a:p>
                  </a:txBody>
                  <a:tcPr marL="45720" marR="45720" marT="9144" marB="914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128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19,518</a:t>
                      </a:r>
                    </a:p>
                  </a:txBody>
                  <a:tcPr marL="45720" marR="45720" marT="9144" marB="914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16,273</a:t>
                      </a:r>
                    </a:p>
                  </a:txBody>
                  <a:tcPr marL="45720" marR="45720" marT="9144" marB="914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46,294</a:t>
                      </a:r>
                    </a:p>
                  </a:txBody>
                  <a:tcPr marL="45720" marR="45720" marT="9144" marB="914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108,134</a:t>
                      </a:r>
                    </a:p>
                  </a:txBody>
                  <a:tcPr marL="45720" marR="45720" marT="9144" marB="914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72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48,467</a:t>
                      </a:r>
                    </a:p>
                  </a:txBody>
                  <a:tcPr marL="45720" marR="45720" marT="9144" marB="9144"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348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2021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44546A"/>
                          </a:solidFill>
                          <a:latin typeface="微软雅黑"/>
                        </a:rPr>
                        <a:t>80,512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by_batch 第 3 位 = 该批次公告车型数（底表行数，=公告车型/型号条数）；第 4 位 = 该批次公告车型在 2026-09 的</a:t>
            </a:r>
            <a:r>
              <a:rPr sz="900" b="1">
                <a:solidFill>
                  <a:srgbClr val="595959"/>
                </a:solidFill>
                <a:latin typeface="微软雅黑"/>
              </a:rPr>
              <a:t>车系级快照销量合计</a:t>
            </a:r>
            <a:r>
              <a:rPr sz="900">
                <a:solidFill>
                  <a:srgbClr val="595959"/>
                </a:solidFill>
                <a:latin typeface="微软雅黑"/>
              </a:rPr>
              <a:t>（统一快照口径，非批次发布当期切片）；同批次内同车系只计一次。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跨批次/跨年同车系分别计入各自批次，故求和大于车系级合计属正确现象。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412 批为公示口径（公示日期 2026-10-17），尚无正式公告文号，故单列披露且不计入正式公告年度口径。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07 公告-市场转化 · 结论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品牌公告数 vs 品牌销量（散点）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P70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335024"/>
          <a:ext cx="11057839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279392"/>
          <a:ext cx="11057839" cy="67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3383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相关系数（Pearson r）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r²（可解释份额）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样本品牌数 n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0.69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0.48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44546A"/>
                          </a:solidFill>
                          <a:latin typeface="微软雅黑"/>
                        </a:rPr>
                        <a:t>188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029200"/>
            <a:ext cx="110578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44546A"/>
                </a:solidFill>
                <a:latin typeface="微软雅黑"/>
              </a:rPr>
              <a:t>• 公告投放量与当期销量呈</a:t>
            </a:r>
            <a:r>
              <a:rPr sz="900" b="1">
                <a:solidFill>
                  <a:srgbClr val="44546A"/>
                </a:solidFill>
                <a:latin typeface="微软雅黑"/>
              </a:rPr>
              <a:t>中等正相关</a:t>
            </a:r>
            <a:r>
              <a:rPr sz="900">
                <a:solidFill>
                  <a:srgbClr val="44546A"/>
                </a:solidFill>
                <a:latin typeface="微软雅黑"/>
              </a:rPr>
              <a:t>（r=0.69，可解释约 47.9% 的销量差异）；剩余一半以上差异来自投放数量之外的因素。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44546A"/>
                </a:solidFill>
                <a:latin typeface="微软雅黑"/>
              </a:rPr>
              <a:t>• 效率离散度：公告记录≥10 条的 60 家主流企业中，最高 特斯拉 32,418.5 辆/车型、最低 开沃 30.0 辆/车型，极差约 1,081 倍，中位数仅 1,127.6 辆/车型——效率是比规模更陡峭的分化维度。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44546A"/>
                </a:solidFill>
                <a:latin typeface="微软雅黑"/>
              </a:rPr>
              <a:t>• 投放规模与市场表现并不成正比：比亚迪以 478 条公告、30 个车系取得 166,758 辆（5,558.6 辆/车型）；特斯拉仅 32 条公告、2 个车系即取得 64,837 辆（32,418.5 辆/车型），单车型效率为前者的 5.83 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公告数为底表记录数；销量为 2026-09 车系级快照。面板异常点（公告多而销量低）：哪吒（141 条 / 0 辆） / 极狐(ARCFOX)（97 条 / 0 辆） / 宝马(BMW)（48 条 / 0 辆）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07 公告-市场转化 · 结论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转化率排行表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P71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548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27736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品牌（按单车型产出）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公告车型数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在售车系数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辆/公告记录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特斯拉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64,837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32,418.5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MG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14,577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14,577.0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小米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40,015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10,003.8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名爵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31,548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7,887.0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方程豹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37,044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7,408.8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零跑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66,257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7,361.9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吉利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151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79,002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6,583.5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问界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22,529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5,632.2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比亚迪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478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166,758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5,558.6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别克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4,951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4,951.0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理想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89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31,817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3,977.1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一汽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15,481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3,870.2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魏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3,740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3,740.0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赛力斯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13,961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3,490.2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90488" y="1335024"/>
          <a:ext cx="543427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713"/>
                <a:gridCol w="905713"/>
                <a:gridCol w="905713"/>
                <a:gridCol w="905713"/>
                <a:gridCol w="905713"/>
                <a:gridCol w="905714"/>
              </a:tblGrid>
              <a:tr h="27736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品牌（按公告数）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公告车型数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在售车系数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销量（辆）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辆/公告记录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比亚迪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478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166,758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5,558.6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(未定)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34,014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3,092.2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长安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291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3,638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404.2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埃安(AION)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4,481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1,120.2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奇瑞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186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18,918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2,702.6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五菱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179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30,825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3,425.0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东风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169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5,129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466.3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吉利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151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79,002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6,583.5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零跑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66,257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7,361.9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哪吒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0.0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小鹏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13,046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1,630.8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欧拉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1,450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1,450.0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极狐(ARCFOX)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0.0</a:t>
                      </a:r>
                    </a:p>
                  </a:txBody>
                  <a:tcPr marL="45720" marR="45720" marT="9144" marB="9144"/>
                </a:tc>
              </a:tr>
              <a:tr h="277368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极氪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96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17,210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44546A"/>
                          </a:solidFill>
                          <a:latin typeface="微软雅黑"/>
                        </a:rPr>
                        <a:t>2,458.6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61888"/>
            <a:ext cx="11057839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共 188 个品牌纳入评估；单车型产出 = 2026-09 车系级销量 ÷ 公告车型数。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595959"/>
                </a:solidFill>
                <a:latin typeface="微软雅黑"/>
              </a:rPr>
              <a:t>• 左右两表对照显示：公告数量领先者与单车型产出领先者并非同一批品牌。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234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7D31"/>
                </a:solidFill>
                <a:latin typeface="微软雅黑"/>
              </a:rPr>
              <a:t>09 判断与建议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2348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F3864"/>
                </a:solidFill>
                <a:latin typeface="微软雅黑"/>
              </a:rPr>
              <a:t>结论 / 致谢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807" y="274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P80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7"/>
            <a:ext cx="11057839" cy="20116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35024"/>
          <a:ext cx="1105783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4648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回扣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结论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关键数字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① 总量与渗透率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2026-09 新能源零售为 10 个月区间最高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1,092,064 辆</a:t>
                      </a:r>
                    </a:p>
                  </a:txBody>
                  <a:tcPr marL="45720" marR="45720" marT="9144" marB="9144"/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② 技术路线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市场选择效率（续航↑/整备↓/电耗↓），非堆料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续航 +22.5 km（加权 − 等权）</a:t>
                      </a:r>
                    </a:p>
                  </a:txBody>
                  <a:tcPr marL="45720" marR="45720" marT="9144" marB="9144"/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③ 竞争格局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企业端集中、产品端发散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企业 CR10 79.4% / 车系 CR10 30.8%</a:t>
                      </a:r>
                    </a:p>
                  </a:txBody>
                  <a:tcPr marL="45720" marR="45720" marT="9144" marB="9144"/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④ 公告→市场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公告数量与市场份额不成正比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已锚定覆盖 282 / 411 在榜车系</a:t>
                      </a:r>
                    </a:p>
                  </a:txBody>
                  <a:tcPr marL="45720" marR="45720" marT="9144" marB="9144"/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⑤ 价格带迁移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20–30 万扩容、30–40 万被两端分流</a:t>
                      </a:r>
                    </a:p>
                  </a:txBody>
                  <a:tcPr marL="45720" marR="45720" marT="9144" marB="9144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4546A"/>
                          </a:solidFill>
                          <a:latin typeface="微软雅黑"/>
                        </a:rPr>
                        <a:t>双基期对照见 P19</a:t>
                      </a:r>
                    </a:p>
                  </a:txBody>
                  <a:tcPr marL="45720" marR="45720" marT="9144" marB="9144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261104"/>
            <a:ext cx="11057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1F3864"/>
                </a:solidFill>
                <a:latin typeface="微软雅黑"/>
              </a:rPr>
              <a:t>口径一致、可复现、可追溯，是本次结论可用的前提。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44546A"/>
                </a:solidFill>
                <a:latin typeface="微软雅黑"/>
              </a:rPr>
              <a:t>• 数据源唯一、快照月份唯一、去重口径唯一；全部数字由脚本从 JSON 注入，图/表/文字三方一致。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44546A"/>
                </a:solidFill>
                <a:latin typeface="微软雅黑"/>
              </a:rPr>
              <a:t>• 局限：本分析为乘用车公告口径 × 车系级月零售量，非批发量/上险量；价格为指导价区间中值，非成交价。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72784"/>
            <a:ext cx="110578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95959"/>
                </a:solidFill>
                <a:latin typeface="微软雅黑"/>
              </a:rPr>
              <a:t>数据源：汽车之家 · 行业综合销量（车系级月零售） · 快照 2026-09（抓取 2026-10-19）· 车系级口径（seriesid 唯一），已去重；底表行级值仅供单行参考，禁止加总 · 本页数字与 P2/P3 同源，口径与图表脚注完全一致。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