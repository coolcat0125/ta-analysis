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498.0</c:v>
                </c:pt>
                <c:pt idx="1">
                  <c:v>474.0</c:v>
                </c:pt>
                <c:pt idx="2">
                  <c:v>568.0</c:v>
                </c:pt>
                <c:pt idx="3">
                  <c:v>615.0</c:v>
                </c:pt>
                <c:pt idx="4">
                  <c:v>567.0</c:v>
                </c:pt>
                <c:pt idx="5">
                  <c:v>377.0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84.0</c:v>
                </c:pt>
                <c:pt idx="1">
                  <c:v>128.0</c:v>
                </c:pt>
                <c:pt idx="2">
                  <c:v>210.0</c:v>
                </c:pt>
                <c:pt idx="3">
                  <c:v>299.0</c:v>
                </c:pt>
                <c:pt idx="4">
                  <c:v>550.0</c:v>
                </c:pt>
                <c:pt idx="5">
                  <c:v>243.0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PHEV占比%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14.4</c:v>
                </c:pt>
                <c:pt idx="1">
                  <c:v>21.3</c:v>
                </c:pt>
                <c:pt idx="2">
                  <c:v>27.0</c:v>
                </c:pt>
                <c:pt idx="3">
                  <c:v>32.7</c:v>
                </c:pt>
                <c:pt idx="4">
                  <c:v>49.2</c:v>
                </c:pt>
                <c:pt idx="5">
                  <c:v>39.2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spPr>
              <a:solidFill>
                <a:srgbClr val="2E74B5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030A0"/>
              </a:solidFill>
            </c:spPr>
          </c:dPt>
          <c:dPt>
            <c:idx val="5"/>
            <c:spPr>
              <a:solidFill>
                <a:srgbClr val="4472C4"/>
              </a:solidFill>
            </c:spPr>
          </c:dPt>
          <c:dPt>
            <c:idx val="6"/>
            <c:spPr>
              <a:solidFill>
                <a:srgbClr val="C55A11"/>
              </a:solidFill>
            </c:spPr>
          </c:dPt>
          <c:dPt>
            <c:idx val="7"/>
            <c:spPr>
              <a:solidFill>
                <a:srgbClr val="7F7F7F"/>
              </a:solidFill>
            </c:spPr>
          </c:dPt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Car-D</c:v>
                </c:pt>
                <c:pt idx="2">
                  <c:v>SUV-D</c:v>
                </c:pt>
                <c:pt idx="3">
                  <c:v>Car-C</c:v>
                </c:pt>
                <c:pt idx="4">
                  <c:v>Car-A</c:v>
                </c:pt>
                <c:pt idx="5">
                  <c:v>Car-B</c:v>
                </c:pt>
                <c:pt idx="6">
                  <c:v>SUV-B</c:v>
                </c:pt>
                <c:pt idx="7">
                  <c:v>SUV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525.0</c:v>
                </c:pt>
                <c:pt idx="1">
                  <c:v>420.0</c:v>
                </c:pt>
                <c:pt idx="2">
                  <c:v>403.0</c:v>
                </c:pt>
                <c:pt idx="3">
                  <c:v>383.0</c:v>
                </c:pt>
                <c:pt idx="4">
                  <c:v>345.0</c:v>
                </c:pt>
                <c:pt idx="5">
                  <c:v>164.0</c:v>
                </c:pt>
                <c:pt idx="6">
                  <c:v>127.0</c:v>
                </c:pt>
                <c:pt idx="7">
                  <c:v>95.0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spPr>
              <a:solidFill>
                <a:srgbClr val="2E74B5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70AD47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7030A0"/>
              </a:solidFill>
            </c:spPr>
          </c:dPt>
          <c:dPt>
            <c:idx val="5"/>
            <c:spPr>
              <a:solidFill>
                <a:srgbClr val="4472C4"/>
              </a:solidFill>
            </c:spPr>
          </c:dPt>
          <c:dPt>
            <c:idx val="6"/>
            <c:spPr>
              <a:solidFill>
                <a:srgbClr val="C55A11"/>
              </a:solidFill>
            </c:spPr>
          </c:dPt>
          <c:dPt>
            <c:idx val="7"/>
            <c:spPr>
              <a:solidFill>
                <a:srgbClr val="7F7F7F"/>
              </a:solidFill>
            </c:spPr>
          </c:dPt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MPV-D</c:v>
                </c:pt>
                <c:pt idx="5">
                  <c:v>SUV</c:v>
                </c:pt>
                <c:pt idx="6">
                  <c:v>SUV-E</c:v>
                </c:pt>
                <c:pt idx="7">
                  <c:v>Car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500.0</c:v>
                </c:pt>
                <c:pt idx="1">
                  <c:v>408.0</c:v>
                </c:pt>
                <c:pt idx="2">
                  <c:v>168.0</c:v>
                </c:pt>
                <c:pt idx="3">
                  <c:v>134.0</c:v>
                </c:pt>
                <c:pt idx="4">
                  <c:v>82.0</c:v>
                </c:pt>
                <c:pt idx="5">
                  <c:v>60.0</c:v>
                </c:pt>
                <c:pt idx="6">
                  <c:v>25.0</c:v>
                </c:pt>
                <c:pt idx="7">
                  <c:v>19.0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合计公告车型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582.0</c:v>
                </c:pt>
                <c:pt idx="1">
                  <c:v>602.0</c:v>
                </c:pt>
                <c:pt idx="2">
                  <c:v>778.0</c:v>
                </c:pt>
                <c:pt idx="3">
                  <c:v>914.0</c:v>
                </c:pt>
                <c:pt idx="4">
                  <c:v>1117.0</c:v>
                </c:pt>
                <c:pt idx="5">
                  <c:v>620.0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平均续航(km)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413.05</c:v>
                </c:pt>
                <c:pt idx="1">
                  <c:v>451.24</c:v>
                </c:pt>
                <c:pt idx="2">
                  <c:v>492.14</c:v>
                </c:pt>
                <c:pt idx="3">
                  <c:v>535.39</c:v>
                </c:pt>
                <c:pt idx="4">
                  <c:v>540.8</c:v>
                </c:pt>
                <c:pt idx="5">
                  <c:v>624.48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平均纯电续航(km)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101.55</c:v>
                </c:pt>
                <c:pt idx="1">
                  <c:v>114.53</c:v>
                </c:pt>
                <c:pt idx="2">
                  <c:v>116.59</c:v>
                </c:pt>
                <c:pt idx="3">
                  <c:v>129.63</c:v>
                </c:pt>
                <c:pt idx="4">
                  <c:v>159.24</c:v>
                </c:pt>
                <c:pt idx="5">
                  <c:v>213.21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413.05</c:v>
                </c:pt>
                <c:pt idx="1">
                  <c:v>451.24</c:v>
                </c:pt>
                <c:pt idx="2">
                  <c:v>492.14</c:v>
                </c:pt>
                <c:pt idx="3">
                  <c:v>535.39</c:v>
                </c:pt>
                <c:pt idx="4">
                  <c:v>540.8</c:v>
                </c:pt>
                <c:pt idx="5">
                  <c:v>624.48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101.55</c:v>
                </c:pt>
                <c:pt idx="1">
                  <c:v>114.53</c:v>
                </c:pt>
                <c:pt idx="2">
                  <c:v>116.59</c:v>
                </c:pt>
                <c:pt idx="3">
                  <c:v>129.63</c:v>
                </c:pt>
                <c:pt idx="4">
                  <c:v>159.24</c:v>
                </c:pt>
                <c:pt idx="5">
                  <c:v>213.21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BEV平均容量(kWh)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54.06</c:v>
                </c:pt>
                <c:pt idx="1">
                  <c:v>59.61</c:v>
                </c:pt>
                <c:pt idx="2">
                  <c:v>64.25</c:v>
                </c:pt>
                <c:pt idx="3">
                  <c:v>69.63</c:v>
                </c:pt>
                <c:pt idx="4">
                  <c:v>66.71</c:v>
                </c:pt>
                <c:pt idx="5">
                  <c:v>75.62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PHEV平均容量(kWh)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22.09</c:v>
                </c:pt>
                <c:pt idx="1">
                  <c:v>25.84</c:v>
                </c:pt>
                <c:pt idx="2">
                  <c:v>26.23</c:v>
                </c:pt>
                <c:pt idx="3">
                  <c:v>27.88</c:v>
                </c:pt>
                <c:pt idx="4">
                  <c:v>33.62</c:v>
                </c:pt>
                <c:pt idx="5">
                  <c:v>44.45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54.06</c:v>
                </c:pt>
                <c:pt idx="1">
                  <c:v>59.61</c:v>
                </c:pt>
                <c:pt idx="2">
                  <c:v>64.25</c:v>
                </c:pt>
                <c:pt idx="3">
                  <c:v>69.63</c:v>
                </c:pt>
                <c:pt idx="4">
                  <c:v>66.71</c:v>
                </c:pt>
                <c:pt idx="5">
                  <c:v>75.62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22.09</c:v>
                </c:pt>
                <c:pt idx="1">
                  <c:v>25.84</c:v>
                </c:pt>
                <c:pt idx="2">
                  <c:v>26.23</c:v>
                </c:pt>
                <c:pt idx="3">
                  <c:v>27.88</c:v>
                </c:pt>
                <c:pt idx="4">
                  <c:v>33.62</c:v>
                </c:pt>
                <c:pt idx="5">
                  <c:v>44.45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LFP%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45.4</c:v>
                </c:pt>
                <c:pt idx="1">
                  <c:v>51.2</c:v>
                </c:pt>
                <c:pt idx="2">
                  <c:v>55.0</c:v>
                </c:pt>
                <c:pt idx="3">
                  <c:v>67.1</c:v>
                </c:pt>
                <c:pt idx="4">
                  <c:v>78.2</c:v>
                </c:pt>
                <c:pt idx="5">
                  <c:v>79.7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NCM%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51.2</c:v>
                </c:pt>
                <c:pt idx="1">
                  <c:v>46.5</c:v>
                </c:pt>
                <c:pt idx="2">
                  <c:v>42.3</c:v>
                </c:pt>
                <c:pt idx="3">
                  <c:v>31.6</c:v>
                </c:pt>
                <c:pt idx="4">
                  <c:v>18.2</c:v>
                </c:pt>
                <c:pt idx="5">
                  <c:v>19.5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其他%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3.4</c:v>
                </c:pt>
                <c:pt idx="1">
                  <c:v>2.3</c:v>
                </c:pt>
                <c:pt idx="2">
                  <c:v>2.7</c:v>
                </c:pt>
                <c:pt idx="3">
                  <c:v>1.3</c:v>
                </c:pt>
                <c:pt idx="4">
                  <c:v>3.6</c:v>
                </c:pt>
                <c:pt idx="5">
                  <c:v>0.8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LFP%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42.9</c:v>
                </c:pt>
                <c:pt idx="1">
                  <c:v>34.1</c:v>
                </c:pt>
                <c:pt idx="2">
                  <c:v>45.4</c:v>
                </c:pt>
                <c:pt idx="3">
                  <c:v>73.8</c:v>
                </c:pt>
                <c:pt idx="4">
                  <c:v>81.1</c:v>
                </c:pt>
                <c:pt idx="5">
                  <c:v>71.4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NCM%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57.1</c:v>
                </c:pt>
                <c:pt idx="1">
                  <c:v>52.4</c:v>
                </c:pt>
                <c:pt idx="2">
                  <c:v>50.2</c:v>
                </c:pt>
                <c:pt idx="3">
                  <c:v>25.2</c:v>
                </c:pt>
                <c:pt idx="4">
                  <c:v>16.3</c:v>
                </c:pt>
                <c:pt idx="5">
                  <c:v>24.9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其他%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</c:v>
                </c:pt>
                <c:pt idx="1">
                  <c:v>13.5</c:v>
                </c:pt>
                <c:pt idx="2">
                  <c:v>4.4</c:v>
                </c:pt>
                <c:pt idx="3">
                  <c:v>1.0</c:v>
                </c:pt>
                <c:pt idx="4">
                  <c:v>2.6</c:v>
                </c:pt>
                <c:pt idx="5">
                  <c:v>3.7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BEV平均能量密度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150.12</c:v>
                </c:pt>
                <c:pt idx="1">
                  <c:v>153.47</c:v>
                </c:pt>
                <c:pt idx="2">
                  <c:v>158.32</c:v>
                </c:pt>
                <c:pt idx="3">
                  <c:v>146.71</c:v>
                </c:pt>
                <c:pt idx="4">
                  <c:v>150.95</c:v>
                </c:pt>
                <c:pt idx="5">
                  <c:v>164.47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400-500</c:v>
                </c:pt>
              </c:strCache>
            </c:strRef>
          </c:tx>
          <c:spPr>
            <a:solidFill>
              <a:srgbClr val="DEEBF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163.0</c:v>
                </c:pt>
                <c:pt idx="1">
                  <c:v>89.0</c:v>
                </c:pt>
                <c:pt idx="2">
                  <c:v>103.0</c:v>
                </c:pt>
                <c:pt idx="3">
                  <c:v>88.0</c:v>
                </c:pt>
                <c:pt idx="4">
                  <c:v>92.0</c:v>
                </c:pt>
                <c:pt idx="5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600-700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44.0</c:v>
                </c:pt>
                <c:pt idx="1">
                  <c:v>84.0</c:v>
                </c:pt>
                <c:pt idx="2">
                  <c:v>110.0</c:v>
                </c:pt>
                <c:pt idx="3">
                  <c:v>151.0</c:v>
                </c:pt>
                <c:pt idx="4">
                  <c:v>124.0</c:v>
                </c:pt>
                <c:pt idx="5">
                  <c:v>92.0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300-400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73.0</c:v>
                </c:pt>
                <c:pt idx="1">
                  <c:v>54.0</c:v>
                </c:pt>
                <c:pt idx="2">
                  <c:v>52.0</c:v>
                </c:pt>
                <c:pt idx="3">
                  <c:v>56.0</c:v>
                </c:pt>
                <c:pt idx="4">
                  <c:v>57.0</c:v>
                </c:pt>
                <c:pt idx="5">
                  <c:v>15.0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500-600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116.0</c:v>
                </c:pt>
                <c:pt idx="1">
                  <c:v>110.0</c:v>
                </c:pt>
                <c:pt idx="2">
                  <c:v>160.0</c:v>
                </c:pt>
                <c:pt idx="3">
                  <c:v>180.0</c:v>
                </c:pt>
                <c:pt idx="4">
                  <c:v>153.0</c:v>
                </c:pt>
                <c:pt idx="5">
                  <c:v>84.0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&lt;200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59.0</c:v>
                </c:pt>
                <c:pt idx="1">
                  <c:v>41.0</c:v>
                </c:pt>
                <c:pt idx="2">
                  <c:v>21.0</c:v>
                </c:pt>
                <c:pt idx="3">
                  <c:v>6.0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200-300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21.0</c:v>
                </c:pt>
                <c:pt idx="1">
                  <c:v>50.0</c:v>
                </c:pt>
                <c:pt idx="2">
                  <c:v>58.0</c:v>
                </c:pt>
                <c:pt idx="3">
                  <c:v>37.0</c:v>
                </c:pt>
                <c:pt idx="4">
                  <c:v>24.0</c:v>
                </c:pt>
                <c:pt idx="5">
                  <c:v>7.0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≥700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8.0</c:v>
                </c:pt>
                <c:pt idx="1">
                  <c:v>34.0</c:v>
                </c:pt>
                <c:pt idx="2">
                  <c:v>56.0</c:v>
                </c:pt>
                <c:pt idx="3">
                  <c:v>92.0</c:v>
                </c:pt>
                <c:pt idx="4">
                  <c:v>97.0</c:v>
                </c:pt>
                <c:pt idx="5">
                  <c:v>134.0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125-150</c:v>
                </c:pt>
              </c:strCache>
            </c:strRef>
          </c:tx>
          <c:spPr>
            <a:solidFill>
              <a:srgbClr val="DEEBF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21.0</c:v>
                </c:pt>
                <c:pt idx="1">
                  <c:v>10.0</c:v>
                </c:pt>
                <c:pt idx="2">
                  <c:v>17.0</c:v>
                </c:pt>
                <c:pt idx="3">
                  <c:v>26.0</c:v>
                </c:pt>
                <c:pt idx="4">
                  <c:v>45.0</c:v>
                </c:pt>
                <c:pt idx="5">
                  <c:v>19.0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150-200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5.0</c:v>
                </c:pt>
                <c:pt idx="1">
                  <c:v>35.0</c:v>
                </c:pt>
                <c:pt idx="2">
                  <c:v>58.0</c:v>
                </c:pt>
                <c:pt idx="3">
                  <c:v>86.0</c:v>
                </c:pt>
                <c:pt idx="4">
                  <c:v>173.0</c:v>
                </c:pt>
                <c:pt idx="5">
                  <c:v>75.0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50-100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21.0</c:v>
                </c:pt>
                <c:pt idx="1">
                  <c:v>47.0</c:v>
                </c:pt>
                <c:pt idx="2">
                  <c:v>68.0</c:v>
                </c:pt>
                <c:pt idx="3">
                  <c:v>83.0</c:v>
                </c:pt>
                <c:pt idx="4">
                  <c:v>42.0</c:v>
                </c:pt>
                <c:pt idx="5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100-125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24.0</c:v>
                </c:pt>
                <c:pt idx="1">
                  <c:v>12.0</c:v>
                </c:pt>
                <c:pt idx="2">
                  <c:v>39.0</c:v>
                </c:pt>
                <c:pt idx="3">
                  <c:v>58.0</c:v>
                </c:pt>
                <c:pt idx="4">
                  <c:v>157.0</c:v>
                </c:pt>
                <c:pt idx="5">
                  <c:v>22.0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&lt;50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12.0</c:v>
                </c:pt>
                <c:pt idx="1">
                  <c:v>14.0</c:v>
                </c:pt>
                <c:pt idx="2">
                  <c:v>15.0</c:v>
                </c:pt>
                <c:pt idx="3">
                  <c:v>13.0</c:v>
                </c:pt>
                <c:pt idx="4">
                  <c:v>7.0</c:v>
                </c:pt>
                <c:pt idx="5">
                  <c:v>0.0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≥200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1.0</c:v>
                </c:pt>
                <c:pt idx="1">
                  <c:v>8.0</c:v>
                </c:pt>
                <c:pt idx="2">
                  <c:v>7.0</c:v>
                </c:pt>
                <c:pt idx="3">
                  <c:v>31.0</c:v>
                </c:pt>
                <c:pt idx="4">
                  <c:v>120.0</c:v>
                </c:pt>
                <c:pt idx="5">
                  <c:v>119.0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60-70</c:v>
                </c:pt>
              </c:strCache>
            </c:strRef>
          </c:tx>
          <c:spPr>
            <a:solidFill>
              <a:srgbClr val="DEEBF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81.0</c:v>
                </c:pt>
                <c:pt idx="1">
                  <c:v>67.0</c:v>
                </c:pt>
                <c:pt idx="2">
                  <c:v>98.0</c:v>
                </c:pt>
                <c:pt idx="3">
                  <c:v>109.0</c:v>
                </c:pt>
                <c:pt idx="4">
                  <c:v>109.0</c:v>
                </c:pt>
                <c:pt idx="5">
                  <c:v>64.0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70-80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54.0</c:v>
                </c:pt>
                <c:pt idx="1">
                  <c:v>51.0</c:v>
                </c:pt>
                <c:pt idx="2">
                  <c:v>98.0</c:v>
                </c:pt>
                <c:pt idx="3">
                  <c:v>100.0</c:v>
                </c:pt>
                <c:pt idx="4">
                  <c:v>67.0</c:v>
                </c:pt>
                <c:pt idx="5">
                  <c:v>45.0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40-50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48.0</c:v>
                </c:pt>
                <c:pt idx="1">
                  <c:v>49.0</c:v>
                </c:pt>
                <c:pt idx="2">
                  <c:v>49.0</c:v>
                </c:pt>
                <c:pt idx="3">
                  <c:v>49.0</c:v>
                </c:pt>
                <c:pt idx="4">
                  <c:v>64.0</c:v>
                </c:pt>
                <c:pt idx="5">
                  <c:v>32.0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20-30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24.0</c:v>
                </c:pt>
                <c:pt idx="1">
                  <c:v>21.0</c:v>
                </c:pt>
                <c:pt idx="2">
                  <c:v>18.0</c:v>
                </c:pt>
                <c:pt idx="3">
                  <c:v>7.0</c:v>
                </c:pt>
                <c:pt idx="4">
                  <c:v>11.0</c:v>
                </c:pt>
                <c:pt idx="5">
                  <c:v>5.0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30-40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42.0</c:v>
                </c:pt>
                <c:pt idx="1">
                  <c:v>26.0</c:v>
                </c:pt>
                <c:pt idx="2">
                  <c:v>45.0</c:v>
                </c:pt>
                <c:pt idx="3">
                  <c:v>28.0</c:v>
                </c:pt>
                <c:pt idx="4">
                  <c:v>23.0</c:v>
                </c:pt>
                <c:pt idx="5">
                  <c:v>12.0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&lt;20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65.0</c:v>
                </c:pt>
                <c:pt idx="1">
                  <c:v>70.0</c:v>
                </c:pt>
                <c:pt idx="2">
                  <c:v>45.0</c:v>
                </c:pt>
                <c:pt idx="3">
                  <c:v>22.0</c:v>
                </c:pt>
                <c:pt idx="4">
                  <c:v>19.0</c:v>
                </c:pt>
                <c:pt idx="5">
                  <c:v>7.0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50-60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101.0</c:v>
                </c:pt>
                <c:pt idx="1">
                  <c:v>54.0</c:v>
                </c:pt>
                <c:pt idx="2">
                  <c:v>54.0</c:v>
                </c:pt>
                <c:pt idx="3">
                  <c:v>84.0</c:v>
                </c:pt>
                <c:pt idx="4">
                  <c:v>101.0</c:v>
                </c:pt>
                <c:pt idx="5">
                  <c:v>48.0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≥80</c:v>
                </c:pt>
              </c:strCache>
            </c:strRef>
          </c:tx>
          <c:spPr>
            <a:solidFill>
              <a:srgbClr val="40404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Sheet1!$I$2:$I$7</c:f>
              <c:numCache>
                <c:formatCode>General</c:formatCode>
                <c:ptCount val="6"/>
                <c:pt idx="0">
                  <c:v>68.0</c:v>
                </c:pt>
                <c:pt idx="1">
                  <c:v>125.0</c:v>
                </c:pt>
                <c:pt idx="2">
                  <c:v>155.0</c:v>
                </c:pt>
                <c:pt idx="3">
                  <c:v>212.0</c:v>
                </c:pt>
                <c:pt idx="4">
                  <c:v>154.0</c:v>
                </c:pt>
                <c:pt idx="5">
                  <c:v>160.0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30-40</c:v>
                </c:pt>
              </c:strCache>
            </c:strRef>
          </c:tx>
          <c:spPr>
            <a:solidFill>
              <a:srgbClr val="FBE5D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27.0</c:v>
                </c:pt>
                <c:pt idx="1">
                  <c:v>26.0</c:v>
                </c:pt>
                <c:pt idx="2">
                  <c:v>33.0</c:v>
                </c:pt>
                <c:pt idx="3">
                  <c:v>80.0</c:v>
                </c:pt>
                <c:pt idx="4">
                  <c:v>158.0</c:v>
                </c:pt>
                <c:pt idx="5">
                  <c:v>67.0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20-30</c:v>
                </c:pt>
              </c:strCache>
            </c:strRef>
          </c:tx>
          <c:spPr>
            <a:solidFill>
              <a:srgbClr val="F4B183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4.0</c:v>
                </c:pt>
                <c:pt idx="1">
                  <c:v>18.0</c:v>
                </c:pt>
                <c:pt idx="2">
                  <c:v>36.0</c:v>
                </c:pt>
                <c:pt idx="3">
                  <c:v>50.0</c:v>
                </c:pt>
                <c:pt idx="4">
                  <c:v>107.0</c:v>
                </c:pt>
                <c:pt idx="5">
                  <c:v>42.0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10-20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37.0</c:v>
                </c:pt>
                <c:pt idx="1">
                  <c:v>52.0</c:v>
                </c:pt>
                <c:pt idx="2">
                  <c:v>75.0</c:v>
                </c:pt>
                <c:pt idx="3">
                  <c:v>96.0</c:v>
                </c:pt>
                <c:pt idx="4">
                  <c:v>116.0</c:v>
                </c:pt>
                <c:pt idx="5">
                  <c:v>9.0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&lt;10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16.0</c:v>
                </c:pt>
                <c:pt idx="1">
                  <c:v>11.0</c:v>
                </c:pt>
                <c:pt idx="2">
                  <c:v>16.0</c:v>
                </c:pt>
                <c:pt idx="3">
                  <c:v>17.0</c:v>
                </c:pt>
                <c:pt idx="4">
                  <c:v>10.0</c:v>
                </c:pt>
                <c:pt idx="5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磷酸铁锂(LFP)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226.0</c:v>
                </c:pt>
                <c:pt idx="1">
                  <c:v>229.0</c:v>
                </c:pt>
                <c:pt idx="2">
                  <c:v>289.0</c:v>
                </c:pt>
                <c:pt idx="3">
                  <c:v>401.0</c:v>
                </c:pt>
                <c:pt idx="4">
                  <c:v>409.0</c:v>
                </c:pt>
                <c:pt idx="5">
                  <c:v>294.0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三元锂(NCM)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255.0</c:v>
                </c:pt>
                <c:pt idx="1">
                  <c:v>208.0</c:v>
                </c:pt>
                <c:pt idx="2">
                  <c:v>222.0</c:v>
                </c:pt>
                <c:pt idx="3">
                  <c:v>189.0</c:v>
                </c:pt>
                <c:pt idx="4">
                  <c:v>95.0</c:v>
                </c:pt>
                <c:pt idx="5">
                  <c:v>72.0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595959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17.0</c:v>
                </c:pt>
                <c:pt idx="1">
                  <c:v>10.0</c:v>
                </c:pt>
                <c:pt idx="2">
                  <c:v>14.0</c:v>
                </c:pt>
                <c:pt idx="3">
                  <c:v>8.0</c:v>
                </c:pt>
                <c:pt idx="4">
                  <c:v>19.0</c:v>
                </c:pt>
                <c:pt idx="5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BEV平均峰值功率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121.92</c:v>
                </c:pt>
                <c:pt idx="1">
                  <c:v>159.91</c:v>
                </c:pt>
                <c:pt idx="2">
                  <c:v>157.48</c:v>
                </c:pt>
                <c:pt idx="3">
                  <c:v>166.72</c:v>
                </c:pt>
                <c:pt idx="4">
                  <c:v>179.42</c:v>
                </c:pt>
                <c:pt idx="5">
                  <c:v>271.99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PHEV平均峰值功率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161.26</c:v>
                </c:pt>
                <c:pt idx="1">
                  <c:v>162.74</c:v>
                </c:pt>
                <c:pt idx="2">
                  <c:v>173.25</c:v>
                </c:pt>
                <c:pt idx="3">
                  <c:v>169.84</c:v>
                </c:pt>
                <c:pt idx="4">
                  <c:v>177.67</c:v>
                </c:pt>
                <c:pt idx="5">
                  <c:v>205.49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1588.79</c:v>
                </c:pt>
                <c:pt idx="1">
                  <c:v>1704.1</c:v>
                </c:pt>
                <c:pt idx="2">
                  <c:v>1870.02</c:v>
                </c:pt>
                <c:pt idx="3">
                  <c:v>1967.44</c:v>
                </c:pt>
                <c:pt idx="4">
                  <c:v>1882.65</c:v>
                </c:pt>
                <c:pt idx="5">
                  <c:v>2032.76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1921.05</c:v>
                </c:pt>
                <c:pt idx="1">
                  <c:v>2028.59</c:v>
                </c:pt>
                <c:pt idx="2">
                  <c:v>2066.67</c:v>
                </c:pt>
                <c:pt idx="3">
                  <c:v>2053.06</c:v>
                </c:pt>
                <c:pt idx="4">
                  <c:v>2211.59</c:v>
                </c:pt>
                <c:pt idx="5">
                  <c:v>2340.18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70.4</c:v>
                </c:pt>
                <c:pt idx="1">
                  <c:v>84.0</c:v>
                </c:pt>
                <c:pt idx="2">
                  <c:v>81.5</c:v>
                </c:pt>
                <c:pt idx="3">
                  <c:v>82.8</c:v>
                </c:pt>
                <c:pt idx="4">
                  <c:v>88.9</c:v>
                </c:pt>
                <c:pt idx="5">
                  <c:v>127.2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82.5</c:v>
                </c:pt>
                <c:pt idx="1">
                  <c:v>78.6</c:v>
                </c:pt>
                <c:pt idx="2">
                  <c:v>83.0</c:v>
                </c:pt>
                <c:pt idx="3">
                  <c:v>82.8</c:v>
                </c:pt>
                <c:pt idx="4">
                  <c:v>78.1</c:v>
                </c:pt>
                <c:pt idx="5">
                  <c:v>85.4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32.5</c:v>
                </c:pt>
                <c:pt idx="1">
                  <c:v>33.1</c:v>
                </c:pt>
                <c:pt idx="2">
                  <c:v>33.5</c:v>
                </c:pt>
                <c:pt idx="3">
                  <c:v>34.6</c:v>
                </c:pt>
                <c:pt idx="4">
                  <c:v>34.5</c:v>
                </c:pt>
                <c:pt idx="5">
                  <c:v>36.3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PHEV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11.0</c:v>
                </c:pt>
                <c:pt idx="1">
                  <c:v>12.5</c:v>
                </c:pt>
                <c:pt idx="2">
                  <c:v>12.5</c:v>
                </c:pt>
                <c:pt idx="3">
                  <c:v>13.2</c:v>
                </c:pt>
                <c:pt idx="4">
                  <c:v>14.7</c:v>
                </c:pt>
                <c:pt idx="5">
                  <c:v>18.2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BEV平均电耗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13.35</c:v>
                </c:pt>
                <c:pt idx="1">
                  <c:v>13.42</c:v>
                </c:pt>
                <c:pt idx="2">
                  <c:v>12.8</c:v>
                </c:pt>
                <c:pt idx="3">
                  <c:v>13.0</c:v>
                </c:pt>
                <c:pt idx="4">
                  <c:v>12.39</c:v>
                </c:pt>
                <c:pt idx="5">
                  <c:v>12.14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LFP</c:v>
                </c:pt>
              </c:strCache>
            </c:strRef>
          </c:tx>
          <c:spPr>
            <a:solidFill>
              <a:srgbClr val="70AD47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12.53</c:v>
                </c:pt>
                <c:pt idx="1">
                  <c:v>12.57</c:v>
                </c:pt>
                <c:pt idx="2">
                  <c:v>12.38</c:v>
                </c:pt>
                <c:pt idx="3">
                  <c:v>12.43</c:v>
                </c:pt>
                <c:pt idx="4">
                  <c:v>12.05</c:v>
                </c:pt>
                <c:pt idx="5">
                  <c:v>11.68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NCM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14.05</c:v>
                </c:pt>
                <c:pt idx="1">
                  <c:v>14.59</c:v>
                </c:pt>
                <c:pt idx="2">
                  <c:v>13.49</c:v>
                </c:pt>
                <c:pt idx="3">
                  <c:v>13.67</c:v>
                </c:pt>
                <c:pt idx="4">
                  <c:v>13.4</c:v>
                </c:pt>
                <c:pt idx="5">
                  <c:v>13.98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综合油耗(L)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2.91</c:v>
                </c:pt>
                <c:pt idx="1">
                  <c:v>3.11</c:v>
                </c:pt>
                <c:pt idx="2">
                  <c:v>4.29</c:v>
                </c:pt>
                <c:pt idx="3">
                  <c:v>5.28</c:v>
                </c:pt>
                <c:pt idx="4">
                  <c:v>5.76</c:v>
                </c:pt>
                <c:pt idx="5">
                  <c:v>5.5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纯电续航/30(km)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3.38</c:v>
                </c:pt>
                <c:pt idx="1">
                  <c:v>3.82</c:v>
                </c:pt>
                <c:pt idx="2">
                  <c:v>3.89</c:v>
                </c:pt>
                <c:pt idx="3">
                  <c:v>4.32</c:v>
                </c:pt>
                <c:pt idx="4">
                  <c:v>5.31</c:v>
                </c:pt>
                <c:pt idx="5">
                  <c:v>7.11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B状态油耗(L)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4.77</c:v>
                </c:pt>
                <c:pt idx="1">
                  <c:v>6.05</c:v>
                </c:pt>
                <c:pt idx="2">
                  <c:v>5.94</c:v>
                </c:pt>
                <c:pt idx="3">
                  <c:v>5.69</c:v>
                </c:pt>
                <c:pt idx="4">
                  <c:v>5.65</c:v>
                </c:pt>
                <c:pt idx="5">
                  <c:v>5.56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综合油耗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&lt;1.0L</c:v>
                </c:pt>
                <c:pt idx="1">
                  <c:v>1.0-1.5L</c:v>
                </c:pt>
                <c:pt idx="2">
                  <c:v>1.5-2.0L</c:v>
                </c:pt>
                <c:pt idx="3">
                  <c:v>≥2.0L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5.04</c:v>
                </c:pt>
                <c:pt idx="2">
                  <c:v>6.72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B状态油耗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&lt;1.0L</c:v>
                </c:pt>
                <c:pt idx="1">
                  <c:v>1.0-1.5L</c:v>
                </c:pt>
                <c:pt idx="2">
                  <c:v>1.5-2.0L</c:v>
                </c:pt>
                <c:pt idx="3">
                  <c:v>≥2.0L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5.55</c:v>
                </c:pt>
                <c:pt idx="2">
                  <c:v>7.12</c:v>
                </c:pt>
                <c:pt idx="3">
                  <c:v>5.42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电池供应商HHI</c:v>
                </c:pt>
              </c:strCache>
            </c:strRef>
          </c:tx>
          <c:spPr>
            <a:solidFill>
              <a:srgbClr val="2E74B5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2124.8</c:v>
                </c:pt>
                <c:pt idx="1">
                  <c:v>1541.6</c:v>
                </c:pt>
                <c:pt idx="2">
                  <c:v>1535.2</c:v>
                </c:pt>
                <c:pt idx="3">
                  <c:v>2078.8</c:v>
                </c:pt>
                <c:pt idx="4">
                  <c:v>1255.4</c:v>
                </c:pt>
                <c:pt idx="5">
                  <c:v>748.1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电机供应商HHI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182.4</c:v>
                </c:pt>
                <c:pt idx="1">
                  <c:v>232.5</c:v>
                </c:pt>
                <c:pt idx="2">
                  <c:v>188.4</c:v>
                </c:pt>
                <c:pt idx="3">
                  <c:v>270.7</c:v>
                </c:pt>
                <c:pt idx="4">
                  <c:v>283.2</c:v>
                </c:pt>
                <c:pt idx="5">
                  <c:v>276.6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CR3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74.3</c:v>
                </c:pt>
                <c:pt idx="1">
                  <c:v>58.9</c:v>
                </c:pt>
                <c:pt idx="2">
                  <c:v>57.7</c:v>
                </c:pt>
                <c:pt idx="3">
                  <c:v>69.5</c:v>
                </c:pt>
                <c:pt idx="4">
                  <c:v>54.4</c:v>
                </c:pt>
                <c:pt idx="5">
                  <c:v>39.9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CR5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83.8</c:v>
                </c:pt>
                <c:pt idx="1">
                  <c:v>69.2</c:v>
                </c:pt>
                <c:pt idx="2">
                  <c:v>70.5</c:v>
                </c:pt>
                <c:pt idx="3">
                  <c:v>80.1</c:v>
                </c:pt>
                <c:pt idx="4">
                  <c:v>65.2</c:v>
                </c:pt>
                <c:pt idx="5">
                  <c:v>49.7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CR10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96.3</c:v>
                </c:pt>
                <c:pt idx="1">
                  <c:v>87.7</c:v>
                </c:pt>
                <c:pt idx="2">
                  <c:v>87.8</c:v>
                </c:pt>
                <c:pt idx="3">
                  <c:v>91.5</c:v>
                </c:pt>
                <c:pt idx="4">
                  <c:v>83.8</c:v>
                </c:pt>
                <c:pt idx="5">
                  <c:v>65.3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CR3</c:v>
                </c:pt>
              </c:strCache>
            </c:strRef>
          </c:tx>
          <c:spPr>
            <a:solidFill>
              <a:srgbClr val="F4B183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13.0</c:v>
                </c:pt>
                <c:pt idx="1">
                  <c:v>19.0</c:v>
                </c:pt>
                <c:pt idx="2">
                  <c:v>16.0</c:v>
                </c:pt>
                <c:pt idx="3">
                  <c:v>21.3</c:v>
                </c:pt>
                <c:pt idx="4">
                  <c:v>17.8</c:v>
                </c:pt>
                <c:pt idx="5">
                  <c:v>17.5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CR5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19.6</c:v>
                </c:pt>
                <c:pt idx="1">
                  <c:v>26.9</c:v>
                </c:pt>
                <c:pt idx="2">
                  <c:v>21.8</c:v>
                </c:pt>
                <c:pt idx="3">
                  <c:v>28.4</c:v>
                </c:pt>
                <c:pt idx="4">
                  <c:v>27.6</c:v>
                </c:pt>
                <c:pt idx="5">
                  <c:v>26.7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CR10</c:v>
                </c:pt>
              </c:strCache>
            </c:strRef>
          </c:tx>
          <c:spPr>
            <a:solidFill>
              <a:srgbClr val="843C0C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33.6</c:v>
                </c:pt>
                <c:pt idx="1">
                  <c:v>39.3</c:v>
                </c:pt>
                <c:pt idx="2">
                  <c:v>33.1</c:v>
                </c:pt>
                <c:pt idx="3">
                  <c:v>40.9</c:v>
                </c:pt>
                <c:pt idx="4">
                  <c:v>44.6</c:v>
                </c:pt>
                <c:pt idx="5">
                  <c:v>42.3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配套车型数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宁德时代(福鼎时代)</c:v>
                </c:pt>
                <c:pt idx="1">
                  <c:v>比亚迪</c:v>
                </c:pt>
                <c:pt idx="2">
                  <c:v>宁德时代(江苏时代)</c:v>
                </c:pt>
                <c:pt idx="3">
                  <c:v>欣旺达</c:v>
                </c:pt>
                <c:pt idx="4">
                  <c:v>宁德时代(四川时代)</c:v>
                </c:pt>
                <c:pt idx="5">
                  <c:v>中创新航</c:v>
                </c:pt>
                <c:pt idx="6">
                  <c:v>蜂巢能源</c:v>
                </c:pt>
                <c:pt idx="7">
                  <c:v>国轩高科</c:v>
                </c:pt>
                <c:pt idx="8">
                  <c:v>宁德时代</c:v>
                </c:pt>
                <c:pt idx="9">
                  <c:v>弗迪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23.0</c:v>
                </c:pt>
                <c:pt idx="1">
                  <c:v>30.0</c:v>
                </c:pt>
                <c:pt idx="2">
                  <c:v>38.0</c:v>
                </c:pt>
                <c:pt idx="3">
                  <c:v>39.0</c:v>
                </c:pt>
                <c:pt idx="4">
                  <c:v>39.0</c:v>
                </c:pt>
                <c:pt idx="5">
                  <c:v>49.0</c:v>
                </c:pt>
                <c:pt idx="6">
                  <c:v>66.0</c:v>
                </c:pt>
                <c:pt idx="7">
                  <c:v>122.0</c:v>
                </c:pt>
                <c:pt idx="8">
                  <c:v>316.0</c:v>
                </c:pt>
                <c:pt idx="9">
                  <c:v>331.0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配套车型数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柳州赛克科技发展有限公司</c:v>
                </c:pt>
                <c:pt idx="1">
                  <c:v>苏州汇川</c:v>
                </c:pt>
                <c:pt idx="2">
                  <c:v>衢州极电电动汽车技术有限公司</c:v>
                </c:pt>
                <c:pt idx="3">
                  <c:v>锐湃动力科技有限公司</c:v>
                </c:pt>
                <c:pt idx="4">
                  <c:v>联合汽车电子</c:v>
                </c:pt>
                <c:pt idx="5">
                  <c:v>华为数字能源技术有限公司</c:v>
                </c:pt>
                <c:pt idx="6">
                  <c:v>珠海英搏尔电气股份有限公司</c:v>
                </c:pt>
                <c:pt idx="7">
                  <c:v>苏州汇川联合动力系统股份有限公司</c:v>
                </c:pt>
                <c:pt idx="8">
                  <c:v>联合汽车电子有限公司</c:v>
                </c:pt>
                <c:pt idx="9">
                  <c:v>奇瑞汽车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48.0</c:v>
                </c:pt>
                <c:pt idx="1">
                  <c:v>48.0</c:v>
                </c:pt>
                <c:pt idx="2">
                  <c:v>51.0</c:v>
                </c:pt>
                <c:pt idx="3">
                  <c:v>54.0</c:v>
                </c:pt>
                <c:pt idx="4">
                  <c:v>65.0</c:v>
                </c:pt>
                <c:pt idx="5">
                  <c:v>71.0</c:v>
                </c:pt>
                <c:pt idx="6">
                  <c:v>71.0</c:v>
                </c:pt>
                <c:pt idx="7">
                  <c:v>97.0</c:v>
                </c:pt>
                <c:pt idx="8">
                  <c:v>99.0</c:v>
                </c:pt>
                <c:pt idx="9">
                  <c:v>106.0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Lux Car-2</c:v>
                </c:pt>
                <c:pt idx="1">
                  <c:v>Lux Car</c:v>
                </c:pt>
                <c:pt idx="2">
                  <c:v>SUV-D</c:v>
                </c:pt>
                <c:pt idx="3">
                  <c:v>Lux Car-5</c:v>
                </c:pt>
                <c:pt idx="4">
                  <c:v>Car-D</c:v>
                </c:pt>
                <c:pt idx="5">
                  <c:v>Lux SUV</c:v>
                </c:pt>
                <c:pt idx="6">
                  <c:v>Lux SUV-4</c:v>
                </c:pt>
                <c:pt idx="7">
                  <c:v>Car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632.6</c:v>
                </c:pt>
                <c:pt idx="1">
                  <c:v>0.0</c:v>
                </c:pt>
                <c:pt idx="2">
                  <c:v>531.48</c:v>
                </c:pt>
                <c:pt idx="3">
                  <c:v>0.0</c:v>
                </c:pt>
                <c:pt idx="4">
                  <c:v>638.61</c:v>
                </c:pt>
                <c:pt idx="5">
                  <c:v>0.0</c:v>
                </c:pt>
                <c:pt idx="6">
                  <c:v>639.17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Lux Car-2</c:v>
                </c:pt>
                <c:pt idx="1">
                  <c:v>Lux Car</c:v>
                </c:pt>
                <c:pt idx="2">
                  <c:v>SUV-D</c:v>
                </c:pt>
                <c:pt idx="3">
                  <c:v>Lux Car-5</c:v>
                </c:pt>
                <c:pt idx="4">
                  <c:v>Car-D</c:v>
                </c:pt>
                <c:pt idx="5">
                  <c:v>Lux SUV</c:v>
                </c:pt>
                <c:pt idx="6">
                  <c:v>Lux SUV-4</c:v>
                </c:pt>
                <c:pt idx="7">
                  <c:v>Car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866.0</c:v>
                </c:pt>
                <c:pt idx="1">
                  <c:v>772.0</c:v>
                </c:pt>
                <c:pt idx="2">
                  <c:v>673.5</c:v>
                </c:pt>
                <c:pt idx="3">
                  <c:v>662.0</c:v>
                </c:pt>
                <c:pt idx="4">
                  <c:v>652.79</c:v>
                </c:pt>
                <c:pt idx="5">
                  <c:v>635.12</c:v>
                </c:pt>
                <c:pt idx="6">
                  <c:v>632.5</c:v>
                </c:pt>
                <c:pt idx="7">
                  <c:v>599.91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4B18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Lux Car-2</c:v>
                </c:pt>
                <c:pt idx="1">
                  <c:v>Lux Car</c:v>
                </c:pt>
                <c:pt idx="2">
                  <c:v>SUV-D</c:v>
                </c:pt>
                <c:pt idx="3">
                  <c:v>Lux Car-5</c:v>
                </c:pt>
                <c:pt idx="4">
                  <c:v>Car-D</c:v>
                </c:pt>
                <c:pt idx="5">
                  <c:v>Lux SUV</c:v>
                </c:pt>
                <c:pt idx="6">
                  <c:v>Lux SUV-4</c:v>
                </c:pt>
                <c:pt idx="7">
                  <c:v>Car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75.66</c:v>
                </c:pt>
                <c:pt idx="1">
                  <c:v>0.0</c:v>
                </c:pt>
                <c:pt idx="2">
                  <c:v>77.35</c:v>
                </c:pt>
                <c:pt idx="3">
                  <c:v>0.0</c:v>
                </c:pt>
                <c:pt idx="4">
                  <c:v>80.32</c:v>
                </c:pt>
                <c:pt idx="5">
                  <c:v>0.0</c:v>
                </c:pt>
                <c:pt idx="6">
                  <c:v>95.36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Lux Car-2</c:v>
                </c:pt>
                <c:pt idx="1">
                  <c:v>Lux Car</c:v>
                </c:pt>
                <c:pt idx="2">
                  <c:v>SUV-D</c:v>
                </c:pt>
                <c:pt idx="3">
                  <c:v>Lux Car-5</c:v>
                </c:pt>
                <c:pt idx="4">
                  <c:v>Car-D</c:v>
                </c:pt>
                <c:pt idx="5">
                  <c:v>Lux SUV</c:v>
                </c:pt>
                <c:pt idx="6">
                  <c:v>Lux SUV-4</c:v>
                </c:pt>
                <c:pt idx="7">
                  <c:v>Car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89.0</c:v>
                </c:pt>
                <c:pt idx="1">
                  <c:v>126.67</c:v>
                </c:pt>
                <c:pt idx="2">
                  <c:v>89.68</c:v>
                </c:pt>
                <c:pt idx="3">
                  <c:v>94.36</c:v>
                </c:pt>
                <c:pt idx="4">
                  <c:v>77.67</c:v>
                </c:pt>
                <c:pt idx="5">
                  <c:v>92.86</c:v>
                </c:pt>
                <c:pt idx="6">
                  <c:v>99.84</c:v>
                </c:pt>
                <c:pt idx="7">
                  <c:v>70.63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4B18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MPV-D</c:v>
                </c:pt>
                <c:pt idx="5">
                  <c:v>SUV</c:v>
                </c:pt>
                <c:pt idx="6">
                  <c:v>SUV-E</c:v>
                </c:pt>
                <c:pt idx="7">
                  <c:v>Car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103.63</c:v>
                </c:pt>
                <c:pt idx="1">
                  <c:v>148.77</c:v>
                </c:pt>
                <c:pt idx="2">
                  <c:v>96.92</c:v>
                </c:pt>
                <c:pt idx="3">
                  <c:v>132.69</c:v>
                </c:pt>
                <c:pt idx="4">
                  <c:v>129.0</c:v>
                </c:pt>
                <c:pt idx="5">
                  <c:v>0.0</c:v>
                </c:pt>
                <c:pt idx="6">
                  <c:v>171.0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SUV-C</c:v>
                </c:pt>
                <c:pt idx="1">
                  <c:v>SUV-D</c:v>
                </c:pt>
                <c:pt idx="2">
                  <c:v>Car-C</c:v>
                </c:pt>
                <c:pt idx="3">
                  <c:v>Car-D</c:v>
                </c:pt>
                <c:pt idx="4">
                  <c:v>MPV-D</c:v>
                </c:pt>
                <c:pt idx="5">
                  <c:v>SUV</c:v>
                </c:pt>
                <c:pt idx="6">
                  <c:v>SUV-E</c:v>
                </c:pt>
                <c:pt idx="7">
                  <c:v>Car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128.04</c:v>
                </c:pt>
                <c:pt idx="1">
                  <c:v>188.55</c:v>
                </c:pt>
                <c:pt idx="2">
                  <c:v>110.07</c:v>
                </c:pt>
                <c:pt idx="3">
                  <c:v>196.36</c:v>
                </c:pt>
                <c:pt idx="4">
                  <c:v>186.74</c:v>
                </c:pt>
                <c:pt idx="5">
                  <c:v>147.23</c:v>
                </c:pt>
                <c:pt idx="6">
                  <c:v>193.31</c:v>
                </c:pt>
                <c:pt idx="7">
                  <c:v>141.93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平均整备(kg)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Lux MPV</c:v>
                </c:pt>
                <c:pt idx="1">
                  <c:v>Lux Car-5</c:v>
                </c:pt>
                <c:pt idx="2">
                  <c:v>Lux SUV</c:v>
                </c:pt>
                <c:pt idx="3">
                  <c:v>Lux Car</c:v>
                </c:pt>
                <c:pt idx="4">
                  <c:v>MPV-D</c:v>
                </c:pt>
                <c:pt idx="5">
                  <c:v>Car-E</c:v>
                </c:pt>
                <c:pt idx="6">
                  <c:v>MPV-B</c:v>
                </c:pt>
                <c:pt idx="7">
                  <c:v>Lux SUV-4</c:v>
                </c:pt>
                <c:pt idx="8">
                  <c:v>Lux Car-4</c:v>
                </c:pt>
                <c:pt idx="9">
                  <c:v>SUV-D</c:v>
                </c:pt>
                <c:pt idx="10">
                  <c:v>SUV-E</c:v>
                </c:pt>
                <c:pt idx="11">
                  <c:v>Lux SUV-3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2958.25</c:v>
                </c:pt>
                <c:pt idx="1">
                  <c:v>2888.14</c:v>
                </c:pt>
                <c:pt idx="2">
                  <c:v>2631.4</c:v>
                </c:pt>
                <c:pt idx="3">
                  <c:v>2629.91</c:v>
                </c:pt>
                <c:pt idx="4">
                  <c:v>2590.75</c:v>
                </c:pt>
                <c:pt idx="5">
                  <c:v>2530.21</c:v>
                </c:pt>
                <c:pt idx="6">
                  <c:v>2525.8</c:v>
                </c:pt>
                <c:pt idx="7">
                  <c:v>2517.0</c:v>
                </c:pt>
                <c:pt idx="8">
                  <c:v>2349.65</c:v>
                </c:pt>
                <c:pt idx="9">
                  <c:v>2342.34</c:v>
                </c:pt>
                <c:pt idx="10">
                  <c:v>2319.42</c:v>
                </c:pt>
                <c:pt idx="11">
                  <c:v>2309.89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平均续航(km)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9.2</c:v>
                </c:pt>
                <c:pt idx="1">
                  <c:v>9.1</c:v>
                </c:pt>
                <c:pt idx="2">
                  <c:v>8.8</c:v>
                </c:pt>
                <c:pt idx="3">
                  <c:v>1.0</c:v>
                </c:pt>
                <c:pt idx="4">
                  <c:v>15.5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平均容量(kWh)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10.3</c:v>
                </c:pt>
                <c:pt idx="1">
                  <c:v>7.8</c:v>
                </c:pt>
                <c:pt idx="2">
                  <c:v>8.4</c:v>
                </c:pt>
                <c:pt idx="3">
                  <c:v>-4.2</c:v>
                </c:pt>
                <c:pt idx="4">
                  <c:v>13.4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平均功率(kW)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31.2</c:v>
                </c:pt>
                <c:pt idx="1">
                  <c:v>-1.5</c:v>
                </c:pt>
                <c:pt idx="2">
                  <c:v>5.9</c:v>
                </c:pt>
                <c:pt idx="3">
                  <c:v>7.6</c:v>
                </c:pt>
                <c:pt idx="4">
                  <c:v>51.6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平均整备质量(kg)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7.3</c:v>
                </c:pt>
                <c:pt idx="1">
                  <c:v>9.7</c:v>
                </c:pt>
                <c:pt idx="2">
                  <c:v>5.2</c:v>
                </c:pt>
                <c:pt idx="3">
                  <c:v>-4.3</c:v>
                </c:pt>
                <c:pt idx="4">
                  <c:v>8.0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平均能量密度(Wh/kg)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2.2</c:v>
                </c:pt>
                <c:pt idx="1">
                  <c:v>3.2</c:v>
                </c:pt>
                <c:pt idx="2">
                  <c:v>-7.3</c:v>
                </c:pt>
                <c:pt idx="3">
                  <c:v>2.9</c:v>
                </c:pt>
                <c:pt idx="4">
                  <c:v>9.0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公告数量(款)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-4.8</c:v>
                </c:pt>
                <c:pt idx="1">
                  <c:v>19.8</c:v>
                </c:pt>
                <c:pt idx="2">
                  <c:v>8.3</c:v>
                </c:pt>
                <c:pt idx="3">
                  <c:v>-7.8</c:v>
                </c:pt>
                <c:pt idx="4">
                  <c:v>-33.5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平均续航(km)</c:v>
                </c:pt>
              </c:strCache>
            </c:strRef>
          </c:tx>
          <c:spPr>
            <a:solidFill>
              <a:srgbClr val="9DC3E6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12.8</c:v>
                </c:pt>
                <c:pt idx="1">
                  <c:v>1.8</c:v>
                </c:pt>
                <c:pt idx="2">
                  <c:v>11.2</c:v>
                </c:pt>
                <c:pt idx="3">
                  <c:v>22.8</c:v>
                </c:pt>
                <c:pt idx="4">
                  <c:v>33.9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平均容量(kWh)</c:v>
                </c:pt>
              </c:strCache>
            </c:strRef>
          </c:tx>
          <c:spPr>
            <a:solidFill>
              <a:srgbClr val="2E74B5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17.0</c:v>
                </c:pt>
                <c:pt idx="1">
                  <c:v>1.5</c:v>
                </c:pt>
                <c:pt idx="2">
                  <c:v>6.3</c:v>
                </c:pt>
                <c:pt idx="3">
                  <c:v>20.6</c:v>
                </c:pt>
                <c:pt idx="4">
                  <c:v>32.2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平均功率(kW)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0.9</c:v>
                </c:pt>
                <c:pt idx="1">
                  <c:v>6.5</c:v>
                </c:pt>
                <c:pt idx="2">
                  <c:v>-2.0</c:v>
                </c:pt>
                <c:pt idx="3">
                  <c:v>4.6</c:v>
                </c:pt>
                <c:pt idx="4">
                  <c:v>15.7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平均整备质量(kg)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5.6</c:v>
                </c:pt>
                <c:pt idx="1">
                  <c:v>1.9</c:v>
                </c:pt>
                <c:pt idx="2">
                  <c:v>-0.7</c:v>
                </c:pt>
                <c:pt idx="3">
                  <c:v>7.7</c:v>
                </c:pt>
                <c:pt idx="4">
                  <c:v>5.8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平均能量密度(Wh/kg)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7.3</c:v>
                </c:pt>
                <c:pt idx="1">
                  <c:v>0.3</c:v>
                </c:pt>
                <c:pt idx="2">
                  <c:v>-3.6</c:v>
                </c:pt>
                <c:pt idx="3">
                  <c:v>11.3</c:v>
                </c:pt>
                <c:pt idx="4">
                  <c:v>6.6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公告数量(款)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52.4</c:v>
                </c:pt>
                <c:pt idx="1">
                  <c:v>64.1</c:v>
                </c:pt>
                <c:pt idx="2">
                  <c:v>42.4</c:v>
                </c:pt>
                <c:pt idx="3">
                  <c:v>83.9</c:v>
                </c:pt>
                <c:pt idx="4">
                  <c:v>-55.8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47088"/>
            <a:ext cx="1463040" cy="8229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  <a:ea typeface="微软雅黑"/>
              </a:rPr>
              <a:t>NEV公告车型 | 行业分析报告</a:t>
            </a:r>
          </a:p>
          <a:p>
            <a:pPr algn="l"/>
            <a:r>
              <a:rPr sz="1700" b="0">
                <a:solidFill>
                  <a:srgbClr val="BDD7EE"/>
                </a:solidFill>
                <a:latin typeface="Arial"/>
                <a:ea typeface="微软雅黑"/>
              </a:rPr>
              <a:t>2021–2026年新能源汽车公告车型深度分析（纯乘用车口径）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D7D31"/>
                </a:solidFill>
                <a:latin typeface="Arial"/>
                <a:ea typeface="微软雅黑"/>
              </a:rPr>
              <a:t>基于 4,613 条公告车型数据 · 涵盖 BEV 与 PHEV · 7大维度67页分析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ADC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 · 生成日期 2026-09-08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执行摘要 | NEV公告车型市场核心发现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样本 4,613 款（BEV 3,099 / PHEV 1,514）· 第341~410批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70048" cy="1371600"/>
          </a:xfrm>
          <a:prstGeom prst="rect">
            <a:avLst/>
          </a:prstGeom>
          <a:solidFill>
            <a:srgbClr val="F2F6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公告车型总量</a:t>
            </a:r>
          </a:p>
          <a:p>
            <a:pPr algn="l"/>
            <a:r>
              <a:rPr sz="2400" b="1">
                <a:solidFill>
                  <a:srgbClr val="1F3864"/>
                </a:solidFill>
                <a:latin typeface="Arial"/>
                <a:ea typeface="微软雅黑"/>
              </a:rPr>
              <a:t>4,613 款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  <a:ea typeface="微软雅黑"/>
              </a:rPr>
              <a:t>纯乘用车口径（v4.3.4底表）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554480"/>
            <a:ext cx="2670048" cy="1371600"/>
          </a:xfrm>
          <a:prstGeom prst="rect">
            <a:avLst/>
          </a:prstGeom>
          <a:solidFill>
            <a:srgbClr val="F2F6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BEV 平均续航 2025</a:t>
            </a:r>
          </a:p>
          <a:p>
            <a:pPr algn="l"/>
            <a:r>
              <a:rPr sz="2400" b="1">
                <a:solidFill>
                  <a:srgbClr val="1F3864"/>
                </a:solidFill>
                <a:latin typeface="Arial"/>
                <a:ea typeface="微软雅黑"/>
              </a:rPr>
              <a:t>540.8 km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  <a:ea typeface="微软雅黑"/>
              </a:rPr>
              <a:t>较2021年 +30.9%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554480"/>
            <a:ext cx="2670048" cy="1371600"/>
          </a:xfrm>
          <a:prstGeom prst="rect">
            <a:avLst/>
          </a:prstGeom>
          <a:solidFill>
            <a:srgbClr val="F2F6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PHEV 平均纯电续航 2025</a:t>
            </a:r>
          </a:p>
          <a:p>
            <a:pPr algn="l"/>
            <a:r>
              <a:rPr sz="2400" b="1">
                <a:solidFill>
                  <a:srgbClr val="1F3864"/>
                </a:solidFill>
                <a:latin typeface="Arial"/>
                <a:ea typeface="微软雅黑"/>
              </a:rPr>
              <a:t>159.24 km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  <a:ea typeface="微软雅黑"/>
              </a:rPr>
              <a:t>插混长途化、大电池化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5984" y="1554480"/>
            <a:ext cx="2670048" cy="1371600"/>
          </a:xfrm>
          <a:prstGeom prst="rect">
            <a:avLst/>
          </a:prstGeom>
          <a:solidFill>
            <a:srgbClr val="F2F6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2025 年 PHEV 占比</a:t>
            </a:r>
          </a:p>
          <a:p>
            <a:pPr algn="l"/>
            <a:r>
              <a:rPr sz="2400" b="1">
                <a:solidFill>
                  <a:srgbClr val="1F3864"/>
                </a:solidFill>
                <a:latin typeface="Arial"/>
                <a:ea typeface="微软雅黑"/>
              </a:rPr>
              <a:t>39.2%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  <a:ea typeface="微软雅黑"/>
              </a:rPr>
              <a:t>插混/增程持续放量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200400"/>
          <a:ext cx="1127455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319"/>
                <a:gridCol w="1409319"/>
                <a:gridCol w="1409319"/>
                <a:gridCol w="1409319"/>
                <a:gridCol w="1691182"/>
                <a:gridCol w="1973046"/>
                <a:gridCol w="1973046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年份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BEV(款)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PHEV(款)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合计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PHEV占比%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BEV均值续航(km)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BEV均值容量(kWh)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413.05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54.06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474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602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451.24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59.61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492.14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64.25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615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299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914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32.7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535.39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69.63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1,117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66.71</a:t>
                      </a:r>
                    </a:p>
                  </a:txBody>
                  <a:tcPr/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377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620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39.2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624.48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75.62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目录 |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七大维度 · 67页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市场全景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472184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总览、动力类型分布、年度趋势、细分市场结构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756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756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动力电池分析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30552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续航、容量、类型、能量密度、分布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3405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3405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驱动与能效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7889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功率、重量效率、整车能量密度、油耗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9242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9242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供应商格局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447288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HHI、CR趋势、Top供应商、品牌映射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5079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050791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细分市场深度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105655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细分对比、续航容量、整备质量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915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091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相关性与增长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764023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相关矩阵、同比增长率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675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367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  <a:ea typeface="微软雅黑"/>
              </a:rPr>
              <a:t>总结与展望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422392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  <a:ea typeface="微软雅黑"/>
              </a:rPr>
              <a:t>关键发现、年度汇总、核心结论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市场全景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总览、动力类型分布、年度趋势、细分市场结构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BEV与PHEV公告车型数量对比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按年度统计的纯电动(BEV)与插电混动(PHEV)公告车型数量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总量自582款增长至1117款（2025年）；PHEV份额升至49.2%，插混成为公告结构变量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PHEV占比变化趋势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PHEV在当年公告车型总量中的占比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PHEV占比由14.4%（2021）升至49.2%（2025），增程/插混大电池车型为主要增量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BEV细分市场分布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BEV公告车型按细分市场分布 (Top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BEV以 SUV-C 为主力（525款，占Top8的21%），级别分化明显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097280" y="1417320"/>
          <a:ext cx="10058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PHEV细分市场分布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PHEV公告车型按细分市场分布 (Top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PHEV以 SUV-C 为主力（500款，占Top8的36%），级别分化明显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097280" y="1417320"/>
          <a:ext cx="10058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年度详细数据明细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BEV、PHEV及总量的逐年统计与PHEV占比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2026年为410批公示占位的早期统计，全年数据待正式公告发布后更新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7455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183"/>
                <a:gridCol w="2168183"/>
                <a:gridCol w="2168183"/>
                <a:gridCol w="2168183"/>
                <a:gridCol w="2601819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年份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BEV(款)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PHEV(款)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合计(款)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PHEV占比%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14.4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474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602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27.0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615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299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914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32.7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1,117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49.2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377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620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39.2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公告车型总量年度趋势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BEV与PHEV合计公告车型数量年度变化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年度公告车型合计维持582~1117款区间，供给充沛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动力电池分析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续航里程、电池容量、电池类型、能量密度、分布分析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BEV平均续航里程趋势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BEV车型年度平均纯电续航里程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BEV平均续航由413.05km（2021）提升至540.8km（2025），累计提升30.9%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PHEV平均续航里程趋势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PHEV车型年度平均纯电续航里程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PHEV纯电续航由101.55km升至159.24km，大电池插混/增程驱动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BEV与PHEV续航里程对比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BEV与PHEV年度平均纯电续航里程对比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两者差距由311.5km收窄至381.6km，插混电动化属性增强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BEV平均电池容量趋势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BEV车型年度平均电池容量 (kWh)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BEV平均容量达66.71kWh（2025），较2021年提升23.4%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PHEV平均电池容量趋势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PHEV车型年度平均电池容量 (kWh)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PHEV平均容量升至33.62kWh，增程车型大电池配置是主因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BEV与PHEV电池容量对比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BEV与PHEV年度平均电池容量对比 (kWh)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PHEV与BEV容量差持续收窄，插混车型带电量向30kWh+迁移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BEV电池类型占比趋势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BEV车型磷酸铁锂(LFP)、三元锂(NCM)及其他电池类型占比变化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LFP占比由2021年的45.4%变为2026年的79.7%，成本驱动下磷酸铁锂成为绝对主流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PHEV电池类型占比趋势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PHEV车型磷酸铁锂(LFP)、三元锂(NCM)及其他电池类型占比变化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LFP占比由2021年的42.9%变为2026年的71.4%，成本驱动下磷酸铁锂成为绝对主流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BEV电池能量密度趋势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BEV车型年度平均电池能量密度 (Wh/kg)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平均能量密度150.95Wh/kg（2025），结构上LFP占比提升拉低均值、NCM冲高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BEV续航里程分布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BEV车型按续航里程区间的分布数量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BEV主力区间为 300-400 段，尾部区间（≥700）逐年放大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PHEV续航里程分布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PHEV车型按续航里程区间的分布数量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PHEV主力区间为 50-100 段，尾部区间（≥200）逐年放大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BEV电池容量分布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BEV车型按电池容量区间的分布数量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50-60kWh 与 60-70kWh 区间为绝对主力，80kWh+ 长续航车型占比逐年提升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PHEV电池容量分布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PHEV车型按电池容量区间的分布数量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PHEV容量重心上移至30kWh+，纯电续航200km级插混成为新品主流配置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技术路线矩阵 (2x2象限)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BEV按续航-电池容量中位数划分的象限分布（分界：520km / 65.0kWh）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高续航高容量象限 1295 款为技术主力，占比 43%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45920" y="1645920"/>
          <a:ext cx="8869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840"/>
                <a:gridCol w="2217420"/>
                <a:gridCol w="221742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象限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车型数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占比%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高续航高容量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1,295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42.7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高续航低容量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低续航高容量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7.6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低续航低容量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1,286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42.4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BEV电池类型年度数量明细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BEV各电池类型年度公告车型数量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LFP在数量维度全面超越NCM，且差距仍在扩大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驱动与能效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电机功率、重量效率、整车能量密度、PHEV油耗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BEV电机功率趋势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BEV车型年度平均电机总功率 (kW)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BEV平均功率升至179.42kW（2025），性能与快充需求双驱动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PHEV电机功率趋势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PHEV车型年度平均电机总功率 (kW)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PHEV平均功率177.67kW，电驱占比提升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整备质量趋势对比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BEV与PHEV车型年度平均整备质量 (kg)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两动力类型整备质量同步上行，大电池与配置升级是主因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功率质量比趋势对比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BEV与PHEV车型年度平均功率质量比 (kW/kg×1000)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功率质量比稳中有升，电驱系统效率与性能同步改善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整车能量密度趋势对比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BEV与PHEV年度平均整车能量密度 (Wh/kg)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BEV整车能量密度持续提升，成组效率与电池包集成技术贡献显著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BEV百公里电耗趋势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BEV车型年度平均百公里电耗 (kWh/100km)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平均电耗12.39kWh/100km（2025），车型大型化下能效仍维持稳定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不同电池类型能效对比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磷酸铁锂(LFP)与三元锂(NCM)的百公里电耗对比 (kWh/100km)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LFP与NCM电耗差距有限，能效差异更多来自车型结构与热管理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PHEV油耗与纯电续航趋势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综合油耗(L/100km)与纯电续航(km, 数值除以30便于同轴展示)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纯电续航大幅上行、馈电油耗同步改善，插混"可电可油"属性强化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 B状态油耗趋势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PHEV车型B状态(馈电)油耗年度趋势 (L/100km)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B状态油耗降至5.65L/100km（2025），混动专用发动机普及见效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PHEV综合油耗按排量区间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PHEV不同排量区间的综合油耗均值 (L/100km)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1.5L及以下排量主导新品，小排量+高功率电混架构成为主流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 B状态油耗按排量区间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PHEV不同排量区间的B状态(馈电)油耗均值 (L/100km)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馈电油耗随排量增大而抬升，1.0-1.5L区间能效表现最优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供应商格局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HHI、CR趋势、Top供应商、品牌映射、交叉分析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供应商HHI指数趋势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电池供应商与电机供应商年度HHI集中度指数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39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电池供应商HHI由2124.8降至1255.4（2025），集中度回落、二供三供普及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电池供应商CR集中度趋势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电池供应商CR3/CR5/CR10年度变化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CR10稳步抬升，头部规模效应与长尾出清并存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电机供应商CR集中度趋势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电机供应商CR3/CR5/CR10年度变化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电机供应格局较电池更分散，主机厂自供体系占比高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Top 10电池供应商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电池供应商公告车型数量排名 (横向条形图)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口径说明：基于电芯供应商有值样本 1361 款（覆盖率29.5%），头部效应显著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Top 10电机供应商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电机供应商公告车型数量排名 (横向条形图)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电机供应商以主机厂关联企业为主，第三方头部份额稳定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Top 10电池-电机供应商组合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电池供应商与电机供应商组合的公告车型数量排名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头部电池+头部电驱组合绑定加深，平台化车型带动组合复用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389"/>
                <a:gridCol w="7379368"/>
                <a:gridCol w="184484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排名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电池供应商 + 电机供应商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车型数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弗迪 + 长沙市比亚迪汽车有限公司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宁德时代 + 联合汽车电子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弗迪 + 南京市比亚迪汽车有限公司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宁德时代 + 联合汽车电子有限公司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弗迪 + 长沙市比亚迪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宁德时代 + 湖南中车时代电驱科技有限公司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弗迪 + 郑州比亚迪汽车有限公司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欣旺达 + 珠海英搏尔电气股份有限公司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蜂巢能源 + 无锡星驱动力科技有限公司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弗迪 + 比亚迪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品牌-电池供应商映射矩阵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Top 8品牌 × Top 5电池供应商的公告车型数量交叉表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头部品牌与头部电芯绑定集中，弗迪/中创新航/宁德时代覆盖面最广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277"/>
                <a:gridCol w="1696064"/>
                <a:gridCol w="1696064"/>
                <a:gridCol w="1696064"/>
                <a:gridCol w="1696064"/>
                <a:gridCol w="1696064"/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品牌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弗迪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宁德时代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中创新航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国轩高科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宁德时代(四川时代)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比亚迪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长安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吉利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东风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小鹏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腾势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极氪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奇瑞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品牌-电机供应商映射矩阵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Top 10品牌 × Top 5电机供应商的公告车型数量交叉表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自研自供（比亚迪/弗迪动力等）与外采双轨并行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277"/>
                <a:gridCol w="1696064"/>
                <a:gridCol w="1696064"/>
                <a:gridCol w="1696064"/>
                <a:gridCol w="1696064"/>
                <a:gridCol w="1696064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品牌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苏州汇川联合动力系统股份有限公司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奇瑞汽车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金华凌昇动力科技有限公司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锐湃动力科技有限公司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联合汽车电子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埃安(AION)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比亚迪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奇瑞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零跑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长安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五菱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小鹏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哪吒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东风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欧拉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电池供应商HHI年度明细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电池供应商HHI指数、供应商数量及记录数年度变化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供应商数量扩张与HHI回落同步，竞争生态趋于多元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年份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HHI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CR3%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2124.8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74.3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1541.6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58.9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57.7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2078.8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69.5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1255.4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54.4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748.1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39.9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电机供应商CR集中度年度明细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电机供应商CR3/CR5/CR10及供应商数量年度变化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CR3波动平稳，尾部供应商随新批次持续进入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年份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CR3%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CR5%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CR10%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33.6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19.0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39.3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33.1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40.9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44.6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17.5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42.3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细分市场深度分析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细分对比、续航容量、整备质量、详细统计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BEV细分市场续航对比 (2023 vs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 Top 8细分市场平均续航里程对比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各细分市场续航普遍上台阶，Car-A/B级涨幅最大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BEV细分市场电池容量对比 (2023 vs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 Top 8细分市场平均电池容量对比 (kWh)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容量升级幅度普遍在10kWh+，与续航提升互为因果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PHEV细分市场续航对比 (2023 vs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 Top 8细分市场平均纯电续航里程对比 (km)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插混各细分市场纯电续航全面迈入100km+时代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BEV细分市场详细统计 (2025年)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 Top 10细分市场2025年平均续航、容量、功率、质量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SUV-C/D 与 Car-C/D 构成公告基本盘，高级别车型参数全面占优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6304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1450848"/>
                <a:gridCol w="1813560"/>
                <a:gridCol w="1813560"/>
                <a:gridCol w="1813560"/>
                <a:gridCol w="18135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细分市场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车型数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平均续航(km)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平均容量(kWh)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平均功率(kW)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平均整备(kg)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SUV-C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524.67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66.21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1868.58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Car-D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420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652.76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80.32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256.67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2084.49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SUV-D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601.96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84.09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225.92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2250.69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Car-C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383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494.63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56.61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137.88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1671.65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248.31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23.99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927.38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Car-B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378.88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40.92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87.36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1333.18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SUV-B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438.7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109.46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1477.95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SUV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556.42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75.54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126.74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2124.0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MPV-D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574.08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216.46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2594.36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Lux SUV-3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603.68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86.28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261.67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2310.2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细分市场整备质量对比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各细分市场平均整备质量排名 (kg, Top 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MPV-D与大型SUV质量领先，与电池容量、性能需求正相关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相关性与增长分析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相关矩阵、同比增长率、增长详情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BEV关键指标相关性矩阵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BEV核心指标间的Pearson相关系数矩阵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续航-容量高度正相关；电耗与质量正相关，反映车型大型化的能效代价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177"/>
                <a:gridCol w="1481070"/>
                <a:gridCol w="1481070"/>
                <a:gridCol w="1481070"/>
                <a:gridCol w="1481070"/>
                <a:gridCol w="1481070"/>
                <a:gridCol w="1481070"/>
              </a:tblGrid>
              <a:tr h="574765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续航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容量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功率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整备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能量密度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电耗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续航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0.24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0.34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整备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能量密度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0.42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电耗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0.71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PHEV关键指标相关性矩阵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PHEV核心指标间的Pearson相关系数矩阵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续航-容量高度正相关；电耗与质量正相关，反映车型大型化的能效代价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044"/>
                <a:gridCol w="1298222"/>
                <a:gridCol w="1298222"/>
                <a:gridCol w="1298222"/>
                <a:gridCol w="1298222"/>
                <a:gridCol w="1298222"/>
                <a:gridCol w="1298222"/>
                <a:gridCol w="1298222"/>
              </a:tblGrid>
              <a:tr h="502920"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续航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容量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功率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整备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能量密度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综合油耗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排量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续航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0.06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整备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能量密度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0.15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综合油耗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排量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BEV同比增长率 (按指标)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BEV核心指标的年度同比增长率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公告量增速放缓、单车参数指标保持正增长，行业由量转质；2026 为 410 批公示占位早期数据，其同比仅供参考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PHEV同比增长率 (按指标)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PHEV核心指标的年度同比增长率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59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公告量增速放缓、单车参数指标保持正增长，行业由量转质；2026 为 410 批公示占位早期数据，其同比仅供参考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BEV同比增长率明细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 5项核心指标的年度同比增长率详情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以续航为代表的单车技术指标增速仍维持正值，量减质增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565"/>
                <a:gridCol w="1352005"/>
                <a:gridCol w="1352005"/>
                <a:gridCol w="1352005"/>
                <a:gridCol w="1352005"/>
                <a:gridCol w="1352005"/>
                <a:gridCol w="1352005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平均续航(km)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15.5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平均容量(kWh)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-4.2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平均功率(kW)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51.6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平均整备质量(kg)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-4.3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8.0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平均能量密度(Wh/kg)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9.0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PHEV同比增长率明细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 5项核心指标的年度同比增长率详情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以续航为代表的单车技术指标增速仍维持正值，量减质增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565"/>
                <a:gridCol w="1352005"/>
                <a:gridCol w="1352005"/>
                <a:gridCol w="1352005"/>
                <a:gridCol w="1352005"/>
                <a:gridCol w="1352005"/>
                <a:gridCol w="1352005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2022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2023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2024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平均续航(km)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33.9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平均容量(kWh)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17.0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6.3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32.2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平均功率(kW)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15.7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平均整备质量(kg)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5.6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1.9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-0.7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平均能量密度(Wh/kg)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6.6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ED7D31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487168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  <a:ea typeface="微软雅黑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DD7EE"/>
                </a:solidFill>
                <a:latin typeface="Arial"/>
                <a:ea typeface="微软雅黑"/>
              </a:rPr>
              <a:t>关键发现、年度汇总、核心结论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BEV年度指标汇总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BEV各年度平均续航、容量、功率、质量、能量密度（全周期描述统计）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BEV五项核心指标均较2021年改善，公告车型技术水位系统性抬升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/>
                <a:gridCol w="2503714"/>
                <a:gridCol w="2503714"/>
                <a:gridCol w="2002971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均值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中位数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单位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平均续航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506.98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64.84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65.1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kWh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kW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平均整备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1839.87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1875.0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平均能量密度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Wh/kg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PHEV年度指标汇总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PHEV各年度平均续航、容量、功率、质量、能量密度（全周期描述统计）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PHEV五项核心指标均较2021年改善，公告车型技术水位系统性抬升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59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/>
                <a:gridCol w="2503714"/>
                <a:gridCol w="2503714"/>
                <a:gridCol w="2002971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均值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中位数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单位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平均续航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148.98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平均容量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31.89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31.7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kWh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176.99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kW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平均整备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2145.0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2075.0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kg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平均能量密度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131.04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Wh/kg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10896"/>
            <a:ext cx="1091153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  <a:latin typeface="Arial"/>
                <a:ea typeface="微软雅黑"/>
              </a:rPr>
              <a:t>关键发现总结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1153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  <a:ea typeface="微软雅黑"/>
              </a:rPr>
              <a:t>BEV与PHEV核心指标 2021 vs 2025 对比及变化幅度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42432"/>
            <a:ext cx="11277295" cy="713232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l"/>
            <a:r>
              <a:rPr sz="1150" b="0">
                <a:solidFill>
                  <a:srgbClr val="1F3864"/>
                </a:solidFill>
                <a:latin typeface="Arial"/>
                <a:ea typeface="微软雅黑"/>
              </a:rPr>
              <a:t>洞察  电动化纵深推进：续航/容量/功率三线上行，LFP主导、插混大电池化、供应商多元化为三大结构特征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46304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2025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变化%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BEV平均续航(km)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413.05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30.9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BEV平均容量(kWh)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54.06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66.71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23.4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BEV平均功率(kW)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121.92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179.42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47.2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PHEV平均纯电续航(km)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101.55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159.24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56.8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PHEV公告占比(%)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34.8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  <a:ea typeface="微软雅黑"/>
              </a:rPr>
              <a:t>谢谢 | THANK YOU</a:t>
            </a:r>
          </a:p>
          <a:p>
            <a:pPr algn="l"/>
            <a:r>
              <a:rPr sz="1100" b="0">
                <a:solidFill>
                  <a:srgbClr val="8FAADC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  <a:ea typeface="微软雅黑"/>
              </a:rPr>
              <a:t>数据来源：工信部《道路机动车辆生产企业及产品公告》第341~410批（2021–2026）· 权威底表 v4.3.6 · 共4,613款纯新能源乘用车（全部指标为均值口径）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864"/>
                </a:solidFill>
                <a:latin typeface="Arial"/>
                <a:ea typeface="微软雅黑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